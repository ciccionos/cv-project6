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Francesco Malafarina and Mirco Soriano, and this is Project 6: frequency-domain diffusion models for deepfake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four movements: the forensic problem, the method, the setup, and what the numbers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Generators are convincing to the eye but not to the spectrum. Detectors live on that gap. Our question is whether training in the spectrum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work meet here: forensic frequency analysis, the DDPM (Denoising Diffusion Probabilistic Model)/DDIM (Denoising Diffusion Implici Model) family, and frequency-domain diffusion used elsewhere for speed. The controlled comparison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spectrum is complex; the network is real. We split real and imaginary parts into six channels. Orthonormal transform preserves energy, fftshift centres the DC term so convolutions see a coherent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problem the assignment calls out. Raw coefficients follow a 1/f law, so a single isotropic noise schedule destroys high frequencies immediately and barely touches DC. Two stages fix it — the left tile is what the network would actually see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DDPM UNet, 11.4 million parameters, attention only at 8 by 8. The only structural difference between the two models is the number of input and output channels. DDIM with eta zero gives a twenty-fold inference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FFHQ (Flickr Face High Quality), seventy thousand faces, resized to 128 pixels. Faces are a good choice here: aligned, homogeneous content, and the reference domain for deepfake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held fixed except the diffusion domain: same UNet, same split, same schedule, same optimizer, same epochs, same sampler. Ten and a half hours of training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the standard noise-prediction MSE. Two points matter here. First, the target is always unit Gaussian noise, so the two losses are numerically comparable even though the inputs live in different domains. Second, the loss is measured in the compressed, standardized spectral space, not in pixels — so equal loss does not mean equal image error, and that asymmetry is part of why the frequency samples look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DDIM samples per condition, same seed protocol. Real on top. The RGB row is distorted but still reads as faces. The frequency row keeps a global face layout, but colours and shapes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perceptual metrics the baseline wins clearly: FID 88 against 181. But read the gap carefully: with 100 epochs and 50 DDIM steps neither model is accurate. In RGB an error stays local, so we still get recognisable faces. In the frequency domain every coefficient touches every pixel, so a tiny error in the spectrum becomes a global one. FID here is on two thousand images, so treat it as relative.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forensic core. The RGB curve tracks the real one almost exactly; the frequency curve sits about an order of magnitude below across the whole range and drops further in the tail. So the hypothesis is not confirmed: training in the spectrum did not improve spectral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result, but a clean one, and we can name two causes: Hermitian redundancy, and the fact that the frequency model is far less tolerant of an inaccurate generator, because every spectral error is global. A fuller DDPM — more epochs, a wider network — is the first thing to try before drawing a conclusion about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the dataset source.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0600" y="914400"/>
            <a:ext cx="1714500" cy="76200"/>
          </a:xfrm>
          <a:prstGeom prst="rect">
            <a:avLst/>
          </a:prstGeom>
          <a:solidFill>
            <a:srgbClr val="0052B4"/>
          </a:solidFill>
          <a:ln/>
        </p:spPr>
      </p:sp>
      <p:sp>
        <p:nvSpPr>
          <p:cNvPr id="3" name="Text 1"/>
          <p:cNvSpPr/>
          <p:nvPr/>
        </p:nvSpPr>
        <p:spPr>
          <a:xfrm>
            <a:off x="990600" y="1524000"/>
            <a:ext cx="14716125" cy="2098477"/>
          </a:xfrm>
          <a:prstGeom prst="rect">
            <a:avLst/>
          </a:prstGeom>
          <a:noFill/>
          <a:ln/>
        </p:spPr>
        <p:txBody>
          <a:bodyPr wrap="square" lIns="25400" tIns="25400" rIns="25400" bIns="25400" rtlCol="0" anchor="t">
            <a:normAutofit/>
          </a:bodyPr>
          <a:lstStyle/>
          <a:p>
            <a:pPr algn="l" indent="0" marL="0">
              <a:lnSpc>
                <a:spcPct val="90891"/>
              </a:lnSpc>
              <a:buNone/>
            </a:pPr>
            <a:r>
              <a:rPr lang="en-US" sz="7800" b="1" spc="-156" kern="0" dirty="0">
                <a:solidFill>
                  <a:srgbClr val="141414"/>
                </a:solidFill>
                <a:latin typeface="Arial" pitchFamily="34" charset="0"/>
                <a:ea typeface="Arial" pitchFamily="34" charset="-122"/>
                <a:cs typeface="Arial" pitchFamily="34" charset="-120"/>
              </a:rPr>
              <a:t>Frequency-Domain Diffusion Models</a:t>
            </a:r>
            <a:endParaRPr lang="en-US" sz="7800" dirty="0"/>
          </a:p>
        </p:txBody>
      </p:sp>
      <p:sp>
        <p:nvSpPr>
          <p:cNvPr id="4" name="Text 2"/>
          <p:cNvSpPr/>
          <p:nvPr/>
        </p:nvSpPr>
        <p:spPr>
          <a:xfrm>
            <a:off x="990600" y="3812977"/>
            <a:ext cx="14668500" cy="561975"/>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0052B4"/>
                </a:solidFill>
                <a:latin typeface="Arial" pitchFamily="34" charset="0"/>
                <a:ea typeface="Arial" pitchFamily="34" charset="-122"/>
                <a:cs typeface="Arial" pitchFamily="34" charset="-120"/>
              </a:rPr>
              <a:t>Synthesizing Spectral Fingerprints for Deepfake Analysis</a:t>
            </a:r>
            <a:endParaRPr lang="en-US" sz="3300" dirty="0"/>
          </a:p>
        </p:txBody>
      </p:sp>
      <p:sp>
        <p:nvSpPr>
          <p:cNvPr id="5" name="Text 3"/>
          <p:cNvSpPr/>
          <p:nvPr/>
        </p:nvSpPr>
        <p:spPr>
          <a:xfrm>
            <a:off x="990600" y="8229600"/>
            <a:ext cx="2865269" cy="381000"/>
          </a:xfrm>
          <a:prstGeom prst="rect">
            <a:avLst/>
          </a:prstGeom>
          <a:noFill/>
          <a:ln/>
        </p:spPr>
        <p:txBody>
          <a:bodyPr wrap="square" lIns="25400" tIns="25400" rIns="25400" bIns="25400" rtlCol="0" anchor="t">
            <a:normAutofit/>
          </a:bodyPr>
          <a:lstStyle/>
          <a:p>
            <a:pPr algn="l" indent="0" marL="0">
              <a:lnSpc>
                <a:spcPct val="133333"/>
              </a:lnSpc>
              <a:buNone/>
            </a:pPr>
            <a:r>
              <a:rPr lang="en-US" sz="1800" spc="144" kern="0" dirty="0">
                <a:solidFill>
                  <a:srgbClr val="5A5A5A"/>
                </a:solidFill>
                <a:latin typeface="Courier New" pitchFamily="34" charset="0"/>
                <a:ea typeface="Courier New" pitchFamily="34" charset="-122"/>
                <a:cs typeface="Courier New" pitchFamily="34" charset="-120"/>
              </a:rPr>
              <a:t>AUTHORS</a:t>
            </a:r>
            <a:endParaRPr lang="en-US" sz="1800" dirty="0"/>
          </a:p>
        </p:txBody>
      </p:sp>
      <p:sp>
        <p:nvSpPr>
          <p:cNvPr id="6" name="Text 4"/>
          <p:cNvSpPr/>
          <p:nvPr/>
        </p:nvSpPr>
        <p:spPr>
          <a:xfrm>
            <a:off x="990600" y="8629650"/>
            <a:ext cx="2865269"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141414"/>
                </a:solidFill>
                <a:latin typeface="Arial" pitchFamily="34" charset="0"/>
                <a:ea typeface="Arial" pitchFamily="34" charset="-122"/>
                <a:cs typeface="Arial" pitchFamily="34" charset="-120"/>
              </a:rPr>
              <a:t>Francesco Malafarina</a:t>
            </a:r>
            <a:endParaRPr lang="en-US" sz="2100" dirty="0"/>
          </a:p>
        </p:txBody>
      </p:sp>
      <p:sp>
        <p:nvSpPr>
          <p:cNvPr id="7" name="Text 5"/>
          <p:cNvSpPr/>
          <p:nvPr/>
        </p:nvSpPr>
        <p:spPr>
          <a:xfrm>
            <a:off x="990600" y="9086850"/>
            <a:ext cx="2865269"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141414"/>
                </a:solidFill>
                <a:latin typeface="Arial" pitchFamily="34" charset="0"/>
                <a:ea typeface="Arial" pitchFamily="34" charset="-122"/>
                <a:cs typeface="Arial" pitchFamily="34" charset="-120"/>
              </a:rPr>
              <a:t>Mirco Soriano</a:t>
            </a:r>
            <a:endParaRPr lang="en-US" sz="2100" dirty="0"/>
          </a:p>
        </p:txBody>
      </p:sp>
      <p:sp>
        <p:nvSpPr>
          <p:cNvPr id="8" name="Text 6"/>
          <p:cNvSpPr/>
          <p:nvPr/>
        </p:nvSpPr>
        <p:spPr>
          <a:xfrm>
            <a:off x="4509790" y="8229600"/>
            <a:ext cx="5032311" cy="381000"/>
          </a:xfrm>
          <a:prstGeom prst="rect">
            <a:avLst/>
          </a:prstGeom>
          <a:noFill/>
          <a:ln/>
        </p:spPr>
        <p:txBody>
          <a:bodyPr wrap="square" lIns="25400" tIns="25400" rIns="25400" bIns="25400" rtlCol="0" anchor="t">
            <a:normAutofit/>
          </a:bodyPr>
          <a:lstStyle/>
          <a:p>
            <a:pPr algn="l" indent="0" marL="0">
              <a:lnSpc>
                <a:spcPct val="133333"/>
              </a:lnSpc>
              <a:buNone/>
            </a:pPr>
            <a:r>
              <a:rPr lang="en-US" sz="1800" spc="144" kern="0" dirty="0">
                <a:solidFill>
                  <a:srgbClr val="5A5A5A"/>
                </a:solidFill>
                <a:latin typeface="Courier New" pitchFamily="34" charset="0"/>
                <a:ea typeface="Courier New" pitchFamily="34" charset="-122"/>
                <a:cs typeface="Courier New" pitchFamily="34" charset="-120"/>
              </a:rPr>
              <a:t>COURSE</a:t>
            </a:r>
            <a:endParaRPr lang="en-US" sz="1800" dirty="0"/>
          </a:p>
        </p:txBody>
      </p:sp>
      <p:sp>
        <p:nvSpPr>
          <p:cNvPr id="9" name="Text 7"/>
          <p:cNvSpPr/>
          <p:nvPr/>
        </p:nvSpPr>
        <p:spPr>
          <a:xfrm>
            <a:off x="4509790" y="8629650"/>
            <a:ext cx="5032311"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141414"/>
                </a:solidFill>
                <a:latin typeface="Arial" pitchFamily="34" charset="0"/>
                <a:ea typeface="Arial" pitchFamily="34" charset="-122"/>
                <a:cs typeface="Arial" pitchFamily="34" charset="-120"/>
              </a:rPr>
              <a:t>Computer Vision — Prof. Irene Amerini</a:t>
            </a:r>
            <a:endParaRPr lang="en-US" sz="2100" dirty="0"/>
          </a:p>
        </p:txBody>
      </p:sp>
      <p:sp>
        <p:nvSpPr>
          <p:cNvPr id="10" name="Text 8"/>
          <p:cNvSpPr/>
          <p:nvPr/>
        </p:nvSpPr>
        <p:spPr>
          <a:xfrm>
            <a:off x="4509790" y="9086850"/>
            <a:ext cx="5032311"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141414"/>
                </a:solidFill>
                <a:latin typeface="Arial" pitchFamily="34" charset="0"/>
                <a:ea typeface="Arial" pitchFamily="34" charset="-122"/>
                <a:cs typeface="Arial" pitchFamily="34" charset="-120"/>
              </a:rPr>
              <a:t>Project 6 — A.Y. 2025/26</a:t>
            </a:r>
            <a:endParaRPr lang="en-US" sz="2100" dirty="0"/>
          </a:p>
        </p:txBody>
      </p:sp>
      <p:sp>
        <p:nvSpPr>
          <p:cNvPr id="11" name="Text 9"/>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 / 15</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Outline</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01</a:t>
            </a:r>
            <a:endParaRPr lang="en-US" sz="2550" dirty="0"/>
          </a:p>
        </p:txBody>
      </p:sp>
      <p:sp>
        <p:nvSpPr>
          <p:cNvPr id="5" name="Text 3"/>
          <p:cNvSpPr/>
          <p:nvPr/>
        </p:nvSpPr>
        <p:spPr>
          <a:xfrm>
            <a:off x="1646039" y="2400300"/>
            <a:ext cx="6744727"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Problem statement — spectral fingerprints</a:t>
            </a:r>
            <a:endParaRPr lang="en-US" sz="2550" dirty="0"/>
          </a:p>
        </p:txBody>
      </p:sp>
      <p:sp>
        <p:nvSpPr>
          <p:cNvPr id="6" name="Text 4"/>
          <p:cNvSpPr/>
          <p:nvPr/>
        </p:nvSpPr>
        <p:spPr>
          <a:xfrm>
            <a:off x="9667875" y="2400300"/>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05</a:t>
            </a:r>
            <a:endParaRPr lang="en-US" sz="2550" dirty="0"/>
          </a:p>
        </p:txBody>
      </p:sp>
      <p:sp>
        <p:nvSpPr>
          <p:cNvPr id="7" name="Text 5"/>
          <p:cNvSpPr/>
          <p:nvPr/>
        </p:nvSpPr>
        <p:spPr>
          <a:xfrm>
            <a:off x="10323314" y="2400300"/>
            <a:ext cx="4566717"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Dataset — FFHQ at 128×128</a:t>
            </a:r>
            <a:endParaRPr lang="en-US" sz="2550" dirty="0"/>
          </a:p>
        </p:txBody>
      </p:sp>
      <p:sp>
        <p:nvSpPr>
          <p:cNvPr id="8" name="Text 6"/>
          <p:cNvSpPr/>
          <p:nvPr/>
        </p:nvSpPr>
        <p:spPr>
          <a:xfrm>
            <a:off x="990600" y="3085058"/>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02</a:t>
            </a:r>
            <a:endParaRPr lang="en-US" sz="2550" dirty="0"/>
          </a:p>
        </p:txBody>
      </p:sp>
      <p:sp>
        <p:nvSpPr>
          <p:cNvPr id="9" name="Text 7"/>
          <p:cNvSpPr/>
          <p:nvPr/>
        </p:nvSpPr>
        <p:spPr>
          <a:xfrm>
            <a:off x="1646039" y="3085058"/>
            <a:ext cx="6499979"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State of the art — detection and diffusion</a:t>
            </a:r>
            <a:endParaRPr lang="en-US" sz="2550" dirty="0"/>
          </a:p>
        </p:txBody>
      </p:sp>
      <p:sp>
        <p:nvSpPr>
          <p:cNvPr id="10" name="Text 8"/>
          <p:cNvSpPr/>
          <p:nvPr/>
        </p:nvSpPr>
        <p:spPr>
          <a:xfrm>
            <a:off x="9667875" y="3085058"/>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06</a:t>
            </a:r>
            <a:endParaRPr lang="en-US" sz="2550" dirty="0"/>
          </a:p>
        </p:txBody>
      </p:sp>
      <p:sp>
        <p:nvSpPr>
          <p:cNvPr id="11" name="Text 9"/>
          <p:cNvSpPr/>
          <p:nvPr/>
        </p:nvSpPr>
        <p:spPr>
          <a:xfrm>
            <a:off x="10323314" y="3085058"/>
            <a:ext cx="7228165"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Experimental setup — one controlled variable</a:t>
            </a:r>
            <a:endParaRPr lang="en-US" sz="2550" dirty="0"/>
          </a:p>
        </p:txBody>
      </p:sp>
      <p:sp>
        <p:nvSpPr>
          <p:cNvPr id="12" name="Text 10"/>
          <p:cNvSpPr/>
          <p:nvPr/>
        </p:nvSpPr>
        <p:spPr>
          <a:xfrm>
            <a:off x="990600" y="3769816"/>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03</a:t>
            </a:r>
            <a:endParaRPr lang="en-US" sz="2550" dirty="0"/>
          </a:p>
        </p:txBody>
      </p:sp>
      <p:sp>
        <p:nvSpPr>
          <p:cNvPr id="13" name="Text 11"/>
          <p:cNvSpPr/>
          <p:nvPr/>
        </p:nvSpPr>
        <p:spPr>
          <a:xfrm>
            <a:off x="1646039" y="3769816"/>
            <a:ext cx="7386965"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Proposed method — diffusion on the spectrum</a:t>
            </a:r>
            <a:endParaRPr lang="en-US" sz="2550" dirty="0"/>
          </a:p>
        </p:txBody>
      </p:sp>
      <p:sp>
        <p:nvSpPr>
          <p:cNvPr id="14" name="Text 12"/>
          <p:cNvSpPr/>
          <p:nvPr/>
        </p:nvSpPr>
        <p:spPr>
          <a:xfrm>
            <a:off x="9667875" y="3769816"/>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07</a:t>
            </a:r>
            <a:endParaRPr lang="en-US" sz="2550" dirty="0"/>
          </a:p>
        </p:txBody>
      </p:sp>
      <p:sp>
        <p:nvSpPr>
          <p:cNvPr id="15" name="Text 13"/>
          <p:cNvSpPr/>
          <p:nvPr/>
        </p:nvSpPr>
        <p:spPr>
          <a:xfrm>
            <a:off x="10323314" y="3769816"/>
            <a:ext cx="6115258"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Model evaluation — FID, radial spectra</a:t>
            </a:r>
            <a:endParaRPr lang="en-US" sz="2550" dirty="0"/>
          </a:p>
        </p:txBody>
      </p:sp>
      <p:sp>
        <p:nvSpPr>
          <p:cNvPr id="16" name="Text 14"/>
          <p:cNvSpPr/>
          <p:nvPr/>
        </p:nvSpPr>
        <p:spPr>
          <a:xfrm>
            <a:off x="990600" y="4454575"/>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04</a:t>
            </a:r>
            <a:endParaRPr lang="en-US" sz="2550" dirty="0"/>
          </a:p>
        </p:txBody>
      </p:sp>
      <p:sp>
        <p:nvSpPr>
          <p:cNvPr id="17" name="Text 15"/>
          <p:cNvSpPr/>
          <p:nvPr/>
        </p:nvSpPr>
        <p:spPr>
          <a:xfrm>
            <a:off x="1646039" y="4454575"/>
            <a:ext cx="6824127"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Spectral normalization and DDIM sampling</a:t>
            </a:r>
            <a:endParaRPr lang="en-US" sz="2550" dirty="0"/>
          </a:p>
        </p:txBody>
      </p:sp>
      <p:sp>
        <p:nvSpPr>
          <p:cNvPr id="18" name="Text 16"/>
          <p:cNvSpPr/>
          <p:nvPr/>
        </p:nvSpPr>
        <p:spPr>
          <a:xfrm>
            <a:off x="9667875" y="4454575"/>
            <a:ext cx="464939" cy="475208"/>
          </a:xfrm>
          <a:prstGeom prst="rect">
            <a:avLst/>
          </a:prstGeom>
          <a:noFill/>
          <a:ln/>
        </p:spPr>
        <p:txBody>
          <a:bodyPr wrap="square" lIns="25400" tIns="25400" rIns="25400" bIns="25400" rtlCol="0" anchor="t">
            <a:normAutofit/>
          </a:bodyPr>
          <a:lstStyle/>
          <a:p>
            <a:pPr algn="l" indent="0" marL="0">
              <a:lnSpc>
                <a:spcPct val="120789"/>
              </a:lnSpc>
              <a:buNone/>
            </a:pPr>
            <a:r>
              <a:rPr lang="en-US" sz="2550" dirty="0">
                <a:solidFill>
                  <a:srgbClr val="0052B4"/>
                </a:solidFill>
                <a:latin typeface="Courier New" pitchFamily="34" charset="0"/>
                <a:ea typeface="Courier New" pitchFamily="34" charset="-122"/>
                <a:cs typeface="Courier New" pitchFamily="34" charset="-120"/>
              </a:rPr>
              <a:t>08</a:t>
            </a:r>
            <a:endParaRPr lang="en-US" sz="2550" dirty="0"/>
          </a:p>
        </p:txBody>
      </p:sp>
      <p:sp>
        <p:nvSpPr>
          <p:cNvPr id="19" name="Text 17"/>
          <p:cNvSpPr/>
          <p:nvPr/>
        </p:nvSpPr>
        <p:spPr>
          <a:xfrm>
            <a:off x="10323314" y="4454575"/>
            <a:ext cx="4550346"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Conclusions and future work</a:t>
            </a:r>
            <a:endParaRPr lang="en-US" sz="2550" dirty="0"/>
          </a:p>
        </p:txBody>
      </p:sp>
      <p:sp>
        <p:nvSpPr>
          <p:cNvPr id="20" name="Text 18"/>
          <p:cNvSpPr/>
          <p:nvPr/>
        </p:nvSpPr>
        <p:spPr>
          <a:xfrm>
            <a:off x="990600" y="8686800"/>
            <a:ext cx="11282363"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5A5A5A"/>
                </a:solidFill>
                <a:latin typeface="Arial" pitchFamily="34" charset="0"/>
                <a:ea typeface="Arial" pitchFamily="34" charset="-122"/>
                <a:cs typeface="Arial" pitchFamily="34" charset="-120"/>
              </a:rPr>
              <a:t>Two DDPMs are trained under identical conditions and differ only in the domain of the diffusion process: RGB pixels or the Fourier spectrum.</a:t>
            </a:r>
            <a:endParaRPr lang="en-US" sz="2100" dirty="0"/>
          </a:p>
        </p:txBody>
      </p:sp>
      <p:sp>
        <p:nvSpPr>
          <p:cNvPr id="21" name="Text 19"/>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2 / 15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Problem Statement</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8120388"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Generative models reach convincing photorealism in the spatial domain, yet they leave systematic traces in the frequency domain.</a:t>
            </a:r>
            <a:endParaRPr lang="en-US" sz="2550" dirty="0"/>
          </a:p>
        </p:txBody>
      </p:sp>
      <p:sp>
        <p:nvSpPr>
          <p:cNvPr id="5" name="Text 3"/>
          <p:cNvSpPr/>
          <p:nvPr/>
        </p:nvSpPr>
        <p:spPr>
          <a:xfrm>
            <a:off x="990600" y="4007941"/>
            <a:ext cx="8120388"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Those traces — periodic grid peaks and a high-frequency tail that decays too fast — are exactly what state-of-the-art deepfake detectors exploit.</a:t>
            </a:r>
            <a:endParaRPr lang="en-US" sz="2550" dirty="0"/>
          </a:p>
        </p:txBody>
      </p:sp>
      <p:sp>
        <p:nvSpPr>
          <p:cNvPr id="6" name="Shape 4"/>
          <p:cNvSpPr/>
          <p:nvPr/>
        </p:nvSpPr>
        <p:spPr>
          <a:xfrm>
            <a:off x="9788872" y="2400300"/>
            <a:ext cx="76200" cy="3238500"/>
          </a:xfrm>
          <a:prstGeom prst="rect">
            <a:avLst/>
          </a:prstGeom>
          <a:solidFill>
            <a:srgbClr val="0052B4"/>
          </a:solidFill>
          <a:ln/>
        </p:spPr>
      </p:sp>
      <p:sp>
        <p:nvSpPr>
          <p:cNvPr id="7" name="Text 5"/>
          <p:cNvSpPr/>
          <p:nvPr/>
        </p:nvSpPr>
        <p:spPr>
          <a:xfrm>
            <a:off x="10246072" y="2476500"/>
            <a:ext cx="7262868" cy="3124200"/>
          </a:xfrm>
          <a:prstGeom prst="rect">
            <a:avLst/>
          </a:prstGeom>
          <a:noFill/>
          <a:ln/>
        </p:spPr>
        <p:txBody>
          <a:bodyPr wrap="square" lIns="25400" tIns="25400" rIns="25400" bIns="25400" rtlCol="0" anchor="t">
            <a:normAutofit/>
          </a:bodyPr>
          <a:lstStyle/>
          <a:p>
            <a:pPr algn="l" indent="0" marL="0">
              <a:lnSpc>
                <a:spcPct val="117391"/>
              </a:lnSpc>
              <a:buNone/>
            </a:pPr>
            <a:r>
              <a:rPr lang="en-US" sz="3000" i="1" dirty="0">
                <a:solidFill>
                  <a:srgbClr val="141414"/>
                </a:solidFill>
                <a:latin typeface="Georgia" pitchFamily="34" charset="0"/>
                <a:ea typeface="Georgia" pitchFamily="34" charset="-122"/>
                <a:cs typeface="Georgia" pitchFamily="34" charset="-120"/>
              </a:rPr>
              <a:t>If a diffusion model is trained directly on the Fourier spectrum rather than on RGB pixels, does it reproduce the spectral statistics of real images more faithfully than an identical model trained in the spatial domain?</a:t>
            </a:r>
            <a:endParaRPr lang="en-US" sz="3000" dirty="0"/>
          </a:p>
        </p:txBody>
      </p:sp>
      <p:sp>
        <p:nvSpPr>
          <p:cNvPr id="8" name="Text 6"/>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3 / 15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State of the Art</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55321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FORENSIC ANALYSIS</a:t>
            </a:r>
            <a:endParaRPr lang="en-US" sz="1800" dirty="0"/>
          </a:p>
        </p:txBody>
      </p:sp>
      <p:sp>
        <p:nvSpPr>
          <p:cNvPr id="5" name="Text 3"/>
          <p:cNvSpPr/>
          <p:nvPr/>
        </p:nvSpPr>
        <p:spPr>
          <a:xfrm>
            <a:off x="990600" y="2895600"/>
            <a:ext cx="5180076" cy="2358033"/>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41414"/>
                </a:solidFill>
                <a:latin typeface="Arial" pitchFamily="34" charset="0"/>
                <a:ea typeface="Arial" pitchFamily="34" charset="-122"/>
                <a:cs typeface="Arial" pitchFamily="34" charset="-120"/>
              </a:rPr>
              <a:t>It is well established that image generation pipelines, especially those based on GANs, introduce distinct spectral fingerprints in the frequency domain due to upsampling operations. (Frank et al. (ICML 2020))</a:t>
            </a:r>
            <a:endParaRPr lang="en-US" sz="2100" dirty="0"/>
          </a:p>
        </p:txBody>
      </p:sp>
      <p:sp>
        <p:nvSpPr>
          <p:cNvPr id="6" name="Text 4"/>
          <p:cNvSpPr/>
          <p:nvPr/>
        </p:nvSpPr>
        <p:spPr>
          <a:xfrm>
            <a:off x="6629400" y="2400300"/>
            <a:ext cx="55321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DIFFUSION MODELS</a:t>
            </a:r>
            <a:endParaRPr lang="en-US" sz="1800" dirty="0"/>
          </a:p>
        </p:txBody>
      </p:sp>
      <p:sp>
        <p:nvSpPr>
          <p:cNvPr id="7" name="Text 5"/>
          <p:cNvSpPr/>
          <p:nvPr/>
        </p:nvSpPr>
        <p:spPr>
          <a:xfrm>
            <a:off x="6629400" y="2895600"/>
            <a:ext cx="5180076" cy="811411"/>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41414"/>
                </a:solidFill>
                <a:latin typeface="Arial" pitchFamily="34" charset="0"/>
                <a:ea typeface="Arial" pitchFamily="34" charset="-122"/>
                <a:cs typeface="Arial" pitchFamily="34" charset="-120"/>
              </a:rPr>
              <a:t>DDPM (Ho et al., 2020) defines the noise-prediction objective used here.</a:t>
            </a:r>
            <a:endParaRPr lang="en-US" sz="2100" dirty="0"/>
          </a:p>
        </p:txBody>
      </p:sp>
      <p:sp>
        <p:nvSpPr>
          <p:cNvPr id="8" name="Text 6"/>
          <p:cNvSpPr/>
          <p:nvPr/>
        </p:nvSpPr>
        <p:spPr>
          <a:xfrm>
            <a:off x="6629400" y="3859411"/>
            <a:ext cx="5180076" cy="811411"/>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41414"/>
                </a:solidFill>
                <a:latin typeface="Arial" pitchFamily="34" charset="0"/>
                <a:ea typeface="Arial" pitchFamily="34" charset="-122"/>
                <a:cs typeface="Arial" pitchFamily="34" charset="-120"/>
              </a:rPr>
              <a:t>DDIM (Song et al., 2021) makes sampling deterministic on a coarse timestep grid.</a:t>
            </a:r>
            <a:endParaRPr lang="en-US" sz="2100" dirty="0"/>
          </a:p>
        </p:txBody>
      </p:sp>
      <p:sp>
        <p:nvSpPr>
          <p:cNvPr id="9" name="Shape 7"/>
          <p:cNvSpPr/>
          <p:nvPr/>
        </p:nvSpPr>
        <p:spPr>
          <a:xfrm>
            <a:off x="990600" y="7926884"/>
            <a:ext cx="16306800" cy="1560016"/>
          </a:xfrm>
          <a:prstGeom prst="rect">
            <a:avLst/>
          </a:prstGeom>
          <a:solidFill>
            <a:srgbClr val="F5F5F3"/>
          </a:solidFill>
          <a:ln/>
        </p:spPr>
      </p:sp>
      <p:sp>
        <p:nvSpPr>
          <p:cNvPr id="10" name="Text 8"/>
          <p:cNvSpPr/>
          <p:nvPr/>
        </p:nvSpPr>
        <p:spPr>
          <a:xfrm>
            <a:off x="1409700" y="8365034"/>
            <a:ext cx="1367969" cy="342900"/>
          </a:xfrm>
          <a:prstGeom prst="rect">
            <a:avLst/>
          </a:prstGeom>
          <a:noFill/>
          <a:ln/>
        </p:spPr>
        <p:txBody>
          <a:bodyPr wrap="none" lIns="25400" tIns="25400" rIns="25400" bIns="25400" rtlCol="0" anchor="t">
            <a:normAutofit/>
          </a:bodyPr>
          <a:lstStyle/>
          <a:p>
            <a:pPr algn="l" indent="0" marL="0">
              <a:buNone/>
            </a:pPr>
            <a:r>
              <a:rPr lang="en-US" sz="1800" spc="144" kern="0" dirty="0">
                <a:solidFill>
                  <a:srgbClr val="5A5A5A"/>
                </a:solidFill>
                <a:latin typeface="Courier New" pitchFamily="34" charset="0"/>
                <a:ea typeface="Courier New" pitchFamily="34" charset="-122"/>
                <a:cs typeface="Courier New" pitchFamily="34" charset="-120"/>
              </a:rPr>
              <a:t>OPEN GAP</a:t>
            </a:r>
            <a:endParaRPr lang="en-US" sz="1800" dirty="0"/>
          </a:p>
        </p:txBody>
      </p:sp>
      <p:sp>
        <p:nvSpPr>
          <p:cNvPr id="11" name="Text 9"/>
          <p:cNvSpPr/>
          <p:nvPr/>
        </p:nvSpPr>
        <p:spPr>
          <a:xfrm>
            <a:off x="2958108" y="8269784"/>
            <a:ext cx="14337798"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141414"/>
                </a:solidFill>
                <a:latin typeface="Arial" pitchFamily="34" charset="0"/>
                <a:ea typeface="Arial" pitchFamily="34" charset="-122"/>
                <a:cs typeface="Arial" pitchFamily="34" charset="-120"/>
              </a:rPr>
              <a:t>Could generating the image directly in the frequency domain, rather than in the RGB spatial domain, mitigate the spectral fingerprint phenomenon?</a:t>
            </a:r>
            <a:endParaRPr lang="en-US" sz="2550" dirty="0"/>
          </a:p>
        </p:txBody>
      </p:sp>
      <p:sp>
        <p:nvSpPr>
          <p:cNvPr id="12" name="Text 10"/>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4 / 15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Proposed Method — Frequency Representation</a:t>
            </a:r>
            <a:endParaRPr lang="en-US" sz="4800" dirty="0"/>
          </a:p>
        </p:txBody>
      </p:sp>
      <p:sp>
        <p:nvSpPr>
          <p:cNvPr id="3" name="Shape 1"/>
          <p:cNvSpPr/>
          <p:nvPr/>
        </p:nvSpPr>
        <p:spPr>
          <a:xfrm>
            <a:off x="990600" y="1885950"/>
            <a:ext cx="16306800" cy="19050"/>
          </a:xfrm>
          <a:prstGeom prst="rect">
            <a:avLst/>
          </a:prstGeom>
          <a:solidFill>
            <a:srgbClr val="DCDCDC"/>
          </a:solidFill>
          <a:ln/>
        </p:spPr>
      </p:sp>
      <p:sp>
        <p:nvSpPr>
          <p:cNvPr id="4" name="Shape 2"/>
          <p:cNvSpPr/>
          <p:nvPr/>
        </p:nvSpPr>
        <p:spPr>
          <a:xfrm>
            <a:off x="990600" y="3241179"/>
            <a:ext cx="2228850" cy="2228850"/>
          </a:xfrm>
          <a:prstGeom prst="rect">
            <a:avLst/>
          </a:prstGeom>
          <a:ln w="19050">
            <a:solidFill>
              <a:srgbClr val="141414"/>
            </a:solidFill>
            <a:prstDash val="solid"/>
          </a:ln>
        </p:spPr>
      </p:sp>
      <p:pic>
        <p:nvPicPr>
          <p:cNvPr id="5" name="Image 0" descr="preencoded.png">    </p:cNvPr>
          <p:cNvPicPr>
            <a:picLocks noChangeAspect="1"/>
          </p:cNvPicPr>
          <p:nvPr/>
        </p:nvPicPr>
        <p:blipFill>
          <a:blip r:embed="rId1"/>
          <a:stretch>
            <a:fillRect/>
          </a:stretch>
        </p:blipFill>
        <p:spPr>
          <a:xfrm>
            <a:off x="990600" y="3241179"/>
            <a:ext cx="2228850" cy="2228850"/>
          </a:xfrm>
          <a:prstGeom prst="rect">
            <a:avLst/>
          </a:prstGeom>
        </p:spPr>
      </p:pic>
      <p:sp>
        <p:nvSpPr>
          <p:cNvPr id="6" name="Text 3"/>
          <p:cNvSpPr/>
          <p:nvPr/>
        </p:nvSpPr>
        <p:spPr>
          <a:xfrm>
            <a:off x="952500" y="5603379"/>
            <a:ext cx="2305050" cy="632222"/>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RGB image [B, 3, 128, 128]</a:t>
            </a:r>
            <a:endParaRPr lang="en-US" sz="1800" dirty="0"/>
          </a:p>
        </p:txBody>
      </p:sp>
      <p:sp>
        <p:nvSpPr>
          <p:cNvPr id="7" name="Text 4"/>
          <p:cNvSpPr/>
          <p:nvPr/>
        </p:nvSpPr>
        <p:spPr>
          <a:xfrm>
            <a:off x="3448050" y="4328815"/>
            <a:ext cx="1810643" cy="342900"/>
          </a:xfrm>
          <a:prstGeom prst="rect">
            <a:avLst/>
          </a:prstGeom>
          <a:noFill/>
          <a:ln/>
        </p:spPr>
        <p:txBody>
          <a:bodyPr wrap="none" lIns="25400" tIns="25400" rIns="25400" bIns="25400" rtlCol="0" anchor="t">
            <a:normAutofit/>
          </a:bodyPr>
          <a:lstStyle/>
          <a:p>
            <a:pPr algn="l" indent="0" marL="0">
              <a:buNone/>
            </a:pPr>
            <a:r>
              <a:rPr lang="en-US" sz="1800" dirty="0">
                <a:solidFill>
                  <a:srgbClr val="0052B4"/>
                </a:solidFill>
                <a:latin typeface="Courier New" pitchFamily="34" charset="0"/>
                <a:ea typeface="Courier New" pitchFamily="34" charset="-122"/>
                <a:cs typeface="Courier New" pitchFamily="34" charset="-120"/>
              </a:rPr>
              <a:t>FFT2 · ortho</a:t>
            </a:r>
            <a:endParaRPr lang="en-US" sz="1800" dirty="0"/>
          </a:p>
        </p:txBody>
      </p:sp>
      <p:sp>
        <p:nvSpPr>
          <p:cNvPr id="8" name="Text 5"/>
          <p:cNvSpPr/>
          <p:nvPr/>
        </p:nvSpPr>
        <p:spPr>
          <a:xfrm>
            <a:off x="4103340" y="4728865"/>
            <a:ext cx="411510"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dirty="0">
                <a:solidFill>
                  <a:srgbClr val="0052B4"/>
                </a:solidFill>
                <a:latin typeface="Arial" pitchFamily="34" charset="0"/>
                <a:ea typeface="Arial" pitchFamily="34" charset="-122"/>
                <a:cs typeface="Arial" pitchFamily="34" charset="-120"/>
              </a:rPr>
              <a:t>▶</a:t>
            </a:r>
            <a:endParaRPr lang="en-US" sz="3000" dirty="0"/>
          </a:p>
        </p:txBody>
      </p:sp>
      <p:sp>
        <p:nvSpPr>
          <p:cNvPr id="9" name="Shape 6"/>
          <p:cNvSpPr/>
          <p:nvPr/>
        </p:nvSpPr>
        <p:spPr>
          <a:xfrm>
            <a:off x="5322689" y="3241179"/>
            <a:ext cx="2228850" cy="2228850"/>
          </a:xfrm>
          <a:prstGeom prst="rect">
            <a:avLst/>
          </a:prstGeom>
          <a:ln w="19050">
            <a:solidFill>
              <a:srgbClr val="141414"/>
            </a:solidFill>
            <a:prstDash val="solid"/>
          </a:ln>
        </p:spPr>
      </p:sp>
      <p:pic>
        <p:nvPicPr>
          <p:cNvPr id="10" name="Image 1" descr="preencoded.png">    </p:cNvPr>
          <p:cNvPicPr>
            <a:picLocks noChangeAspect="1"/>
          </p:cNvPicPr>
          <p:nvPr/>
        </p:nvPicPr>
        <p:blipFill>
          <a:blip r:embed="rId2"/>
          <a:stretch>
            <a:fillRect/>
          </a:stretch>
        </p:blipFill>
        <p:spPr>
          <a:xfrm>
            <a:off x="5322689" y="3241179"/>
            <a:ext cx="2228850" cy="2228850"/>
          </a:xfrm>
          <a:prstGeom prst="rect">
            <a:avLst/>
          </a:prstGeom>
        </p:spPr>
      </p:pic>
      <p:sp>
        <p:nvSpPr>
          <p:cNvPr id="11" name="Text 7"/>
          <p:cNvSpPr/>
          <p:nvPr/>
        </p:nvSpPr>
        <p:spPr>
          <a:xfrm>
            <a:off x="5284589" y="5603379"/>
            <a:ext cx="2305050" cy="632222"/>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centred spectrum complex</a:t>
            </a:r>
            <a:endParaRPr lang="en-US" sz="1800" dirty="0"/>
          </a:p>
        </p:txBody>
      </p:sp>
      <p:sp>
        <p:nvSpPr>
          <p:cNvPr id="12" name="Text 8"/>
          <p:cNvSpPr/>
          <p:nvPr/>
        </p:nvSpPr>
        <p:spPr>
          <a:xfrm>
            <a:off x="7780139" y="4328815"/>
            <a:ext cx="1961421" cy="342900"/>
          </a:xfrm>
          <a:prstGeom prst="rect">
            <a:avLst/>
          </a:prstGeom>
          <a:noFill/>
          <a:ln/>
        </p:spPr>
        <p:txBody>
          <a:bodyPr wrap="none" lIns="25400" tIns="25400" rIns="25400" bIns="25400" rtlCol="0" anchor="t">
            <a:normAutofit/>
          </a:bodyPr>
          <a:lstStyle/>
          <a:p>
            <a:pPr algn="l" indent="0" marL="0">
              <a:buNone/>
            </a:pPr>
            <a:r>
              <a:rPr lang="en-US" sz="1800" dirty="0">
                <a:solidFill>
                  <a:srgbClr val="0052B4"/>
                </a:solidFill>
                <a:latin typeface="Courier New" pitchFamily="34" charset="0"/>
                <a:ea typeface="Courier New" pitchFamily="34" charset="-122"/>
                <a:cs typeface="Courier New" pitchFamily="34" charset="-120"/>
              </a:rPr>
              <a:t>split ‖ stack</a:t>
            </a:r>
            <a:endParaRPr lang="en-US" sz="1800" dirty="0"/>
          </a:p>
        </p:txBody>
      </p:sp>
      <p:sp>
        <p:nvSpPr>
          <p:cNvPr id="13" name="Text 9"/>
          <p:cNvSpPr/>
          <p:nvPr/>
        </p:nvSpPr>
        <p:spPr>
          <a:xfrm>
            <a:off x="8504039" y="4728865"/>
            <a:ext cx="411510"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dirty="0">
                <a:solidFill>
                  <a:srgbClr val="0052B4"/>
                </a:solidFill>
                <a:latin typeface="Arial" pitchFamily="34" charset="0"/>
                <a:ea typeface="Arial" pitchFamily="34" charset="-122"/>
                <a:cs typeface="Arial" pitchFamily="34" charset="-120"/>
              </a:rPr>
              <a:t>▶</a:t>
            </a:r>
            <a:endParaRPr lang="en-US" sz="3000" dirty="0"/>
          </a:p>
        </p:txBody>
      </p:sp>
      <p:sp>
        <p:nvSpPr>
          <p:cNvPr id="14" name="Shape 10"/>
          <p:cNvSpPr/>
          <p:nvPr/>
        </p:nvSpPr>
        <p:spPr>
          <a:xfrm>
            <a:off x="9791849" y="3604022"/>
            <a:ext cx="1800225" cy="1800225"/>
          </a:xfrm>
          <a:prstGeom prst="rect">
            <a:avLst/>
          </a:prstGeom>
          <a:ln w="19050">
            <a:solidFill>
              <a:srgbClr val="141414"/>
            </a:solidFill>
            <a:prstDash val="solid"/>
          </a:ln>
        </p:spPr>
      </p:sp>
      <p:pic>
        <p:nvPicPr>
          <p:cNvPr id="15" name="Image 2" descr="preencoded.png">    </p:cNvPr>
          <p:cNvPicPr>
            <a:picLocks noChangeAspect="1"/>
          </p:cNvPicPr>
          <p:nvPr/>
        </p:nvPicPr>
        <p:blipFill>
          <a:blip r:embed="rId3"/>
          <a:stretch>
            <a:fillRect/>
          </a:stretch>
        </p:blipFill>
        <p:spPr>
          <a:xfrm>
            <a:off x="9791849" y="3604022"/>
            <a:ext cx="1800225" cy="1800225"/>
          </a:xfrm>
          <a:prstGeom prst="rect">
            <a:avLst/>
          </a:prstGeom>
        </p:spPr>
      </p:pic>
      <p:sp>
        <p:nvSpPr>
          <p:cNvPr id="16" name="Text 11"/>
          <p:cNvSpPr/>
          <p:nvPr/>
        </p:nvSpPr>
        <p:spPr>
          <a:xfrm>
            <a:off x="9701838" y="5537597"/>
            <a:ext cx="1980248" cy="335161"/>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real</a:t>
            </a:r>
            <a:endParaRPr lang="en-US" sz="1800" dirty="0"/>
          </a:p>
        </p:txBody>
      </p:sp>
      <p:sp>
        <p:nvSpPr>
          <p:cNvPr id="17" name="Shape 12"/>
          <p:cNvSpPr/>
          <p:nvPr/>
        </p:nvSpPr>
        <p:spPr>
          <a:xfrm>
            <a:off x="11763524" y="3604022"/>
            <a:ext cx="1800225" cy="1800225"/>
          </a:xfrm>
          <a:prstGeom prst="rect">
            <a:avLst/>
          </a:prstGeom>
          <a:ln w="19050">
            <a:solidFill>
              <a:srgbClr val="141414"/>
            </a:solidFill>
            <a:prstDash val="solid"/>
          </a:ln>
        </p:spPr>
      </p:sp>
      <p:pic>
        <p:nvPicPr>
          <p:cNvPr id="18" name="Image 3" descr="preencoded.png">    </p:cNvPr>
          <p:cNvPicPr>
            <a:picLocks noChangeAspect="1"/>
          </p:cNvPicPr>
          <p:nvPr/>
        </p:nvPicPr>
        <p:blipFill>
          <a:blip r:embed="rId4"/>
          <a:stretch>
            <a:fillRect/>
          </a:stretch>
        </p:blipFill>
        <p:spPr>
          <a:xfrm>
            <a:off x="11763524" y="3604022"/>
            <a:ext cx="1800225" cy="1800225"/>
          </a:xfrm>
          <a:prstGeom prst="rect">
            <a:avLst/>
          </a:prstGeom>
        </p:spPr>
      </p:pic>
      <p:sp>
        <p:nvSpPr>
          <p:cNvPr id="19" name="Text 13"/>
          <p:cNvSpPr/>
          <p:nvPr/>
        </p:nvSpPr>
        <p:spPr>
          <a:xfrm>
            <a:off x="11673513" y="5537597"/>
            <a:ext cx="1980248" cy="335161"/>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imaginary</a:t>
            </a:r>
            <a:endParaRPr lang="en-US" sz="1800" dirty="0"/>
          </a:p>
        </p:txBody>
      </p:sp>
      <p:sp>
        <p:nvSpPr>
          <p:cNvPr id="20" name="Text 14"/>
          <p:cNvSpPr/>
          <p:nvPr/>
        </p:nvSpPr>
        <p:spPr>
          <a:xfrm>
            <a:off x="13792349" y="4328815"/>
            <a:ext cx="1036439" cy="342900"/>
          </a:xfrm>
          <a:prstGeom prst="rect">
            <a:avLst/>
          </a:prstGeom>
          <a:noFill/>
          <a:ln/>
        </p:spPr>
        <p:txBody>
          <a:bodyPr wrap="none" lIns="25400" tIns="25400" rIns="25400" bIns="25400" rtlCol="0" anchor="t">
            <a:normAutofit/>
          </a:bodyPr>
          <a:lstStyle/>
          <a:p>
            <a:pPr algn="l" indent="0" marL="0">
              <a:buNone/>
            </a:pPr>
            <a:r>
              <a:rPr lang="en-US" sz="1800" dirty="0">
                <a:solidFill>
                  <a:srgbClr val="0052B4"/>
                </a:solidFill>
                <a:latin typeface="Courier New" pitchFamily="34" charset="0"/>
                <a:ea typeface="Courier New" pitchFamily="34" charset="-122"/>
                <a:cs typeface="Courier New" pitchFamily="34" charset="-120"/>
              </a:rPr>
              <a:t>to UNet</a:t>
            </a:r>
            <a:endParaRPr lang="en-US" sz="1800" dirty="0"/>
          </a:p>
        </p:txBody>
      </p:sp>
      <p:sp>
        <p:nvSpPr>
          <p:cNvPr id="21" name="Text 15"/>
          <p:cNvSpPr/>
          <p:nvPr/>
        </p:nvSpPr>
        <p:spPr>
          <a:xfrm>
            <a:off x="14104739" y="4728865"/>
            <a:ext cx="411510"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dirty="0">
                <a:solidFill>
                  <a:srgbClr val="0052B4"/>
                </a:solidFill>
                <a:latin typeface="Arial" pitchFamily="34" charset="0"/>
                <a:ea typeface="Arial" pitchFamily="34" charset="-122"/>
                <a:cs typeface="Arial" pitchFamily="34" charset="-120"/>
              </a:rPr>
              <a:t>▶</a:t>
            </a:r>
            <a:endParaRPr lang="en-US" sz="3000" dirty="0"/>
          </a:p>
        </p:txBody>
      </p:sp>
      <p:sp>
        <p:nvSpPr>
          <p:cNvPr id="22" name="Shape 16"/>
          <p:cNvSpPr/>
          <p:nvPr/>
        </p:nvSpPr>
        <p:spPr>
          <a:xfrm>
            <a:off x="14981188" y="4085034"/>
            <a:ext cx="2929979" cy="838200"/>
          </a:xfrm>
          <a:prstGeom prst="rect">
            <a:avLst/>
          </a:prstGeom>
          <a:solidFill>
            <a:srgbClr val="0052B4"/>
          </a:solidFill>
          <a:ln w="28575">
            <a:solidFill>
              <a:srgbClr val="0052B4"/>
            </a:solidFill>
            <a:prstDash val="solid"/>
          </a:ln>
        </p:spPr>
      </p:sp>
      <p:sp>
        <p:nvSpPr>
          <p:cNvPr id="23" name="Text 17"/>
          <p:cNvSpPr/>
          <p:nvPr/>
        </p:nvSpPr>
        <p:spPr>
          <a:xfrm>
            <a:off x="15257413" y="4342209"/>
            <a:ext cx="2465429" cy="361950"/>
          </a:xfrm>
          <a:prstGeom prst="rect">
            <a:avLst/>
          </a:prstGeom>
          <a:noFill/>
          <a:ln/>
        </p:spPr>
        <p:txBody>
          <a:bodyPr wrap="none" lIns="25400" tIns="25400" rIns="25400" bIns="25400" rtlCol="0" anchor="t">
            <a:normAutofit/>
          </a:bodyPr>
          <a:lstStyle/>
          <a:p>
            <a:pPr algn="l" indent="0" marL="0">
              <a:buNone/>
            </a:pPr>
            <a:r>
              <a:rPr lang="en-US" sz="1950" dirty="0">
                <a:solidFill>
                  <a:srgbClr val="FFFFFF"/>
                </a:solidFill>
                <a:latin typeface="Courier New" pitchFamily="34" charset="0"/>
                <a:ea typeface="Courier New" pitchFamily="34" charset="-122"/>
                <a:cs typeface="Courier New" pitchFamily="34" charset="-120"/>
              </a:rPr>
              <a:t>[B, 6, 128, 128]</a:t>
            </a:r>
            <a:endParaRPr lang="en-US" sz="1950" dirty="0"/>
          </a:p>
        </p:txBody>
      </p:sp>
      <p:sp>
        <p:nvSpPr>
          <p:cNvPr id="24" name="Text 18"/>
          <p:cNvSpPr/>
          <p:nvPr/>
        </p:nvSpPr>
        <p:spPr>
          <a:xfrm>
            <a:off x="15314533" y="5056584"/>
            <a:ext cx="2263140" cy="335161"/>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6 real channels</a:t>
            </a:r>
            <a:endParaRPr lang="en-US" sz="1800" dirty="0"/>
          </a:p>
        </p:txBody>
      </p:sp>
      <p:sp>
        <p:nvSpPr>
          <p:cNvPr id="25" name="Text 19"/>
          <p:cNvSpPr/>
          <p:nvPr/>
        </p:nvSpPr>
        <p:spPr>
          <a:xfrm>
            <a:off x="990600" y="8107859"/>
            <a:ext cx="55321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NORM = ORTHO</a:t>
            </a:r>
            <a:endParaRPr lang="en-US" sz="1800" dirty="0"/>
          </a:p>
        </p:txBody>
      </p:sp>
      <p:sp>
        <p:nvSpPr>
          <p:cNvPr id="26" name="Text 20"/>
          <p:cNvSpPr/>
          <p:nvPr/>
        </p:nvSpPr>
        <p:spPr>
          <a:xfrm>
            <a:off x="990600" y="8526959"/>
            <a:ext cx="5180076" cy="99804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41414"/>
                </a:solidFill>
                <a:latin typeface="Arial" pitchFamily="34" charset="0"/>
                <a:ea typeface="Arial" pitchFamily="34" charset="-122"/>
                <a:cs typeface="Arial" pitchFamily="34" charset="-120"/>
              </a:rPr>
              <a:t>Unitary transform: forward and inverse are exact adjoints, so no H·W scale factor leaks into the loss.</a:t>
            </a:r>
            <a:endParaRPr lang="en-US" sz="1800" dirty="0"/>
          </a:p>
        </p:txBody>
      </p:sp>
      <p:sp>
        <p:nvSpPr>
          <p:cNvPr id="27" name="Text 21"/>
          <p:cNvSpPr/>
          <p:nvPr/>
        </p:nvSpPr>
        <p:spPr>
          <a:xfrm>
            <a:off x="6629400" y="8107859"/>
            <a:ext cx="55321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FFTSHIFT</a:t>
            </a:r>
            <a:endParaRPr lang="en-US" sz="1800" dirty="0"/>
          </a:p>
        </p:txBody>
      </p:sp>
      <p:sp>
        <p:nvSpPr>
          <p:cNvPr id="28" name="Text 22"/>
          <p:cNvSpPr/>
          <p:nvPr/>
        </p:nvSpPr>
        <p:spPr>
          <a:xfrm>
            <a:off x="6629400" y="8526959"/>
            <a:ext cx="5180076" cy="99804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41414"/>
                </a:solidFill>
                <a:latin typeface="Arial" pitchFamily="34" charset="0"/>
                <a:ea typeface="Arial" pitchFamily="34" charset="-122"/>
                <a:cs typeface="Arial" pitchFamily="34" charset="-120"/>
              </a:rPr>
              <a:t>DC at the centre, so a translation-equivariant UNet always sees low frequencies in the middle and high ones at the border.</a:t>
            </a:r>
            <a:endParaRPr lang="en-US" sz="1800" dirty="0"/>
          </a:p>
        </p:txBody>
      </p:sp>
      <p:sp>
        <p:nvSpPr>
          <p:cNvPr id="29" name="Text 23"/>
          <p:cNvSpPr/>
          <p:nvPr/>
        </p:nvSpPr>
        <p:spPr>
          <a:xfrm>
            <a:off x="12268200" y="8107859"/>
            <a:ext cx="55321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ROUND-TRIP CHECK</a:t>
            </a:r>
            <a:endParaRPr lang="en-US" sz="1800" dirty="0"/>
          </a:p>
        </p:txBody>
      </p:sp>
      <p:sp>
        <p:nvSpPr>
          <p:cNvPr id="30" name="Text 24"/>
          <p:cNvSpPr/>
          <p:nvPr/>
        </p:nvSpPr>
        <p:spPr>
          <a:xfrm>
            <a:off x="12268200" y="8526959"/>
            <a:ext cx="5180076"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41414"/>
                </a:solidFill>
                <a:latin typeface="Arial" pitchFamily="34" charset="0"/>
                <a:ea typeface="Arial" pitchFamily="34" charset="-122"/>
                <a:cs typeface="Arial" pitchFamily="34" charset="-120"/>
              </a:rPr>
              <a:t>from_freq(to_freq(x)) is verified against x to within 1e-4 before training starts.</a:t>
            </a:r>
            <a:endParaRPr lang="en-US" sz="1800" dirty="0"/>
          </a:p>
        </p:txBody>
      </p:sp>
      <p:sp>
        <p:nvSpPr>
          <p:cNvPr id="31" name="Text 25"/>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5 / 15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Proposed Method — Spectral Normalization</a:t>
            </a:r>
            <a:endParaRPr lang="en-US" sz="4800" dirty="0"/>
          </a:p>
        </p:txBody>
      </p:sp>
      <p:sp>
        <p:nvSpPr>
          <p:cNvPr id="3" name="Shape 1"/>
          <p:cNvSpPr/>
          <p:nvPr/>
        </p:nvSpPr>
        <p:spPr>
          <a:xfrm>
            <a:off x="990600" y="1885950"/>
            <a:ext cx="16306800" cy="19050"/>
          </a:xfrm>
          <a:prstGeom prst="rect">
            <a:avLst/>
          </a:prstGeom>
          <a:solidFill>
            <a:srgbClr val="DCDCDC"/>
          </a:solidFill>
          <a:ln/>
        </p:spPr>
      </p:sp>
      <p:sp>
        <p:nvSpPr>
          <p:cNvPr id="4" name="Shape 2"/>
          <p:cNvSpPr/>
          <p:nvPr/>
        </p:nvSpPr>
        <p:spPr>
          <a:xfrm>
            <a:off x="990600" y="2286000"/>
            <a:ext cx="2085975" cy="2085975"/>
          </a:xfrm>
          <a:prstGeom prst="rect">
            <a:avLst/>
          </a:prstGeom>
          <a:ln w="19050">
            <a:solidFill>
              <a:srgbClr val="141414"/>
            </a:solidFill>
            <a:prstDash val="solid"/>
          </a:ln>
        </p:spPr>
      </p:sp>
      <p:pic>
        <p:nvPicPr>
          <p:cNvPr id="5" name="Image 0" descr="preencoded.png">    </p:cNvPr>
          <p:cNvPicPr>
            <a:picLocks noChangeAspect="1"/>
          </p:cNvPicPr>
          <p:nvPr/>
        </p:nvPicPr>
        <p:blipFill>
          <a:blip r:embed="rId1"/>
          <a:stretch>
            <a:fillRect/>
          </a:stretch>
        </p:blipFill>
        <p:spPr>
          <a:xfrm>
            <a:off x="990600" y="2286000"/>
            <a:ext cx="2085975" cy="2085975"/>
          </a:xfrm>
          <a:prstGeom prst="rect">
            <a:avLst/>
          </a:prstGeom>
        </p:spPr>
      </p:pic>
      <p:sp>
        <p:nvSpPr>
          <p:cNvPr id="6" name="Text 3"/>
          <p:cNvSpPr/>
          <p:nvPr/>
        </p:nvSpPr>
        <p:spPr>
          <a:xfrm>
            <a:off x="880869" y="4505325"/>
            <a:ext cx="2414081" cy="335161"/>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raw |F| — linear</a:t>
            </a:r>
            <a:endParaRPr lang="en-US" sz="1800" dirty="0"/>
          </a:p>
        </p:txBody>
      </p:sp>
      <p:sp>
        <p:nvSpPr>
          <p:cNvPr id="7" name="Text 4"/>
          <p:cNvSpPr/>
          <p:nvPr/>
        </p:nvSpPr>
        <p:spPr>
          <a:xfrm>
            <a:off x="3432870" y="3353693"/>
            <a:ext cx="411510"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dirty="0">
                <a:solidFill>
                  <a:srgbClr val="0052B4"/>
                </a:solidFill>
                <a:latin typeface="Arial" pitchFamily="34" charset="0"/>
                <a:ea typeface="Arial" pitchFamily="34" charset="-122"/>
                <a:cs typeface="Arial" pitchFamily="34" charset="-120"/>
              </a:rPr>
              <a:t>▶</a:t>
            </a:r>
            <a:endParaRPr lang="en-US" sz="3000" dirty="0"/>
          </a:p>
        </p:txBody>
      </p:sp>
      <p:sp>
        <p:nvSpPr>
          <p:cNvPr id="8" name="Shape 5"/>
          <p:cNvSpPr/>
          <p:nvPr/>
        </p:nvSpPr>
        <p:spPr>
          <a:xfrm>
            <a:off x="4015829" y="2286000"/>
            <a:ext cx="2085975" cy="2085975"/>
          </a:xfrm>
          <a:prstGeom prst="rect">
            <a:avLst/>
          </a:prstGeom>
          <a:ln w="19050">
            <a:solidFill>
              <a:srgbClr val="141414"/>
            </a:solidFill>
            <a:prstDash val="solid"/>
          </a:ln>
        </p:spPr>
      </p:sp>
      <p:pic>
        <p:nvPicPr>
          <p:cNvPr id="9" name="Image 1" descr="preencoded.png">    </p:cNvPr>
          <p:cNvPicPr>
            <a:picLocks noChangeAspect="1"/>
          </p:cNvPicPr>
          <p:nvPr/>
        </p:nvPicPr>
        <p:blipFill>
          <a:blip r:embed="rId2"/>
          <a:stretch>
            <a:fillRect/>
          </a:stretch>
        </p:blipFill>
        <p:spPr>
          <a:xfrm>
            <a:off x="4015829" y="2286000"/>
            <a:ext cx="2085975" cy="2085975"/>
          </a:xfrm>
          <a:prstGeom prst="rect">
            <a:avLst/>
          </a:prstGeom>
        </p:spPr>
      </p:pic>
      <p:sp>
        <p:nvSpPr>
          <p:cNvPr id="10" name="Text 6"/>
          <p:cNvSpPr/>
          <p:nvPr/>
        </p:nvSpPr>
        <p:spPr>
          <a:xfrm>
            <a:off x="3892384" y="4505325"/>
            <a:ext cx="2715801" cy="335161"/>
          </a:xfrm>
          <a:prstGeom prst="rect">
            <a:avLst/>
          </a:prstGeom>
          <a:noFill/>
          <a:ln/>
        </p:spPr>
        <p:txBody>
          <a:bodyPr wrap="square" lIns="25400" tIns="25400" rIns="25400" bIns="25400" rtlCol="0" anchor="t">
            <a:normAutofit/>
          </a:bodyPr>
          <a:lstStyle/>
          <a:p>
            <a:pPr algn="ctr" indent="0" marL="0">
              <a:lnSpc>
                <a:spcPct val="115556"/>
              </a:lnSpc>
              <a:buNone/>
            </a:pPr>
            <a:r>
              <a:rPr lang="en-US" sz="1800" dirty="0">
                <a:solidFill>
                  <a:srgbClr val="5A5A5A"/>
                </a:solidFill>
                <a:latin typeface="Courier New" pitchFamily="34" charset="0"/>
                <a:ea typeface="Courier New" pitchFamily="34" charset="-122"/>
                <a:cs typeface="Courier New" pitchFamily="34" charset="-120"/>
              </a:rPr>
              <a:t>after stages 1 + 2</a:t>
            </a:r>
            <a:endParaRPr lang="en-US" sz="1800" dirty="0"/>
          </a:p>
        </p:txBody>
      </p:sp>
      <p:sp>
        <p:nvSpPr>
          <p:cNvPr id="11" name="Text 7"/>
          <p:cNvSpPr/>
          <p:nvPr/>
        </p:nvSpPr>
        <p:spPr>
          <a:xfrm>
            <a:off x="990600" y="5030986"/>
            <a:ext cx="7624332"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Fourier coefficients follow an approximate 1/f power law: the DC term is orders of magnitude larger than the rest, so on a linear scale the spectrum is a single bright pixel.</a:t>
            </a:r>
            <a:endParaRPr lang="en-US" sz="2550" dirty="0"/>
          </a:p>
        </p:txBody>
      </p:sp>
      <p:sp>
        <p:nvSpPr>
          <p:cNvPr id="12" name="Text 8"/>
          <p:cNvSpPr/>
          <p:nvPr/>
        </p:nvSpPr>
        <p:spPr>
          <a:xfrm>
            <a:off x="990600" y="7072908"/>
            <a:ext cx="7624332" cy="1318022"/>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A5A5A"/>
                </a:solidFill>
                <a:latin typeface="Arial" pitchFamily="34" charset="0"/>
                <a:ea typeface="Arial" pitchFamily="34" charset="-122"/>
                <a:cs typeface="Arial" pitchFamily="34" charset="-120"/>
              </a:rPr>
              <a:t>A single isotropic noise schedule then destroys the tiny high-frequency coefficients in the first steps, while the huge DC term stays barely perturbed at t = T — violating the pure-noise prior of the reverse process.</a:t>
            </a:r>
            <a:endParaRPr lang="en-US" sz="1800" dirty="0"/>
          </a:p>
        </p:txBody>
      </p:sp>
      <p:sp>
        <p:nvSpPr>
          <p:cNvPr id="13" name="Text 9"/>
          <p:cNvSpPr/>
          <p:nvPr/>
        </p:nvSpPr>
        <p:spPr>
          <a:xfrm>
            <a:off x="9154864" y="2286000"/>
            <a:ext cx="304949"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b="1" dirty="0">
                <a:solidFill>
                  <a:srgbClr val="0052B4"/>
                </a:solidFill>
                <a:latin typeface="Courier New" pitchFamily="34" charset="0"/>
                <a:ea typeface="Courier New" pitchFamily="34" charset="-122"/>
                <a:cs typeface="Courier New" pitchFamily="34" charset="-120"/>
              </a:rPr>
              <a:t>1</a:t>
            </a:r>
            <a:endParaRPr lang="en-US" sz="3000" dirty="0"/>
          </a:p>
        </p:txBody>
      </p:sp>
      <p:sp>
        <p:nvSpPr>
          <p:cNvPr id="14" name="Text 10"/>
          <p:cNvSpPr/>
          <p:nvPr/>
        </p:nvSpPr>
        <p:spPr>
          <a:xfrm>
            <a:off x="9650313" y="2286000"/>
            <a:ext cx="5049173"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41414"/>
                </a:solidFill>
                <a:latin typeface="Arial" pitchFamily="34" charset="0"/>
                <a:ea typeface="Arial" pitchFamily="34" charset="-122"/>
                <a:cs typeface="Arial" pitchFamily="34" charset="-120"/>
              </a:rPr>
              <a:t>Signed logarithmic compression</a:t>
            </a:r>
            <a:endParaRPr lang="en-US" sz="2550" dirty="0"/>
          </a:p>
        </p:txBody>
      </p:sp>
      <p:sp>
        <p:nvSpPr>
          <p:cNvPr id="15" name="Shape 11"/>
          <p:cNvSpPr/>
          <p:nvPr/>
        </p:nvSpPr>
        <p:spPr>
          <a:xfrm>
            <a:off x="9650313" y="2790825"/>
            <a:ext cx="4590157" cy="666750"/>
          </a:xfrm>
          <a:prstGeom prst="rect">
            <a:avLst/>
          </a:prstGeom>
          <a:solidFill>
            <a:srgbClr val="F5F5F3"/>
          </a:solidFill>
          <a:ln/>
        </p:spPr>
      </p:sp>
      <p:sp>
        <p:nvSpPr>
          <p:cNvPr id="16" name="Text 12"/>
          <p:cNvSpPr/>
          <p:nvPr/>
        </p:nvSpPr>
        <p:spPr>
          <a:xfrm>
            <a:off x="9878913" y="2962275"/>
            <a:ext cx="4270662"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1414"/>
                </a:solidFill>
                <a:latin typeface="Courier New" pitchFamily="34" charset="0"/>
                <a:ea typeface="Courier New" pitchFamily="34" charset="-122"/>
                <a:cs typeface="Courier New" pitchFamily="34" charset="-120"/>
              </a:rPr>
              <a:t>sign(x) · log(1 + |x|)</a:t>
            </a:r>
            <a:endParaRPr lang="en-US" sz="1950" dirty="0"/>
          </a:p>
        </p:txBody>
      </p:sp>
      <p:sp>
        <p:nvSpPr>
          <p:cNvPr id="17" name="Text 13"/>
          <p:cNvSpPr/>
          <p:nvPr/>
        </p:nvSpPr>
        <p:spPr>
          <a:xfrm>
            <a:off x="9154864" y="3800475"/>
            <a:ext cx="304949" cy="419100"/>
          </a:xfrm>
          <a:prstGeom prst="rect">
            <a:avLst/>
          </a:prstGeom>
          <a:noFill/>
          <a:ln/>
        </p:spPr>
        <p:txBody>
          <a:bodyPr wrap="square" lIns="25400" tIns="25400" rIns="25400" bIns="25400" rtlCol="0" anchor="t">
            <a:normAutofit/>
          </a:bodyPr>
          <a:lstStyle/>
          <a:p>
            <a:pPr algn="l" indent="0" marL="0">
              <a:lnSpc>
                <a:spcPct val="88889"/>
              </a:lnSpc>
              <a:buNone/>
            </a:pPr>
            <a:r>
              <a:rPr lang="en-US" sz="3000" b="1" dirty="0">
                <a:solidFill>
                  <a:srgbClr val="0052B4"/>
                </a:solidFill>
                <a:latin typeface="Courier New" pitchFamily="34" charset="0"/>
                <a:ea typeface="Courier New" pitchFamily="34" charset="-122"/>
                <a:cs typeface="Courier New" pitchFamily="34" charset="-120"/>
              </a:rPr>
              <a:t>2</a:t>
            </a:r>
            <a:endParaRPr lang="en-US" sz="3000" dirty="0"/>
          </a:p>
        </p:txBody>
      </p:sp>
      <p:sp>
        <p:nvSpPr>
          <p:cNvPr id="18" name="Text 14"/>
          <p:cNvSpPr/>
          <p:nvPr/>
        </p:nvSpPr>
        <p:spPr>
          <a:xfrm>
            <a:off x="9650313" y="3800475"/>
            <a:ext cx="8411795"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41414"/>
                </a:solidFill>
                <a:latin typeface="Arial" pitchFamily="34" charset="0"/>
                <a:ea typeface="Arial" pitchFamily="34" charset="-122"/>
                <a:cs typeface="Arial" pitchFamily="34" charset="-120"/>
              </a:rPr>
              <a:t>Per-channel standardization</a:t>
            </a:r>
            <a:endParaRPr lang="en-US" sz="2550" dirty="0"/>
          </a:p>
        </p:txBody>
      </p:sp>
      <p:sp>
        <p:nvSpPr>
          <p:cNvPr id="19" name="Shape 15"/>
          <p:cNvSpPr/>
          <p:nvPr/>
        </p:nvSpPr>
        <p:spPr>
          <a:xfrm>
            <a:off x="9650313" y="4305300"/>
            <a:ext cx="7647087" cy="666750"/>
          </a:xfrm>
          <a:prstGeom prst="rect">
            <a:avLst/>
          </a:prstGeom>
          <a:solidFill>
            <a:srgbClr val="F5F5F3"/>
          </a:solidFill>
          <a:ln/>
        </p:spPr>
      </p:sp>
      <p:sp>
        <p:nvSpPr>
          <p:cNvPr id="20" name="Text 16"/>
          <p:cNvSpPr/>
          <p:nvPr/>
        </p:nvSpPr>
        <p:spPr>
          <a:xfrm>
            <a:off x="9878913" y="4476750"/>
            <a:ext cx="7419299" cy="361950"/>
          </a:xfrm>
          <a:prstGeom prst="rect">
            <a:avLst/>
          </a:prstGeom>
          <a:noFill/>
          <a:ln/>
        </p:spPr>
        <p:txBody>
          <a:bodyPr wrap="square" lIns="25400" tIns="25400" rIns="25400" bIns="25400" rtlCol="0" anchor="t">
            <a:normAutofit/>
          </a:bodyPr>
          <a:lstStyle/>
          <a:p>
            <a:pPr algn="l" indent="0" marL="0">
              <a:buNone/>
            </a:pPr>
            <a:r>
              <a:rPr lang="en-US" sz="1950" dirty="0">
                <a:solidFill>
                  <a:srgbClr val="141414"/>
                </a:solidFill>
                <a:latin typeface="Courier New" pitchFamily="34" charset="0"/>
                <a:ea typeface="Courier New" pitchFamily="34" charset="-122"/>
                <a:cs typeface="Courier New" pitchFamily="34" charset="-120"/>
              </a:rPr>
              <a:t>(compress(f) − FREQ_MEAN) / FREQ_STD</a:t>
            </a:r>
            <a:endParaRPr lang="en-US" sz="1950" dirty="0"/>
          </a:p>
        </p:txBody>
      </p:sp>
      <p:sp>
        <p:nvSpPr>
          <p:cNvPr id="21" name="Text 17"/>
          <p:cNvSpPr/>
          <p:nvPr/>
        </p:nvSpPr>
        <p:spPr>
          <a:xfrm>
            <a:off x="9650313" y="5105400"/>
            <a:ext cx="7876499"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A5A5A"/>
                </a:solidFill>
                <a:latin typeface="Arial" pitchFamily="34" charset="0"/>
                <a:ea typeface="Arial" pitchFamily="34" charset="-122"/>
                <a:cs typeface="Arial" pitchFamily="34" charset="-120"/>
              </a:rPr>
              <a:t>Statistics of shape [6,1,1] estimated over 30 batches (≈960 images) and persisted for reproducible sampling.</a:t>
            </a:r>
            <a:endParaRPr lang="en-US" sz="1800" dirty="0"/>
          </a:p>
        </p:txBody>
      </p:sp>
      <p:sp>
        <p:nvSpPr>
          <p:cNvPr id="22" name="Text 18"/>
          <p:cNvSpPr/>
          <p:nvPr/>
        </p:nvSpPr>
        <p:spPr>
          <a:xfrm>
            <a:off x="9154864" y="6088261"/>
            <a:ext cx="8386812"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Every channel is then roughly zero-mean and unit-variance — the regime standard DDPM assumes — so low and high frequencies receive a comparable amount of noise at each timestep.</a:t>
            </a:r>
            <a:endParaRPr lang="en-US" sz="2550" dirty="0"/>
          </a:p>
        </p:txBody>
      </p:sp>
      <p:sp>
        <p:nvSpPr>
          <p:cNvPr id="23" name="Text 19"/>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6 / 15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Proposed Method — Network and Sampling</a:t>
            </a:r>
            <a:endParaRPr lang="en-US" sz="4800" dirty="0"/>
          </a:p>
        </p:txBody>
      </p:sp>
      <p:sp>
        <p:nvSpPr>
          <p:cNvPr id="3" name="Shape 1"/>
          <p:cNvSpPr/>
          <p:nvPr/>
        </p:nvSpPr>
        <p:spPr>
          <a:xfrm>
            <a:off x="990600" y="1885950"/>
            <a:ext cx="16306800" cy="19050"/>
          </a:xfrm>
          <a:prstGeom prst="rect">
            <a:avLst/>
          </a:prstGeom>
          <a:solidFill>
            <a:srgbClr val="DCDCDC"/>
          </a:solidFill>
          <a:ln/>
        </p:spPr>
      </p:sp>
      <p:sp>
        <p:nvSpPr>
          <p:cNvPr id="4" name="Text 2"/>
          <p:cNvSpPr/>
          <p:nvPr/>
        </p:nvSpPr>
        <p:spPr>
          <a:xfrm>
            <a:off x="990600" y="2286000"/>
            <a:ext cx="1030986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UNet ε_θ(x_t, t) — 11.4 M parameters</a:t>
            </a:r>
            <a:endParaRPr lang="en-US" sz="1800" dirty="0"/>
          </a:p>
        </p:txBody>
      </p:sp>
      <p:sp>
        <p:nvSpPr>
          <p:cNvPr id="5" name="Shape 3"/>
          <p:cNvSpPr/>
          <p:nvPr/>
        </p:nvSpPr>
        <p:spPr>
          <a:xfrm>
            <a:off x="1771650" y="2781300"/>
            <a:ext cx="1466850" cy="552450"/>
          </a:xfrm>
          <a:prstGeom prst="rect">
            <a:avLst/>
          </a:prstGeom>
          <a:solidFill>
            <a:srgbClr val="FFFFFF"/>
          </a:solidFill>
          <a:ln w="19050">
            <a:solidFill>
              <a:srgbClr val="141414"/>
            </a:solidFill>
            <a:prstDash val="solid"/>
          </a:ln>
        </p:spPr>
      </p:sp>
      <p:sp>
        <p:nvSpPr>
          <p:cNvPr id="6" name="Text 4"/>
          <p:cNvSpPr/>
          <p:nvPr/>
        </p:nvSpPr>
        <p:spPr>
          <a:xfrm>
            <a:off x="1752600" y="28003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C_in</a:t>
            </a:r>
            <a:endParaRPr lang="en-US" sz="1800" dirty="0"/>
          </a:p>
        </p:txBody>
      </p:sp>
      <p:sp>
        <p:nvSpPr>
          <p:cNvPr id="7" name="Text 5"/>
          <p:cNvSpPr/>
          <p:nvPr/>
        </p:nvSpPr>
        <p:spPr>
          <a:xfrm>
            <a:off x="4558159" y="2905125"/>
            <a:ext cx="332038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encoder ▼ ▲ decoder</a:t>
            </a:r>
            <a:endParaRPr lang="en-US" sz="1800" dirty="0"/>
          </a:p>
        </p:txBody>
      </p:sp>
      <p:sp>
        <p:nvSpPr>
          <p:cNvPr id="8" name="Shape 6"/>
          <p:cNvSpPr/>
          <p:nvPr/>
        </p:nvSpPr>
        <p:spPr>
          <a:xfrm>
            <a:off x="8896350" y="2781300"/>
            <a:ext cx="1466850" cy="552450"/>
          </a:xfrm>
          <a:prstGeom prst="rect">
            <a:avLst/>
          </a:prstGeom>
          <a:solidFill>
            <a:srgbClr val="FFFFFF"/>
          </a:solidFill>
          <a:ln w="19050">
            <a:solidFill>
              <a:srgbClr val="141414"/>
            </a:solidFill>
            <a:prstDash val="solid"/>
          </a:ln>
        </p:spPr>
      </p:sp>
      <p:sp>
        <p:nvSpPr>
          <p:cNvPr id="9" name="Text 7"/>
          <p:cNvSpPr/>
          <p:nvPr/>
        </p:nvSpPr>
        <p:spPr>
          <a:xfrm>
            <a:off x="8877300" y="28003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C_out</a:t>
            </a:r>
            <a:endParaRPr lang="en-US" sz="1800" dirty="0"/>
          </a:p>
        </p:txBody>
      </p:sp>
      <p:sp>
        <p:nvSpPr>
          <p:cNvPr id="10" name="Text 8"/>
          <p:cNvSpPr/>
          <p:nvPr/>
        </p:nvSpPr>
        <p:spPr>
          <a:xfrm>
            <a:off x="914400" y="3590925"/>
            <a:ext cx="7048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A5A5A"/>
                </a:solidFill>
                <a:latin typeface="Courier New" pitchFamily="34" charset="0"/>
                <a:ea typeface="Courier New" pitchFamily="34" charset="-122"/>
                <a:cs typeface="Courier New" pitchFamily="34" charset="-120"/>
              </a:rPr>
              <a:t>128²</a:t>
            </a:r>
            <a:endParaRPr lang="en-US" sz="1800" dirty="0"/>
          </a:p>
        </p:txBody>
      </p:sp>
      <p:sp>
        <p:nvSpPr>
          <p:cNvPr id="11" name="Shape 9"/>
          <p:cNvSpPr/>
          <p:nvPr/>
        </p:nvSpPr>
        <p:spPr>
          <a:xfrm>
            <a:off x="1771650" y="3467100"/>
            <a:ext cx="1466850" cy="552450"/>
          </a:xfrm>
          <a:prstGeom prst="rect">
            <a:avLst/>
          </a:prstGeom>
          <a:solidFill>
            <a:srgbClr val="0053B1">
              <a:alpha val="18000"/>
            </a:srgbClr>
          </a:solidFill>
          <a:ln w="19050">
            <a:solidFill>
              <a:srgbClr val="0052B4"/>
            </a:solidFill>
            <a:prstDash val="solid"/>
          </a:ln>
        </p:spPr>
      </p:sp>
      <p:sp>
        <p:nvSpPr>
          <p:cNvPr id="12" name="Text 10"/>
          <p:cNvSpPr/>
          <p:nvPr/>
        </p:nvSpPr>
        <p:spPr>
          <a:xfrm>
            <a:off x="1752600" y="34861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64</a:t>
            </a:r>
            <a:endParaRPr lang="en-US" sz="1800" dirty="0"/>
          </a:p>
        </p:txBody>
      </p:sp>
      <p:sp>
        <p:nvSpPr>
          <p:cNvPr id="13" name="Shape 11"/>
          <p:cNvSpPr/>
          <p:nvPr/>
        </p:nvSpPr>
        <p:spPr>
          <a:xfrm>
            <a:off x="3371850" y="3733800"/>
            <a:ext cx="2306389" cy="19050"/>
          </a:xfrm>
          <a:prstGeom prst="rect">
            <a:avLst/>
          </a:prstGeom>
          <a:solidFill>
            <a:srgbClr val="C84F00"/>
          </a:solidFill>
          <a:ln/>
        </p:spPr>
      </p:sp>
      <p:sp>
        <p:nvSpPr>
          <p:cNvPr id="14" name="Text 12"/>
          <p:cNvSpPr/>
          <p:nvPr/>
        </p:nvSpPr>
        <p:spPr>
          <a:xfrm>
            <a:off x="5773489" y="3590925"/>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84F00"/>
                </a:solidFill>
                <a:latin typeface="Courier New" pitchFamily="34" charset="0"/>
                <a:ea typeface="Courier New" pitchFamily="34" charset="-122"/>
                <a:cs typeface="Courier New" pitchFamily="34" charset="-120"/>
              </a:rPr>
              <a:t>S1</a:t>
            </a:r>
            <a:endParaRPr lang="en-US" sz="1800" dirty="0"/>
          </a:p>
        </p:txBody>
      </p:sp>
      <p:sp>
        <p:nvSpPr>
          <p:cNvPr id="15" name="Text 13"/>
          <p:cNvSpPr/>
          <p:nvPr/>
        </p:nvSpPr>
        <p:spPr>
          <a:xfrm>
            <a:off x="6143179" y="3619500"/>
            <a:ext cx="294233"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dirty="0">
                <a:solidFill>
                  <a:srgbClr val="C84F00"/>
                </a:solidFill>
                <a:latin typeface="Arial" pitchFamily="34" charset="0"/>
                <a:ea typeface="Arial" pitchFamily="34" charset="-122"/>
                <a:cs typeface="Arial" pitchFamily="34" charset="-120"/>
              </a:rPr>
              <a:t>▶</a:t>
            </a:r>
            <a:endParaRPr lang="en-US" sz="1950" dirty="0"/>
          </a:p>
        </p:txBody>
      </p:sp>
      <p:sp>
        <p:nvSpPr>
          <p:cNvPr id="16" name="Shape 14"/>
          <p:cNvSpPr/>
          <p:nvPr/>
        </p:nvSpPr>
        <p:spPr>
          <a:xfrm>
            <a:off x="6456462" y="3733800"/>
            <a:ext cx="2306538" cy="19050"/>
          </a:xfrm>
          <a:prstGeom prst="rect">
            <a:avLst/>
          </a:prstGeom>
          <a:solidFill>
            <a:srgbClr val="C84F00"/>
          </a:solidFill>
          <a:ln/>
        </p:spPr>
      </p:sp>
      <p:sp>
        <p:nvSpPr>
          <p:cNvPr id="17" name="Shape 15"/>
          <p:cNvSpPr/>
          <p:nvPr/>
        </p:nvSpPr>
        <p:spPr>
          <a:xfrm>
            <a:off x="8896350" y="3467100"/>
            <a:ext cx="1466850" cy="552450"/>
          </a:xfrm>
          <a:prstGeom prst="rect">
            <a:avLst/>
          </a:prstGeom>
          <a:solidFill>
            <a:srgbClr val="0053B1">
              <a:alpha val="18000"/>
            </a:srgbClr>
          </a:solidFill>
          <a:ln w="19050">
            <a:solidFill>
              <a:srgbClr val="0052B4"/>
            </a:solidFill>
            <a:prstDash val="solid"/>
          </a:ln>
        </p:spPr>
      </p:sp>
      <p:sp>
        <p:nvSpPr>
          <p:cNvPr id="18" name="Text 16"/>
          <p:cNvSpPr/>
          <p:nvPr/>
        </p:nvSpPr>
        <p:spPr>
          <a:xfrm>
            <a:off x="8877300" y="34861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64</a:t>
            </a:r>
            <a:endParaRPr lang="en-US" sz="1800" dirty="0"/>
          </a:p>
        </p:txBody>
      </p:sp>
      <p:sp>
        <p:nvSpPr>
          <p:cNvPr id="19" name="Text 17"/>
          <p:cNvSpPr/>
          <p:nvPr/>
        </p:nvSpPr>
        <p:spPr>
          <a:xfrm>
            <a:off x="914400" y="4276725"/>
            <a:ext cx="7048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A5A5A"/>
                </a:solidFill>
                <a:latin typeface="Courier New" pitchFamily="34" charset="0"/>
                <a:ea typeface="Courier New" pitchFamily="34" charset="-122"/>
                <a:cs typeface="Courier New" pitchFamily="34" charset="-120"/>
              </a:rPr>
              <a:t>64²</a:t>
            </a:r>
            <a:endParaRPr lang="en-US" sz="1800" dirty="0"/>
          </a:p>
        </p:txBody>
      </p:sp>
      <p:sp>
        <p:nvSpPr>
          <p:cNvPr id="20" name="Shape 18"/>
          <p:cNvSpPr/>
          <p:nvPr/>
        </p:nvSpPr>
        <p:spPr>
          <a:xfrm>
            <a:off x="2209800" y="4152900"/>
            <a:ext cx="1466850" cy="552450"/>
          </a:xfrm>
          <a:prstGeom prst="rect">
            <a:avLst/>
          </a:prstGeom>
          <a:solidFill>
            <a:srgbClr val="0053B3">
              <a:alpha val="30000"/>
            </a:srgbClr>
          </a:solidFill>
          <a:ln w="19050">
            <a:solidFill>
              <a:srgbClr val="0052B4"/>
            </a:solidFill>
            <a:prstDash val="solid"/>
          </a:ln>
        </p:spPr>
      </p:sp>
      <p:sp>
        <p:nvSpPr>
          <p:cNvPr id="21" name="Text 19"/>
          <p:cNvSpPr/>
          <p:nvPr/>
        </p:nvSpPr>
        <p:spPr>
          <a:xfrm>
            <a:off x="2190750" y="41719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64</a:t>
            </a:r>
            <a:endParaRPr lang="en-US" sz="1800" dirty="0"/>
          </a:p>
        </p:txBody>
      </p:sp>
      <p:sp>
        <p:nvSpPr>
          <p:cNvPr id="22" name="Shape 20"/>
          <p:cNvSpPr/>
          <p:nvPr/>
        </p:nvSpPr>
        <p:spPr>
          <a:xfrm>
            <a:off x="3810000" y="4419600"/>
            <a:ext cx="1868239" cy="19050"/>
          </a:xfrm>
          <a:prstGeom prst="rect">
            <a:avLst/>
          </a:prstGeom>
          <a:solidFill>
            <a:srgbClr val="C84F00"/>
          </a:solidFill>
          <a:ln/>
        </p:spPr>
      </p:sp>
      <p:sp>
        <p:nvSpPr>
          <p:cNvPr id="23" name="Text 21"/>
          <p:cNvSpPr/>
          <p:nvPr/>
        </p:nvSpPr>
        <p:spPr>
          <a:xfrm>
            <a:off x="5773489" y="4276725"/>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84F00"/>
                </a:solidFill>
                <a:latin typeface="Courier New" pitchFamily="34" charset="0"/>
                <a:ea typeface="Courier New" pitchFamily="34" charset="-122"/>
                <a:cs typeface="Courier New" pitchFamily="34" charset="-120"/>
              </a:rPr>
              <a:t>S2</a:t>
            </a:r>
            <a:endParaRPr lang="en-US" sz="1800" dirty="0"/>
          </a:p>
        </p:txBody>
      </p:sp>
      <p:sp>
        <p:nvSpPr>
          <p:cNvPr id="24" name="Text 22"/>
          <p:cNvSpPr/>
          <p:nvPr/>
        </p:nvSpPr>
        <p:spPr>
          <a:xfrm>
            <a:off x="6143179" y="4305300"/>
            <a:ext cx="294233"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dirty="0">
                <a:solidFill>
                  <a:srgbClr val="C84F00"/>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6456462" y="4419600"/>
            <a:ext cx="1868388" cy="19050"/>
          </a:xfrm>
          <a:prstGeom prst="rect">
            <a:avLst/>
          </a:prstGeom>
          <a:solidFill>
            <a:srgbClr val="C84F00"/>
          </a:solidFill>
          <a:ln/>
        </p:spPr>
      </p:sp>
      <p:sp>
        <p:nvSpPr>
          <p:cNvPr id="26" name="Shape 24"/>
          <p:cNvSpPr/>
          <p:nvPr/>
        </p:nvSpPr>
        <p:spPr>
          <a:xfrm>
            <a:off x="8458200" y="4152900"/>
            <a:ext cx="1466850" cy="552450"/>
          </a:xfrm>
          <a:prstGeom prst="rect">
            <a:avLst/>
          </a:prstGeom>
          <a:solidFill>
            <a:srgbClr val="0053B3">
              <a:alpha val="30000"/>
            </a:srgbClr>
          </a:solidFill>
          <a:ln w="19050">
            <a:solidFill>
              <a:srgbClr val="0052B4"/>
            </a:solidFill>
            <a:prstDash val="solid"/>
          </a:ln>
        </p:spPr>
      </p:sp>
      <p:sp>
        <p:nvSpPr>
          <p:cNvPr id="27" name="Text 25"/>
          <p:cNvSpPr/>
          <p:nvPr/>
        </p:nvSpPr>
        <p:spPr>
          <a:xfrm>
            <a:off x="8439150" y="41719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64</a:t>
            </a:r>
            <a:endParaRPr lang="en-US" sz="1800" dirty="0"/>
          </a:p>
        </p:txBody>
      </p:sp>
      <p:sp>
        <p:nvSpPr>
          <p:cNvPr id="28" name="Text 26"/>
          <p:cNvSpPr/>
          <p:nvPr/>
        </p:nvSpPr>
        <p:spPr>
          <a:xfrm>
            <a:off x="914400" y="4962525"/>
            <a:ext cx="7048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A5A5A"/>
                </a:solidFill>
                <a:latin typeface="Courier New" pitchFamily="34" charset="0"/>
                <a:ea typeface="Courier New" pitchFamily="34" charset="-122"/>
                <a:cs typeface="Courier New" pitchFamily="34" charset="-120"/>
              </a:rPr>
              <a:t>32²</a:t>
            </a:r>
            <a:endParaRPr lang="en-US" sz="1800" dirty="0"/>
          </a:p>
        </p:txBody>
      </p:sp>
      <p:sp>
        <p:nvSpPr>
          <p:cNvPr id="29" name="Shape 27"/>
          <p:cNvSpPr/>
          <p:nvPr/>
        </p:nvSpPr>
        <p:spPr>
          <a:xfrm>
            <a:off x="2647950" y="4838700"/>
            <a:ext cx="1466850" cy="552450"/>
          </a:xfrm>
          <a:prstGeom prst="rect">
            <a:avLst/>
          </a:prstGeom>
          <a:solidFill>
            <a:srgbClr val="0052B4">
              <a:alpha val="44000"/>
            </a:srgbClr>
          </a:solidFill>
          <a:ln w="19050">
            <a:solidFill>
              <a:srgbClr val="0052B4"/>
            </a:solidFill>
            <a:prstDash val="solid"/>
          </a:ln>
        </p:spPr>
      </p:sp>
      <p:sp>
        <p:nvSpPr>
          <p:cNvPr id="30" name="Text 28"/>
          <p:cNvSpPr/>
          <p:nvPr/>
        </p:nvSpPr>
        <p:spPr>
          <a:xfrm>
            <a:off x="2628900" y="48577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128</a:t>
            </a:r>
            <a:endParaRPr lang="en-US" sz="1800" dirty="0"/>
          </a:p>
        </p:txBody>
      </p:sp>
      <p:sp>
        <p:nvSpPr>
          <p:cNvPr id="31" name="Shape 29"/>
          <p:cNvSpPr/>
          <p:nvPr/>
        </p:nvSpPr>
        <p:spPr>
          <a:xfrm>
            <a:off x="4248150" y="5105400"/>
            <a:ext cx="1430089" cy="19050"/>
          </a:xfrm>
          <a:prstGeom prst="rect">
            <a:avLst/>
          </a:prstGeom>
          <a:solidFill>
            <a:srgbClr val="C84F00"/>
          </a:solidFill>
          <a:ln/>
        </p:spPr>
      </p:sp>
      <p:sp>
        <p:nvSpPr>
          <p:cNvPr id="32" name="Text 30"/>
          <p:cNvSpPr/>
          <p:nvPr/>
        </p:nvSpPr>
        <p:spPr>
          <a:xfrm>
            <a:off x="5773489" y="4962525"/>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84F00"/>
                </a:solidFill>
                <a:latin typeface="Courier New" pitchFamily="34" charset="0"/>
                <a:ea typeface="Courier New" pitchFamily="34" charset="-122"/>
                <a:cs typeface="Courier New" pitchFamily="34" charset="-120"/>
              </a:rPr>
              <a:t>S3</a:t>
            </a:r>
            <a:endParaRPr lang="en-US" sz="1800" dirty="0"/>
          </a:p>
        </p:txBody>
      </p:sp>
      <p:sp>
        <p:nvSpPr>
          <p:cNvPr id="33" name="Text 31"/>
          <p:cNvSpPr/>
          <p:nvPr/>
        </p:nvSpPr>
        <p:spPr>
          <a:xfrm>
            <a:off x="6143179" y="4991100"/>
            <a:ext cx="294233"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dirty="0">
                <a:solidFill>
                  <a:srgbClr val="C84F00"/>
                </a:solidFill>
                <a:latin typeface="Arial" pitchFamily="34" charset="0"/>
                <a:ea typeface="Arial" pitchFamily="34" charset="-122"/>
                <a:cs typeface="Arial" pitchFamily="34" charset="-120"/>
              </a:rPr>
              <a:t>▶</a:t>
            </a:r>
            <a:endParaRPr lang="en-US" sz="1950" dirty="0"/>
          </a:p>
        </p:txBody>
      </p:sp>
      <p:sp>
        <p:nvSpPr>
          <p:cNvPr id="34" name="Shape 32"/>
          <p:cNvSpPr/>
          <p:nvPr/>
        </p:nvSpPr>
        <p:spPr>
          <a:xfrm>
            <a:off x="6456462" y="5105400"/>
            <a:ext cx="1430238" cy="19050"/>
          </a:xfrm>
          <a:prstGeom prst="rect">
            <a:avLst/>
          </a:prstGeom>
          <a:solidFill>
            <a:srgbClr val="C84F00"/>
          </a:solidFill>
          <a:ln/>
        </p:spPr>
      </p:sp>
      <p:sp>
        <p:nvSpPr>
          <p:cNvPr id="35" name="Shape 33"/>
          <p:cNvSpPr/>
          <p:nvPr/>
        </p:nvSpPr>
        <p:spPr>
          <a:xfrm>
            <a:off x="8020050" y="4838700"/>
            <a:ext cx="1466850" cy="552450"/>
          </a:xfrm>
          <a:prstGeom prst="rect">
            <a:avLst/>
          </a:prstGeom>
          <a:solidFill>
            <a:srgbClr val="0052B4">
              <a:alpha val="44000"/>
            </a:srgbClr>
          </a:solidFill>
          <a:ln w="19050">
            <a:solidFill>
              <a:srgbClr val="0052B4"/>
            </a:solidFill>
            <a:prstDash val="solid"/>
          </a:ln>
        </p:spPr>
      </p:sp>
      <p:sp>
        <p:nvSpPr>
          <p:cNvPr id="36" name="Text 34"/>
          <p:cNvSpPr/>
          <p:nvPr/>
        </p:nvSpPr>
        <p:spPr>
          <a:xfrm>
            <a:off x="8001000" y="48577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128</a:t>
            </a:r>
            <a:endParaRPr lang="en-US" sz="1800" dirty="0"/>
          </a:p>
        </p:txBody>
      </p:sp>
      <p:sp>
        <p:nvSpPr>
          <p:cNvPr id="37" name="Text 35"/>
          <p:cNvSpPr/>
          <p:nvPr/>
        </p:nvSpPr>
        <p:spPr>
          <a:xfrm>
            <a:off x="914400" y="5648325"/>
            <a:ext cx="7048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A5A5A"/>
                </a:solidFill>
                <a:latin typeface="Courier New" pitchFamily="34" charset="0"/>
                <a:ea typeface="Courier New" pitchFamily="34" charset="-122"/>
                <a:cs typeface="Courier New" pitchFamily="34" charset="-120"/>
              </a:rPr>
              <a:t>16²</a:t>
            </a:r>
            <a:endParaRPr lang="en-US" sz="1800" dirty="0"/>
          </a:p>
        </p:txBody>
      </p:sp>
      <p:sp>
        <p:nvSpPr>
          <p:cNvPr id="38" name="Shape 36"/>
          <p:cNvSpPr/>
          <p:nvPr/>
        </p:nvSpPr>
        <p:spPr>
          <a:xfrm>
            <a:off x="3086100" y="5524500"/>
            <a:ext cx="1466850" cy="552450"/>
          </a:xfrm>
          <a:prstGeom prst="rect">
            <a:avLst/>
          </a:prstGeom>
          <a:solidFill>
            <a:srgbClr val="0053B3">
              <a:alpha val="58000"/>
            </a:srgbClr>
          </a:solidFill>
          <a:ln w="19050">
            <a:solidFill>
              <a:srgbClr val="0052B4"/>
            </a:solidFill>
            <a:prstDash val="solid"/>
          </a:ln>
        </p:spPr>
      </p:sp>
      <p:sp>
        <p:nvSpPr>
          <p:cNvPr id="39" name="Text 37"/>
          <p:cNvSpPr/>
          <p:nvPr/>
        </p:nvSpPr>
        <p:spPr>
          <a:xfrm>
            <a:off x="3067050" y="55435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128</a:t>
            </a:r>
            <a:endParaRPr lang="en-US" sz="1800" dirty="0"/>
          </a:p>
        </p:txBody>
      </p:sp>
      <p:sp>
        <p:nvSpPr>
          <p:cNvPr id="40" name="Shape 38"/>
          <p:cNvSpPr/>
          <p:nvPr/>
        </p:nvSpPr>
        <p:spPr>
          <a:xfrm>
            <a:off x="4686300" y="5791200"/>
            <a:ext cx="991939" cy="19050"/>
          </a:xfrm>
          <a:prstGeom prst="rect">
            <a:avLst/>
          </a:prstGeom>
          <a:solidFill>
            <a:srgbClr val="C84F00"/>
          </a:solidFill>
          <a:ln/>
        </p:spPr>
      </p:sp>
      <p:sp>
        <p:nvSpPr>
          <p:cNvPr id="41" name="Text 39"/>
          <p:cNvSpPr/>
          <p:nvPr/>
        </p:nvSpPr>
        <p:spPr>
          <a:xfrm>
            <a:off x="5773489" y="5648325"/>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84F00"/>
                </a:solidFill>
                <a:latin typeface="Courier New" pitchFamily="34" charset="0"/>
                <a:ea typeface="Courier New" pitchFamily="34" charset="-122"/>
                <a:cs typeface="Courier New" pitchFamily="34" charset="-120"/>
              </a:rPr>
              <a:t>S4</a:t>
            </a:r>
            <a:endParaRPr lang="en-US" sz="1800" dirty="0"/>
          </a:p>
        </p:txBody>
      </p:sp>
      <p:sp>
        <p:nvSpPr>
          <p:cNvPr id="42" name="Text 40"/>
          <p:cNvSpPr/>
          <p:nvPr/>
        </p:nvSpPr>
        <p:spPr>
          <a:xfrm>
            <a:off x="6143179" y="5676900"/>
            <a:ext cx="294233"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dirty="0">
                <a:solidFill>
                  <a:srgbClr val="C84F00"/>
                </a:solidFill>
                <a:latin typeface="Arial" pitchFamily="34" charset="0"/>
                <a:ea typeface="Arial" pitchFamily="34" charset="-122"/>
                <a:cs typeface="Arial" pitchFamily="34" charset="-120"/>
              </a:rPr>
              <a:t>▶</a:t>
            </a:r>
            <a:endParaRPr lang="en-US" sz="1950" dirty="0"/>
          </a:p>
        </p:txBody>
      </p:sp>
      <p:sp>
        <p:nvSpPr>
          <p:cNvPr id="43" name="Shape 41"/>
          <p:cNvSpPr/>
          <p:nvPr/>
        </p:nvSpPr>
        <p:spPr>
          <a:xfrm>
            <a:off x="6456462" y="5791200"/>
            <a:ext cx="992088" cy="19050"/>
          </a:xfrm>
          <a:prstGeom prst="rect">
            <a:avLst/>
          </a:prstGeom>
          <a:solidFill>
            <a:srgbClr val="C84F00"/>
          </a:solidFill>
          <a:ln/>
        </p:spPr>
      </p:sp>
      <p:sp>
        <p:nvSpPr>
          <p:cNvPr id="44" name="Shape 42"/>
          <p:cNvSpPr/>
          <p:nvPr/>
        </p:nvSpPr>
        <p:spPr>
          <a:xfrm>
            <a:off x="7581900" y="5524500"/>
            <a:ext cx="1466850" cy="552450"/>
          </a:xfrm>
          <a:prstGeom prst="rect">
            <a:avLst/>
          </a:prstGeom>
          <a:solidFill>
            <a:srgbClr val="0053B3">
              <a:alpha val="58000"/>
            </a:srgbClr>
          </a:solidFill>
          <a:ln w="19050">
            <a:solidFill>
              <a:srgbClr val="0052B4"/>
            </a:solidFill>
            <a:prstDash val="solid"/>
          </a:ln>
        </p:spPr>
      </p:sp>
      <p:sp>
        <p:nvSpPr>
          <p:cNvPr id="45" name="Text 43"/>
          <p:cNvSpPr/>
          <p:nvPr/>
        </p:nvSpPr>
        <p:spPr>
          <a:xfrm>
            <a:off x="7562850" y="5543550"/>
            <a:ext cx="1504950" cy="552450"/>
          </a:xfrm>
          <a:prstGeom prst="rect">
            <a:avLst/>
          </a:prstGeom>
          <a:noFill/>
          <a:ln/>
        </p:spPr>
        <p:txBody>
          <a:bodyPr wrap="square" lIns="25400" tIns="25400" rIns="25400" bIns="25400" rtlCol="0" anchor="ctr">
            <a:normAutofit/>
          </a:bodyPr>
          <a:lstStyle/>
          <a:p>
            <a:pPr algn="ctr" indent="0" marL="0">
              <a:buNone/>
            </a:pPr>
            <a:r>
              <a:rPr lang="en-US" sz="1800" dirty="0">
                <a:solidFill>
                  <a:srgbClr val="141414"/>
                </a:solidFill>
                <a:latin typeface="Courier New" pitchFamily="34" charset="0"/>
                <a:ea typeface="Courier New" pitchFamily="34" charset="-122"/>
                <a:cs typeface="Courier New" pitchFamily="34" charset="-120"/>
              </a:rPr>
              <a:t>128</a:t>
            </a:r>
            <a:endParaRPr lang="en-US" sz="1800" dirty="0"/>
          </a:p>
        </p:txBody>
      </p:sp>
      <p:sp>
        <p:nvSpPr>
          <p:cNvPr id="46" name="Text 44"/>
          <p:cNvSpPr/>
          <p:nvPr/>
        </p:nvSpPr>
        <p:spPr>
          <a:xfrm>
            <a:off x="914400" y="6334125"/>
            <a:ext cx="350639" cy="342900"/>
          </a:xfrm>
          <a:prstGeom prst="rect">
            <a:avLst/>
          </a:prstGeom>
          <a:noFill/>
          <a:ln/>
        </p:spPr>
        <p:txBody>
          <a:bodyPr wrap="square" lIns="25400" tIns="25400" rIns="25400" bIns="25400" rtlCol="0" anchor="t">
            <a:normAutofit/>
          </a:bodyPr>
          <a:lstStyle/>
          <a:p>
            <a:pPr algn="r" indent="0" marL="0">
              <a:buNone/>
            </a:pPr>
            <a:r>
              <a:rPr lang="en-US" sz="1800" dirty="0">
                <a:solidFill>
                  <a:srgbClr val="5A5A5A"/>
                </a:solidFill>
                <a:latin typeface="Courier New" pitchFamily="34" charset="0"/>
                <a:ea typeface="Courier New" pitchFamily="34" charset="-122"/>
                <a:cs typeface="Courier New" pitchFamily="34" charset="-120"/>
              </a:rPr>
              <a:t>8²</a:t>
            </a:r>
            <a:endParaRPr lang="en-US" sz="1800" dirty="0"/>
          </a:p>
        </p:txBody>
      </p:sp>
      <p:sp>
        <p:nvSpPr>
          <p:cNvPr id="47" name="Shape 45"/>
          <p:cNvSpPr/>
          <p:nvPr/>
        </p:nvSpPr>
        <p:spPr>
          <a:xfrm>
            <a:off x="3170039" y="6210300"/>
            <a:ext cx="5662613" cy="552450"/>
          </a:xfrm>
          <a:prstGeom prst="rect">
            <a:avLst/>
          </a:prstGeom>
          <a:solidFill>
            <a:srgbClr val="0052B4"/>
          </a:solidFill>
          <a:ln w="19050">
            <a:solidFill>
              <a:srgbClr val="0052B4"/>
            </a:solidFill>
            <a:prstDash val="solid"/>
          </a:ln>
        </p:spPr>
      </p:sp>
      <p:sp>
        <p:nvSpPr>
          <p:cNvPr id="48" name="Text 46"/>
          <p:cNvSpPr/>
          <p:nvPr/>
        </p:nvSpPr>
        <p:spPr>
          <a:xfrm>
            <a:off x="3104150" y="6229350"/>
            <a:ext cx="5794391" cy="552450"/>
          </a:xfrm>
          <a:prstGeom prst="rect">
            <a:avLst/>
          </a:prstGeom>
          <a:noFill/>
          <a:ln/>
        </p:spPr>
        <p:txBody>
          <a:bodyPr wrap="none" lIns="25400" tIns="25400" rIns="25400" bIns="25400" rtlCol="0" anchor="ctr">
            <a:normAutofit/>
          </a:bodyPr>
          <a:lstStyle/>
          <a:p>
            <a:pPr algn="ctr" indent="0" marL="0">
              <a:buNone/>
            </a:pPr>
            <a:r>
              <a:rPr lang="en-US" sz="1800" dirty="0">
                <a:solidFill>
                  <a:srgbClr val="FFFFFF"/>
                </a:solidFill>
                <a:latin typeface="Courier New" pitchFamily="34" charset="0"/>
                <a:ea typeface="Courier New" pitchFamily="34" charset="-122"/>
                <a:cs typeface="Courier New" pitchFamily="34" charset="-120"/>
              </a:rPr>
              <a:t>ResBlock → SelfAttention → ResBlock · 256</a:t>
            </a:r>
            <a:endParaRPr lang="en-US" sz="1800" dirty="0"/>
          </a:p>
        </p:txBody>
      </p:sp>
      <p:sp>
        <p:nvSpPr>
          <p:cNvPr id="49" name="Text 47"/>
          <p:cNvSpPr/>
          <p:nvPr/>
        </p:nvSpPr>
        <p:spPr>
          <a:xfrm>
            <a:off x="1771650" y="6953250"/>
            <a:ext cx="27158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ResBlock + Down ×4</a:t>
            </a:r>
            <a:endParaRPr lang="en-US" sz="1800" dirty="0"/>
          </a:p>
        </p:txBody>
      </p:sp>
      <p:sp>
        <p:nvSpPr>
          <p:cNvPr id="50" name="Text 48"/>
          <p:cNvSpPr/>
          <p:nvPr/>
        </p:nvSpPr>
        <p:spPr>
          <a:xfrm>
            <a:off x="6659761" y="6953250"/>
            <a:ext cx="407378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Up + cat skip + ResBlock ×4</a:t>
            </a:r>
            <a:endParaRPr lang="en-US" sz="1800" dirty="0"/>
          </a:p>
        </p:txBody>
      </p:sp>
      <p:sp>
        <p:nvSpPr>
          <p:cNvPr id="51" name="Text 49"/>
          <p:cNvSpPr/>
          <p:nvPr/>
        </p:nvSpPr>
        <p:spPr>
          <a:xfrm>
            <a:off x="990600" y="7448550"/>
            <a:ext cx="9653778" cy="136386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5A5A5A"/>
                </a:solidFill>
                <a:latin typeface="Arial" pitchFamily="34" charset="0"/>
                <a:ea typeface="Arial" pitchFamily="34" charset="-122"/>
                <a:cs typeface="Arial" pitchFamily="34" charset="-120"/>
              </a:rPr>
              <a:t>Time conditioning is a sinusoidal embedding injected as a per-channel additive bias in every ResBlock; self-attention runs only at 8×8, where the attention matrix is 64×64. C_in = C_out is 3 for RGB and 6 for the frequency model — the only structural difference between the two.</a:t>
            </a:r>
            <a:endParaRPr lang="en-US" sz="1800" dirty="0"/>
          </a:p>
        </p:txBody>
      </p:sp>
      <p:sp>
        <p:nvSpPr>
          <p:cNvPr id="52" name="Text 50"/>
          <p:cNvSpPr/>
          <p:nvPr/>
        </p:nvSpPr>
        <p:spPr>
          <a:xfrm>
            <a:off x="11049000" y="2286000"/>
            <a:ext cx="687324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DDIM sampling, η = 0</a:t>
            </a:r>
            <a:endParaRPr lang="en-US" sz="1800" dirty="0"/>
          </a:p>
        </p:txBody>
      </p:sp>
      <p:sp>
        <p:nvSpPr>
          <p:cNvPr id="53" name="Text 51"/>
          <p:cNvSpPr/>
          <p:nvPr/>
        </p:nvSpPr>
        <p:spPr>
          <a:xfrm>
            <a:off x="11049000" y="2838450"/>
            <a:ext cx="2019702"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spc="-270" kern="0" dirty="0">
                <a:solidFill>
                  <a:srgbClr val="141414"/>
                </a:solidFill>
                <a:latin typeface="Arial" pitchFamily="34" charset="0"/>
                <a:ea typeface="Arial" pitchFamily="34" charset="-122"/>
                <a:cs typeface="Arial" pitchFamily="34" charset="-120"/>
              </a:rPr>
              <a:t>20×</a:t>
            </a:r>
            <a:endParaRPr lang="en-US" sz="9000" dirty="0"/>
          </a:p>
        </p:txBody>
      </p:sp>
      <p:sp>
        <p:nvSpPr>
          <p:cNvPr id="54" name="Text 52"/>
          <p:cNvSpPr/>
          <p:nvPr/>
        </p:nvSpPr>
        <p:spPr>
          <a:xfrm>
            <a:off x="13075593" y="3524250"/>
            <a:ext cx="1553914" cy="632222"/>
          </a:xfrm>
          <a:prstGeom prst="rect">
            <a:avLst/>
          </a:prstGeom>
          <a:noFill/>
          <a:ln/>
        </p:spPr>
        <p:txBody>
          <a:bodyPr wrap="square" lIns="25400" tIns="25400" rIns="25400" bIns="25400" rtlCol="0" anchor="t">
            <a:normAutofit/>
          </a:bodyPr>
          <a:lstStyle/>
          <a:p>
            <a:pPr algn="l" indent="0" marL="0">
              <a:lnSpc>
                <a:spcPct val="111429"/>
              </a:lnSpc>
              <a:buNone/>
            </a:pPr>
            <a:r>
              <a:rPr lang="en-US" sz="1800" dirty="0">
                <a:solidFill>
                  <a:srgbClr val="5A5A5A"/>
                </a:solidFill>
                <a:latin typeface="Arial" pitchFamily="34" charset="0"/>
                <a:ea typeface="Arial" pitchFamily="34" charset="-122"/>
                <a:cs typeface="Arial" pitchFamily="34" charset="-120"/>
              </a:rPr>
              <a:t>fewer network evaluations</a:t>
            </a:r>
            <a:endParaRPr lang="en-US" sz="1800" dirty="0"/>
          </a:p>
        </p:txBody>
      </p:sp>
      <p:sp>
        <p:nvSpPr>
          <p:cNvPr id="55" name="Text 53"/>
          <p:cNvSpPr/>
          <p:nvPr/>
        </p:nvSpPr>
        <p:spPr>
          <a:xfrm>
            <a:off x="11049000" y="4366022"/>
            <a:ext cx="2828925" cy="342900"/>
          </a:xfrm>
          <a:prstGeom prst="rect">
            <a:avLst/>
          </a:prstGeom>
          <a:noFill/>
          <a:ln/>
        </p:spPr>
        <p:txBody>
          <a:bodyPr wrap="non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DDPM · 1000 steps</a:t>
            </a:r>
            <a:endParaRPr lang="en-US" sz="1800" dirty="0"/>
          </a:p>
        </p:txBody>
      </p:sp>
      <p:sp>
        <p:nvSpPr>
          <p:cNvPr id="56" name="Shape 54"/>
          <p:cNvSpPr/>
          <p:nvPr/>
        </p:nvSpPr>
        <p:spPr>
          <a:xfrm>
            <a:off x="13773150" y="4413647"/>
            <a:ext cx="3524250" cy="209550"/>
          </a:xfrm>
          <a:prstGeom prst="rect">
            <a:avLst/>
          </a:prstGeom>
          <a:solidFill>
            <a:srgbClr val="DCDCDC"/>
          </a:solidFill>
          <a:ln/>
        </p:spPr>
      </p:sp>
      <p:sp>
        <p:nvSpPr>
          <p:cNvPr id="57" name="Text 55"/>
          <p:cNvSpPr/>
          <p:nvPr/>
        </p:nvSpPr>
        <p:spPr>
          <a:xfrm>
            <a:off x="11049000" y="4785122"/>
            <a:ext cx="2828925" cy="342900"/>
          </a:xfrm>
          <a:prstGeom prst="rect">
            <a:avLst/>
          </a:prstGeom>
          <a:noFill/>
          <a:ln/>
        </p:spPr>
        <p:txBody>
          <a:bodyPr wrap="none" lIns="25400" tIns="25400" rIns="25400" bIns="25400" rtlCol="0" anchor="t">
            <a:normAutofit/>
          </a:bodyPr>
          <a:lstStyle/>
          <a:p>
            <a:pPr algn="l" indent="0" marL="0">
              <a:buNone/>
            </a:pPr>
            <a:r>
              <a:rPr lang="en-US" sz="1800" dirty="0">
                <a:solidFill>
                  <a:srgbClr val="C84F00"/>
                </a:solidFill>
                <a:latin typeface="Courier New" pitchFamily="34" charset="0"/>
                <a:ea typeface="Courier New" pitchFamily="34" charset="-122"/>
                <a:cs typeface="Courier New" pitchFamily="34" charset="-120"/>
              </a:rPr>
              <a:t>DDIM · 50 steps</a:t>
            </a:r>
            <a:endParaRPr lang="en-US" sz="1800" dirty="0"/>
          </a:p>
        </p:txBody>
      </p:sp>
      <p:sp>
        <p:nvSpPr>
          <p:cNvPr id="58" name="Shape 56"/>
          <p:cNvSpPr/>
          <p:nvPr/>
        </p:nvSpPr>
        <p:spPr>
          <a:xfrm>
            <a:off x="13773150" y="4832747"/>
            <a:ext cx="176213" cy="209550"/>
          </a:xfrm>
          <a:prstGeom prst="rect">
            <a:avLst/>
          </a:prstGeom>
          <a:solidFill>
            <a:srgbClr val="C84F00"/>
          </a:solidFill>
          <a:ln/>
        </p:spPr>
      </p:sp>
      <p:sp>
        <p:nvSpPr>
          <p:cNvPr id="59" name="Text 57"/>
          <p:cNvSpPr/>
          <p:nvPr/>
        </p:nvSpPr>
        <p:spPr>
          <a:xfrm>
            <a:off x="11049000" y="5337572"/>
            <a:ext cx="6435852"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The 1000 training timesteps are sub-sampled to 50 uniformly spaced steps, and deterministic updates make generation reproducible.</a:t>
            </a:r>
            <a:endParaRPr lang="en-US" sz="2550" dirty="0"/>
          </a:p>
        </p:txBody>
      </p:sp>
      <p:sp>
        <p:nvSpPr>
          <p:cNvPr id="60" name="Text 58"/>
          <p:cNvSpPr/>
          <p:nvPr/>
        </p:nvSpPr>
        <p:spPr>
          <a:xfrm>
            <a:off x="11049000" y="7398544"/>
            <a:ext cx="6435852" cy="103242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5A5A5A"/>
                </a:solidFill>
                <a:latin typeface="Arial" pitchFamily="34" charset="0"/>
                <a:ea typeface="Arial" pitchFamily="34" charset="-122"/>
                <a:cs typeface="Arial" pitchFamily="34" charset="-120"/>
              </a:rPr>
              <a:t>This is the acceleration objective of the assignment; the reverse process is otherwise the standard linear-β DDPM with T = 1000.</a:t>
            </a:r>
            <a:endParaRPr lang="en-US" sz="1800" dirty="0"/>
          </a:p>
        </p:txBody>
      </p:sp>
      <p:sp>
        <p:nvSpPr>
          <p:cNvPr id="61" name="Text 59"/>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7 / 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Dataset</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3418939"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337" kern="0" dirty="0">
                <a:solidFill>
                  <a:srgbClr val="141414"/>
                </a:solidFill>
                <a:latin typeface="Arial" pitchFamily="34" charset="0"/>
                <a:ea typeface="Arial" pitchFamily="34" charset="-122"/>
                <a:cs typeface="Arial" pitchFamily="34" charset="-120"/>
              </a:rPr>
              <a:t>70k</a:t>
            </a:r>
            <a:endParaRPr lang="en-US" sz="11250" dirty="0"/>
          </a:p>
        </p:txBody>
      </p:sp>
      <p:sp>
        <p:nvSpPr>
          <p:cNvPr id="5" name="Text 3"/>
          <p:cNvSpPr/>
          <p:nvPr/>
        </p:nvSpPr>
        <p:spPr>
          <a:xfrm>
            <a:off x="990600" y="3781425"/>
            <a:ext cx="3201370" cy="73134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5A5A5A"/>
                </a:solidFill>
                <a:latin typeface="Arial" pitchFamily="34" charset="0"/>
                <a:ea typeface="Arial" pitchFamily="34" charset="-122"/>
                <a:cs typeface="Arial" pitchFamily="34" charset="-120"/>
              </a:rPr>
              <a:t>FFHQ face images (Karras et al., CVPR 2019)</a:t>
            </a:r>
            <a:endParaRPr lang="en-US" sz="2100" dirty="0"/>
          </a:p>
        </p:txBody>
      </p:sp>
      <p:sp>
        <p:nvSpPr>
          <p:cNvPr id="6" name="Text 4"/>
          <p:cNvSpPr/>
          <p:nvPr/>
        </p:nvSpPr>
        <p:spPr>
          <a:xfrm>
            <a:off x="5146477" y="2400300"/>
            <a:ext cx="2957111"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337" kern="0" dirty="0">
                <a:solidFill>
                  <a:srgbClr val="141414"/>
                </a:solidFill>
                <a:latin typeface="Arial" pitchFamily="34" charset="0"/>
                <a:ea typeface="Arial" pitchFamily="34" charset="-122"/>
                <a:cs typeface="Arial" pitchFamily="34" charset="-120"/>
              </a:rPr>
              <a:t>128²</a:t>
            </a:r>
            <a:endParaRPr lang="en-US" sz="11250" dirty="0"/>
          </a:p>
        </p:txBody>
      </p:sp>
      <p:sp>
        <p:nvSpPr>
          <p:cNvPr id="7" name="Text 5"/>
          <p:cNvSpPr/>
          <p:nvPr/>
        </p:nvSpPr>
        <p:spPr>
          <a:xfrm>
            <a:off x="5146477" y="3781425"/>
            <a:ext cx="2768931" cy="73134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5A5A5A"/>
                </a:solidFill>
                <a:latin typeface="Arial" pitchFamily="34" charset="0"/>
                <a:ea typeface="Arial" pitchFamily="34" charset="-122"/>
                <a:cs typeface="Arial" pitchFamily="34" charset="-120"/>
              </a:rPr>
              <a:t>resolution, RGB normalized to [−1, 1]</a:t>
            </a:r>
            <a:endParaRPr lang="en-US" sz="2100" dirty="0"/>
          </a:p>
        </p:txBody>
      </p:sp>
      <p:sp>
        <p:nvSpPr>
          <p:cNvPr id="8" name="Text 6"/>
          <p:cNvSpPr/>
          <p:nvPr/>
        </p:nvSpPr>
        <p:spPr>
          <a:xfrm>
            <a:off x="8882509" y="2400300"/>
            <a:ext cx="5037222"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337" kern="0" dirty="0">
                <a:solidFill>
                  <a:srgbClr val="141414"/>
                </a:solidFill>
                <a:latin typeface="Arial" pitchFamily="34" charset="0"/>
                <a:ea typeface="Arial" pitchFamily="34" charset="-122"/>
                <a:cs typeface="Arial" pitchFamily="34" charset="-120"/>
              </a:rPr>
              <a:t>63/7</a:t>
            </a:r>
            <a:endParaRPr lang="en-US" sz="11250" dirty="0"/>
          </a:p>
        </p:txBody>
      </p:sp>
      <p:sp>
        <p:nvSpPr>
          <p:cNvPr id="9" name="Text 7"/>
          <p:cNvSpPr/>
          <p:nvPr/>
        </p:nvSpPr>
        <p:spPr>
          <a:xfrm>
            <a:off x="8882509" y="3781425"/>
            <a:ext cx="4716671" cy="731341"/>
          </a:xfrm>
          <a:prstGeom prst="rect">
            <a:avLst/>
          </a:prstGeom>
          <a:noFill/>
          <a:ln/>
        </p:spPr>
        <p:txBody>
          <a:bodyPr wrap="square" lIns="25400" tIns="25400" rIns="25400" bIns="25400" rtlCol="0" anchor="t">
            <a:normAutofit/>
          </a:bodyPr>
          <a:lstStyle/>
          <a:p>
            <a:pPr algn="l" indent="0" marL="0">
              <a:lnSpc>
                <a:spcPct val="113750"/>
              </a:lnSpc>
              <a:buNone/>
            </a:pPr>
            <a:r>
              <a:rPr lang="en-US" sz="2100" dirty="0">
                <a:solidFill>
                  <a:srgbClr val="5A5A5A"/>
                </a:solidFill>
                <a:latin typeface="Arial" pitchFamily="34" charset="0"/>
                <a:ea typeface="Arial" pitchFamily="34" charset="-122"/>
                <a:cs typeface="Arial" pitchFamily="34" charset="-120"/>
              </a:rPr>
              <a:t>thousand images, train / validation seeded split, identical for both models</a:t>
            </a:r>
            <a:endParaRPr lang="en-US" sz="2100" dirty="0"/>
          </a:p>
        </p:txBody>
      </p:sp>
      <p:sp>
        <p:nvSpPr>
          <p:cNvPr id="10" name="Text 8"/>
          <p:cNvSpPr/>
          <p:nvPr/>
        </p:nvSpPr>
        <p:spPr>
          <a:xfrm>
            <a:off x="990600" y="5084266"/>
            <a:ext cx="7966329"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Aligned, homogeneous face crops keep the spectral statistics stable across the dataset, so differences in the generated spectra can be attributed to the model rather than to content variability.</a:t>
            </a:r>
            <a:endParaRPr lang="en-US" sz="2550" dirty="0"/>
          </a:p>
        </p:txBody>
      </p:sp>
      <p:sp>
        <p:nvSpPr>
          <p:cNvPr id="11" name="Text 9"/>
          <p:cNvSpPr/>
          <p:nvPr/>
        </p:nvSpPr>
        <p:spPr>
          <a:xfrm>
            <a:off x="9563100" y="5084266"/>
            <a:ext cx="7966329"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The 7000-image validation split is the reference set for both FID and the spectral comparison; it is never seen during training.</a:t>
            </a:r>
            <a:endParaRPr lang="en-US" sz="2550" dirty="0"/>
          </a:p>
        </p:txBody>
      </p:sp>
      <p:sp>
        <p:nvSpPr>
          <p:cNvPr id="12" name="Text 10"/>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8 / 15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Experimental Setup</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84658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SHARED CONFIGURATION</a:t>
            </a:r>
            <a:endParaRPr lang="en-US" sz="1800" dirty="0"/>
          </a:p>
        </p:txBody>
      </p:sp>
      <p:sp>
        <p:nvSpPr>
          <p:cNvPr id="5" name="Shape 3"/>
          <p:cNvSpPr/>
          <p:nvPr/>
        </p:nvSpPr>
        <p:spPr>
          <a:xfrm>
            <a:off x="990600" y="3448050"/>
            <a:ext cx="4815185" cy="9525"/>
          </a:xfrm>
          <a:prstGeom prst="rect">
            <a:avLst/>
          </a:prstGeom>
          <a:solidFill>
            <a:srgbClr val="DCDCDC"/>
          </a:solidFill>
          <a:ln/>
        </p:spPr>
      </p:sp>
      <p:sp>
        <p:nvSpPr>
          <p:cNvPr id="6" name="Text 4"/>
          <p:cNvSpPr/>
          <p:nvPr/>
        </p:nvSpPr>
        <p:spPr>
          <a:xfrm>
            <a:off x="990600" y="2914650"/>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Timesteps T, linear β</a:t>
            </a:r>
            <a:endParaRPr lang="en-US" sz="2100" dirty="0"/>
          </a:p>
        </p:txBody>
      </p:sp>
      <p:sp>
        <p:nvSpPr>
          <p:cNvPr id="7" name="Shape 5"/>
          <p:cNvSpPr/>
          <p:nvPr/>
        </p:nvSpPr>
        <p:spPr>
          <a:xfrm>
            <a:off x="5805785" y="3448050"/>
            <a:ext cx="2881015" cy="9525"/>
          </a:xfrm>
          <a:prstGeom prst="rect">
            <a:avLst/>
          </a:prstGeom>
          <a:solidFill>
            <a:srgbClr val="DCDCDC"/>
          </a:solidFill>
          <a:ln/>
        </p:spPr>
      </p:sp>
      <p:sp>
        <p:nvSpPr>
          <p:cNvPr id="8" name="Text 6"/>
          <p:cNvSpPr/>
          <p:nvPr/>
        </p:nvSpPr>
        <p:spPr>
          <a:xfrm>
            <a:off x="5719355" y="2914650"/>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1000 · 1e-4 → 0.02</a:t>
            </a:r>
            <a:endParaRPr lang="en-US" sz="2100" dirty="0"/>
          </a:p>
        </p:txBody>
      </p:sp>
      <p:sp>
        <p:nvSpPr>
          <p:cNvPr id="9" name="Shape 7"/>
          <p:cNvSpPr/>
          <p:nvPr/>
        </p:nvSpPr>
        <p:spPr>
          <a:xfrm>
            <a:off x="990600" y="3990975"/>
            <a:ext cx="4815185" cy="9525"/>
          </a:xfrm>
          <a:prstGeom prst="rect">
            <a:avLst/>
          </a:prstGeom>
          <a:solidFill>
            <a:srgbClr val="DCDCDC"/>
          </a:solidFill>
          <a:ln/>
        </p:spPr>
      </p:sp>
      <p:sp>
        <p:nvSpPr>
          <p:cNvPr id="10" name="Text 8"/>
          <p:cNvSpPr/>
          <p:nvPr/>
        </p:nvSpPr>
        <p:spPr>
          <a:xfrm>
            <a:off x="990600" y="3457575"/>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DDIM steps, η</a:t>
            </a:r>
            <a:endParaRPr lang="en-US" sz="2100" dirty="0"/>
          </a:p>
        </p:txBody>
      </p:sp>
      <p:sp>
        <p:nvSpPr>
          <p:cNvPr id="11" name="Shape 9"/>
          <p:cNvSpPr/>
          <p:nvPr/>
        </p:nvSpPr>
        <p:spPr>
          <a:xfrm>
            <a:off x="5805785" y="3990975"/>
            <a:ext cx="2881015" cy="9525"/>
          </a:xfrm>
          <a:prstGeom prst="rect">
            <a:avLst/>
          </a:prstGeom>
          <a:solidFill>
            <a:srgbClr val="DCDCDC"/>
          </a:solidFill>
          <a:ln/>
        </p:spPr>
      </p:sp>
      <p:sp>
        <p:nvSpPr>
          <p:cNvPr id="12" name="Text 10"/>
          <p:cNvSpPr/>
          <p:nvPr/>
        </p:nvSpPr>
        <p:spPr>
          <a:xfrm>
            <a:off x="5719355" y="3457575"/>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50 · 0.0</a:t>
            </a:r>
            <a:endParaRPr lang="en-US" sz="2100" dirty="0"/>
          </a:p>
        </p:txBody>
      </p:sp>
      <p:sp>
        <p:nvSpPr>
          <p:cNvPr id="13" name="Shape 11"/>
          <p:cNvSpPr/>
          <p:nvPr/>
        </p:nvSpPr>
        <p:spPr>
          <a:xfrm>
            <a:off x="990600" y="4533900"/>
            <a:ext cx="4815185" cy="9525"/>
          </a:xfrm>
          <a:prstGeom prst="rect">
            <a:avLst/>
          </a:prstGeom>
          <a:solidFill>
            <a:srgbClr val="DCDCDC"/>
          </a:solidFill>
          <a:ln/>
        </p:spPr>
      </p:sp>
      <p:sp>
        <p:nvSpPr>
          <p:cNvPr id="14" name="Text 12"/>
          <p:cNvSpPr/>
          <p:nvPr/>
        </p:nvSpPr>
        <p:spPr>
          <a:xfrm>
            <a:off x="990600" y="4000500"/>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Optimizer, learning rate</a:t>
            </a:r>
            <a:endParaRPr lang="en-US" sz="2100" dirty="0"/>
          </a:p>
        </p:txBody>
      </p:sp>
      <p:sp>
        <p:nvSpPr>
          <p:cNvPr id="15" name="Shape 13"/>
          <p:cNvSpPr/>
          <p:nvPr/>
        </p:nvSpPr>
        <p:spPr>
          <a:xfrm>
            <a:off x="5805785" y="4533900"/>
            <a:ext cx="2881015" cy="9525"/>
          </a:xfrm>
          <a:prstGeom prst="rect">
            <a:avLst/>
          </a:prstGeom>
          <a:solidFill>
            <a:srgbClr val="DCDCDC"/>
          </a:solidFill>
          <a:ln/>
        </p:spPr>
      </p:sp>
      <p:sp>
        <p:nvSpPr>
          <p:cNvPr id="16" name="Text 14"/>
          <p:cNvSpPr/>
          <p:nvPr/>
        </p:nvSpPr>
        <p:spPr>
          <a:xfrm>
            <a:off x="5719355" y="4000500"/>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AdamW · 2e-4</a:t>
            </a:r>
            <a:endParaRPr lang="en-US" sz="2100" dirty="0"/>
          </a:p>
        </p:txBody>
      </p:sp>
      <p:sp>
        <p:nvSpPr>
          <p:cNvPr id="17" name="Shape 15"/>
          <p:cNvSpPr/>
          <p:nvPr/>
        </p:nvSpPr>
        <p:spPr>
          <a:xfrm>
            <a:off x="990600" y="5076825"/>
            <a:ext cx="4815185" cy="9525"/>
          </a:xfrm>
          <a:prstGeom prst="rect">
            <a:avLst/>
          </a:prstGeom>
          <a:solidFill>
            <a:srgbClr val="DCDCDC"/>
          </a:solidFill>
          <a:ln/>
        </p:spPr>
      </p:sp>
      <p:sp>
        <p:nvSpPr>
          <p:cNvPr id="18" name="Text 16"/>
          <p:cNvSpPr/>
          <p:nvPr/>
        </p:nvSpPr>
        <p:spPr>
          <a:xfrm>
            <a:off x="990600" y="4543425"/>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Batch size, epochs</a:t>
            </a:r>
            <a:endParaRPr lang="en-US" sz="2100" dirty="0"/>
          </a:p>
        </p:txBody>
      </p:sp>
      <p:sp>
        <p:nvSpPr>
          <p:cNvPr id="19" name="Shape 17"/>
          <p:cNvSpPr/>
          <p:nvPr/>
        </p:nvSpPr>
        <p:spPr>
          <a:xfrm>
            <a:off x="5805785" y="5076825"/>
            <a:ext cx="2881015" cy="9525"/>
          </a:xfrm>
          <a:prstGeom prst="rect">
            <a:avLst/>
          </a:prstGeom>
          <a:solidFill>
            <a:srgbClr val="DCDCDC"/>
          </a:solidFill>
          <a:ln/>
        </p:spPr>
      </p:sp>
      <p:sp>
        <p:nvSpPr>
          <p:cNvPr id="20" name="Text 18"/>
          <p:cNvSpPr/>
          <p:nvPr/>
        </p:nvSpPr>
        <p:spPr>
          <a:xfrm>
            <a:off x="5719355" y="4543425"/>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32 · 100</a:t>
            </a:r>
            <a:endParaRPr lang="en-US" sz="2100" dirty="0"/>
          </a:p>
        </p:txBody>
      </p:sp>
      <p:sp>
        <p:nvSpPr>
          <p:cNvPr id="21" name="Shape 19"/>
          <p:cNvSpPr/>
          <p:nvPr/>
        </p:nvSpPr>
        <p:spPr>
          <a:xfrm>
            <a:off x="990600" y="5619750"/>
            <a:ext cx="4815185" cy="9525"/>
          </a:xfrm>
          <a:prstGeom prst="rect">
            <a:avLst/>
          </a:prstGeom>
          <a:solidFill>
            <a:srgbClr val="DCDCDC"/>
          </a:solidFill>
          <a:ln/>
        </p:spPr>
      </p:sp>
      <p:sp>
        <p:nvSpPr>
          <p:cNvPr id="22" name="Text 20"/>
          <p:cNvSpPr/>
          <p:nvPr/>
        </p:nvSpPr>
        <p:spPr>
          <a:xfrm>
            <a:off x="990600" y="5086350"/>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Seed, mixed precision</a:t>
            </a:r>
            <a:endParaRPr lang="en-US" sz="2100" dirty="0"/>
          </a:p>
        </p:txBody>
      </p:sp>
      <p:sp>
        <p:nvSpPr>
          <p:cNvPr id="23" name="Shape 21"/>
          <p:cNvSpPr/>
          <p:nvPr/>
        </p:nvSpPr>
        <p:spPr>
          <a:xfrm>
            <a:off x="5805785" y="5619750"/>
            <a:ext cx="2881015" cy="9525"/>
          </a:xfrm>
          <a:prstGeom prst="rect">
            <a:avLst/>
          </a:prstGeom>
          <a:solidFill>
            <a:srgbClr val="DCDCDC"/>
          </a:solidFill>
          <a:ln/>
        </p:spPr>
      </p:sp>
      <p:sp>
        <p:nvSpPr>
          <p:cNvPr id="24" name="Text 22"/>
          <p:cNvSpPr/>
          <p:nvPr/>
        </p:nvSpPr>
        <p:spPr>
          <a:xfrm>
            <a:off x="5719355" y="5086350"/>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42 · fp16 (CUDA)</a:t>
            </a:r>
            <a:endParaRPr lang="en-US" sz="2100" dirty="0"/>
          </a:p>
        </p:txBody>
      </p:sp>
      <p:sp>
        <p:nvSpPr>
          <p:cNvPr id="25" name="Text 23"/>
          <p:cNvSpPr/>
          <p:nvPr/>
        </p:nvSpPr>
        <p:spPr>
          <a:xfrm>
            <a:off x="990600" y="5629275"/>
            <a:ext cx="4959641"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Hardware</a:t>
            </a:r>
            <a:endParaRPr lang="en-US" sz="2100" dirty="0"/>
          </a:p>
        </p:txBody>
      </p:sp>
      <p:sp>
        <p:nvSpPr>
          <p:cNvPr id="26" name="Text 24"/>
          <p:cNvSpPr/>
          <p:nvPr/>
        </p:nvSpPr>
        <p:spPr>
          <a:xfrm>
            <a:off x="5719355" y="5629275"/>
            <a:ext cx="2967445"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RTX 5070 Ti, 16 GB</a:t>
            </a:r>
            <a:endParaRPr lang="en-US" sz="2100" dirty="0"/>
          </a:p>
        </p:txBody>
      </p:sp>
      <p:sp>
        <p:nvSpPr>
          <p:cNvPr id="27" name="Text 25"/>
          <p:cNvSpPr/>
          <p:nvPr/>
        </p:nvSpPr>
        <p:spPr>
          <a:xfrm>
            <a:off x="9601200" y="2400300"/>
            <a:ext cx="84658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THE SINGLE CONTROLLED VARIABLE</a:t>
            </a:r>
            <a:endParaRPr lang="en-US" sz="1800" dirty="0"/>
          </a:p>
        </p:txBody>
      </p:sp>
      <p:sp>
        <p:nvSpPr>
          <p:cNvPr id="28" name="Shape 26"/>
          <p:cNvSpPr/>
          <p:nvPr/>
        </p:nvSpPr>
        <p:spPr>
          <a:xfrm>
            <a:off x="9601200" y="3448050"/>
            <a:ext cx="2419796" cy="19050"/>
          </a:xfrm>
          <a:prstGeom prst="rect">
            <a:avLst/>
          </a:prstGeom>
          <a:solidFill>
            <a:srgbClr val="141414"/>
          </a:solidFill>
          <a:ln/>
        </p:spPr>
      </p:sp>
      <p:sp>
        <p:nvSpPr>
          <p:cNvPr id="29" name="Text 27"/>
          <p:cNvSpPr/>
          <p:nvPr/>
        </p:nvSpPr>
        <p:spPr>
          <a:xfrm>
            <a:off x="9601200" y="2914650"/>
            <a:ext cx="2153096"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b="1" dirty="0">
                <a:solidFill>
                  <a:srgbClr val="141414"/>
                </a:solidFill>
                <a:latin typeface="Arial" pitchFamily="34" charset="0"/>
                <a:ea typeface="Arial" pitchFamily="34" charset="-122"/>
                <a:cs typeface="Arial" pitchFamily="34" charset="-120"/>
              </a:rPr>
              <a:t>Model</a:t>
            </a:r>
            <a:endParaRPr lang="en-US" sz="2100" dirty="0"/>
          </a:p>
        </p:txBody>
      </p:sp>
      <p:sp>
        <p:nvSpPr>
          <p:cNvPr id="30" name="Shape 28"/>
          <p:cNvSpPr/>
          <p:nvPr/>
        </p:nvSpPr>
        <p:spPr>
          <a:xfrm>
            <a:off x="12020996" y="3448050"/>
            <a:ext cx="4861322" cy="19050"/>
          </a:xfrm>
          <a:prstGeom prst="rect">
            <a:avLst/>
          </a:prstGeom>
          <a:solidFill>
            <a:srgbClr val="141414"/>
          </a:solidFill>
          <a:ln/>
        </p:spPr>
      </p:sp>
      <p:sp>
        <p:nvSpPr>
          <p:cNvPr id="31" name="Text 29"/>
          <p:cNvSpPr/>
          <p:nvPr/>
        </p:nvSpPr>
        <p:spPr>
          <a:xfrm>
            <a:off x="12020996" y="2914650"/>
            <a:ext cx="4664262"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b="1" dirty="0">
                <a:solidFill>
                  <a:srgbClr val="141414"/>
                </a:solidFill>
                <a:latin typeface="Arial" pitchFamily="34" charset="0"/>
                <a:ea typeface="Arial" pitchFamily="34" charset="-122"/>
                <a:cs typeface="Arial" pitchFamily="34" charset="-120"/>
              </a:rPr>
              <a:t>Diffusion target</a:t>
            </a:r>
            <a:endParaRPr lang="en-US" sz="2100" dirty="0"/>
          </a:p>
        </p:txBody>
      </p:sp>
      <p:sp>
        <p:nvSpPr>
          <p:cNvPr id="32" name="Shape 30"/>
          <p:cNvSpPr/>
          <p:nvPr/>
        </p:nvSpPr>
        <p:spPr>
          <a:xfrm>
            <a:off x="16882318" y="3448050"/>
            <a:ext cx="415082" cy="19050"/>
          </a:xfrm>
          <a:prstGeom prst="rect">
            <a:avLst/>
          </a:prstGeom>
          <a:solidFill>
            <a:srgbClr val="141414"/>
          </a:solidFill>
          <a:ln/>
        </p:spPr>
      </p:sp>
      <p:sp>
        <p:nvSpPr>
          <p:cNvPr id="33" name="Text 31"/>
          <p:cNvSpPr/>
          <p:nvPr/>
        </p:nvSpPr>
        <p:spPr>
          <a:xfrm>
            <a:off x="16806118" y="2914650"/>
            <a:ext cx="491282" cy="571500"/>
          </a:xfrm>
          <a:prstGeom prst="rect">
            <a:avLst/>
          </a:prstGeom>
          <a:noFill/>
          <a:ln/>
        </p:spPr>
        <p:txBody>
          <a:bodyPr wrap="square" lIns="25400" tIns="25400" rIns="25400" bIns="25400" rtlCol="0" anchor="t">
            <a:normAutofit/>
          </a:bodyPr>
          <a:lstStyle/>
          <a:p>
            <a:pPr algn="r" indent="0" marL="0">
              <a:lnSpc>
                <a:spcPct val="175000"/>
              </a:lnSpc>
              <a:buNone/>
            </a:pPr>
            <a:r>
              <a:rPr lang="en-US" sz="2100" b="1" dirty="0">
                <a:solidFill>
                  <a:srgbClr val="141414"/>
                </a:solidFill>
                <a:latin typeface="Arial" pitchFamily="34" charset="0"/>
                <a:ea typeface="Arial" pitchFamily="34" charset="-122"/>
                <a:cs typeface="Arial" pitchFamily="34" charset="-120"/>
              </a:rPr>
              <a:t>Ch.</a:t>
            </a:r>
            <a:endParaRPr lang="en-US" sz="2100" dirty="0"/>
          </a:p>
        </p:txBody>
      </p:sp>
      <p:sp>
        <p:nvSpPr>
          <p:cNvPr id="34" name="Shape 32"/>
          <p:cNvSpPr/>
          <p:nvPr/>
        </p:nvSpPr>
        <p:spPr>
          <a:xfrm>
            <a:off x="9601200" y="4000500"/>
            <a:ext cx="2419796" cy="9525"/>
          </a:xfrm>
          <a:prstGeom prst="rect">
            <a:avLst/>
          </a:prstGeom>
          <a:solidFill>
            <a:srgbClr val="DCDCDC"/>
          </a:solidFill>
          <a:ln/>
        </p:spPr>
      </p:sp>
      <p:sp>
        <p:nvSpPr>
          <p:cNvPr id="35" name="Text 33"/>
          <p:cNvSpPr/>
          <p:nvPr/>
        </p:nvSpPr>
        <p:spPr>
          <a:xfrm>
            <a:off x="9601200" y="3467100"/>
            <a:ext cx="2153096"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RGB baseline</a:t>
            </a:r>
            <a:endParaRPr lang="en-US" sz="2100" dirty="0"/>
          </a:p>
        </p:txBody>
      </p:sp>
      <p:sp>
        <p:nvSpPr>
          <p:cNvPr id="36" name="Shape 34"/>
          <p:cNvSpPr/>
          <p:nvPr/>
        </p:nvSpPr>
        <p:spPr>
          <a:xfrm>
            <a:off x="12020996" y="4000500"/>
            <a:ext cx="4861322" cy="9525"/>
          </a:xfrm>
          <a:prstGeom prst="rect">
            <a:avLst/>
          </a:prstGeom>
          <a:solidFill>
            <a:srgbClr val="DCDCDC"/>
          </a:solidFill>
          <a:ln/>
        </p:spPr>
      </p:sp>
      <p:sp>
        <p:nvSpPr>
          <p:cNvPr id="37" name="Text 35"/>
          <p:cNvSpPr/>
          <p:nvPr/>
        </p:nvSpPr>
        <p:spPr>
          <a:xfrm>
            <a:off x="12020996" y="3467100"/>
            <a:ext cx="5007162"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pixels in [−1, 1]</a:t>
            </a:r>
            <a:endParaRPr lang="en-US" sz="2100" dirty="0"/>
          </a:p>
        </p:txBody>
      </p:sp>
      <p:sp>
        <p:nvSpPr>
          <p:cNvPr id="38" name="Shape 36"/>
          <p:cNvSpPr/>
          <p:nvPr/>
        </p:nvSpPr>
        <p:spPr>
          <a:xfrm>
            <a:off x="16882318" y="4000500"/>
            <a:ext cx="415082" cy="9525"/>
          </a:xfrm>
          <a:prstGeom prst="rect">
            <a:avLst/>
          </a:prstGeom>
          <a:solidFill>
            <a:srgbClr val="DCDCDC"/>
          </a:solidFill>
          <a:ln/>
        </p:spPr>
      </p:sp>
      <p:sp>
        <p:nvSpPr>
          <p:cNvPr id="39" name="Text 37"/>
          <p:cNvSpPr/>
          <p:nvPr/>
        </p:nvSpPr>
        <p:spPr>
          <a:xfrm>
            <a:off x="16806118" y="3467100"/>
            <a:ext cx="491282"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3</a:t>
            </a:r>
            <a:endParaRPr lang="en-US" sz="2100" dirty="0"/>
          </a:p>
        </p:txBody>
      </p:sp>
      <p:sp>
        <p:nvSpPr>
          <p:cNvPr id="40" name="Text 38"/>
          <p:cNvSpPr/>
          <p:nvPr/>
        </p:nvSpPr>
        <p:spPr>
          <a:xfrm>
            <a:off x="9601200" y="4010025"/>
            <a:ext cx="2153096"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Frequency model</a:t>
            </a:r>
            <a:endParaRPr lang="en-US" sz="2100" dirty="0"/>
          </a:p>
        </p:txBody>
      </p:sp>
      <p:sp>
        <p:nvSpPr>
          <p:cNvPr id="41" name="Text 39"/>
          <p:cNvSpPr/>
          <p:nvPr/>
        </p:nvSpPr>
        <p:spPr>
          <a:xfrm>
            <a:off x="12020996" y="4010025"/>
            <a:ext cx="5007162" cy="571500"/>
          </a:xfrm>
          <a:prstGeom prst="rect">
            <a:avLst/>
          </a:prstGeom>
          <a:noFill/>
          <a:ln/>
        </p:spPr>
        <p:txBody>
          <a:bodyPr wrap="square" lIns="25400" tIns="25400" rIns="25400" bIns="25400" rtlCol="0" anchor="t">
            <a:normAutofit/>
          </a:bodyPr>
          <a:lstStyle/>
          <a:p>
            <a:pPr algn="l" indent="0" marL="0">
              <a:lnSpc>
                <a:spcPct val="175000"/>
              </a:lnSpc>
              <a:buNone/>
            </a:pPr>
            <a:r>
              <a:rPr lang="en-US" sz="2100" dirty="0">
                <a:solidFill>
                  <a:srgbClr val="141414"/>
                </a:solidFill>
                <a:latin typeface="Arial" pitchFamily="34" charset="0"/>
                <a:ea typeface="Arial" pitchFamily="34" charset="-122"/>
                <a:cs typeface="Arial" pitchFamily="34" charset="-120"/>
              </a:rPr>
              <a:t>normalized FFT spectrum</a:t>
            </a:r>
            <a:endParaRPr lang="en-US" sz="2100" dirty="0"/>
          </a:p>
        </p:txBody>
      </p:sp>
      <p:sp>
        <p:nvSpPr>
          <p:cNvPr id="42" name="Text 40"/>
          <p:cNvSpPr/>
          <p:nvPr/>
        </p:nvSpPr>
        <p:spPr>
          <a:xfrm>
            <a:off x="16806118" y="4010025"/>
            <a:ext cx="491282" cy="571500"/>
          </a:xfrm>
          <a:prstGeom prst="rect">
            <a:avLst/>
          </a:prstGeom>
          <a:noFill/>
          <a:ln/>
        </p:spPr>
        <p:txBody>
          <a:bodyPr wrap="square" lIns="25400" tIns="25400" rIns="25400" bIns="25400" rtlCol="0" anchor="t">
            <a:normAutofit/>
          </a:bodyPr>
          <a:lstStyle/>
          <a:p>
            <a:pPr algn="r" indent="0" marL="0">
              <a:lnSpc>
                <a:spcPct val="180645"/>
              </a:lnSpc>
              <a:buNone/>
            </a:pPr>
            <a:r>
              <a:rPr lang="en-US" sz="2100" dirty="0">
                <a:solidFill>
                  <a:srgbClr val="141414"/>
                </a:solidFill>
                <a:latin typeface="Courier New" pitchFamily="34" charset="0"/>
                <a:ea typeface="Courier New" pitchFamily="34" charset="-122"/>
                <a:cs typeface="Courier New" pitchFamily="34" charset="-120"/>
              </a:rPr>
              <a:t>6</a:t>
            </a:r>
            <a:endParaRPr lang="en-US" sz="2100" dirty="0"/>
          </a:p>
        </p:txBody>
      </p:sp>
      <p:sp>
        <p:nvSpPr>
          <p:cNvPr id="43" name="Text 41"/>
          <p:cNvSpPr/>
          <p:nvPr/>
        </p:nvSpPr>
        <p:spPr>
          <a:xfrm>
            <a:off x="9601200" y="4752975"/>
            <a:ext cx="7927086"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5A5A5A"/>
                </a:solidFill>
                <a:latin typeface="Arial" pitchFamily="34" charset="0"/>
                <a:ea typeface="Arial" pitchFamily="34" charset="-122"/>
                <a:cs typeface="Arial" pitchFamily="34" charset="-120"/>
              </a:rPr>
              <a:t>The extra channels cost ≈3% per step — confined to the first and last convolution — so ≈3.2 min per epoch and ≈5.2 h per model, ≈10.5 h in total. Training is resumable per epoch and logs the loss curve to CSV.</a:t>
            </a:r>
            <a:endParaRPr lang="en-US" sz="2100" dirty="0"/>
          </a:p>
        </p:txBody>
      </p:sp>
      <p:sp>
        <p:nvSpPr>
          <p:cNvPr id="44" name="Text 42"/>
          <p:cNvSpPr/>
          <p:nvPr/>
        </p:nvSpPr>
        <p:spPr>
          <a:xfrm>
            <a:off x="16474380" y="96012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9 / 15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Loss Function</a:t>
            </a:r>
            <a:endParaRPr lang="en-US" sz="4800" dirty="0"/>
          </a:p>
        </p:txBody>
      </p:sp>
      <p:sp>
        <p:nvSpPr>
          <p:cNvPr id="3" name="Shape 1"/>
          <p:cNvSpPr/>
          <p:nvPr/>
        </p:nvSpPr>
        <p:spPr>
          <a:xfrm>
            <a:off x="990600" y="1885950"/>
            <a:ext cx="16306800" cy="19050"/>
          </a:xfrm>
          <a:prstGeom prst="rect">
            <a:avLst/>
          </a:prstGeom>
          <a:solidFill>
            <a:srgbClr val="DCDCDC"/>
          </a:solidFill>
          <a:ln/>
        </p:spPr>
      </p:sp>
      <p:sp>
        <p:nvSpPr>
          <p:cNvPr id="4" name="Shape 2"/>
          <p:cNvSpPr/>
          <p:nvPr/>
        </p:nvSpPr>
        <p:spPr>
          <a:xfrm>
            <a:off x="990600" y="2286000"/>
            <a:ext cx="1847850" cy="1847850"/>
          </a:xfrm>
          <a:prstGeom prst="rect">
            <a:avLst/>
          </a:prstGeom>
          <a:ln w="19050">
            <a:solidFill>
              <a:srgbClr val="141414"/>
            </a:solidFill>
            <a:prstDash val="solid"/>
          </a:ln>
        </p:spPr>
      </p:sp>
      <p:pic>
        <p:nvPicPr>
          <p:cNvPr id="5" name="Image 0" descr="preencoded.png">    </p:cNvPr>
          <p:cNvPicPr>
            <a:picLocks noChangeAspect="1"/>
          </p:cNvPicPr>
          <p:nvPr/>
        </p:nvPicPr>
        <p:blipFill>
          <a:blip r:embed="rId1"/>
          <a:stretch>
            <a:fillRect/>
          </a:stretch>
        </p:blipFill>
        <p:spPr>
          <a:xfrm>
            <a:off x="990600" y="2286000"/>
            <a:ext cx="1847850" cy="1847850"/>
          </a:xfrm>
          <a:prstGeom prst="rect">
            <a:avLst/>
          </a:prstGeom>
        </p:spPr>
      </p:pic>
      <p:sp>
        <p:nvSpPr>
          <p:cNvPr id="6" name="Text 3"/>
          <p:cNvSpPr/>
          <p:nvPr/>
        </p:nvSpPr>
        <p:spPr>
          <a:xfrm>
            <a:off x="1571625" y="424815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t = 0</a:t>
            </a:r>
            <a:endParaRPr lang="en-US" sz="1800" dirty="0"/>
          </a:p>
        </p:txBody>
      </p:sp>
      <p:sp>
        <p:nvSpPr>
          <p:cNvPr id="7" name="Shape 4"/>
          <p:cNvSpPr/>
          <p:nvPr/>
        </p:nvSpPr>
        <p:spPr>
          <a:xfrm>
            <a:off x="3154710" y="2286000"/>
            <a:ext cx="1847850" cy="1847850"/>
          </a:xfrm>
          <a:prstGeom prst="rect">
            <a:avLst/>
          </a:prstGeom>
          <a:ln w="19050">
            <a:solidFill>
              <a:srgbClr val="141414"/>
            </a:solidFill>
            <a:prstDash val="solid"/>
          </a:ln>
        </p:spPr>
      </p:sp>
      <p:pic>
        <p:nvPicPr>
          <p:cNvPr id="8" name="Image 1" descr="preencoded.png">    </p:cNvPr>
          <p:cNvPicPr>
            <a:picLocks noChangeAspect="1"/>
          </p:cNvPicPr>
          <p:nvPr/>
        </p:nvPicPr>
        <p:blipFill>
          <a:blip r:embed="rId2"/>
          <a:stretch>
            <a:fillRect/>
          </a:stretch>
        </p:blipFill>
        <p:spPr>
          <a:xfrm>
            <a:off x="3154710" y="2286000"/>
            <a:ext cx="1847850" cy="1847850"/>
          </a:xfrm>
          <a:prstGeom prst="rect">
            <a:avLst/>
          </a:prstGeom>
        </p:spPr>
      </p:pic>
      <p:sp>
        <p:nvSpPr>
          <p:cNvPr id="9" name="Text 5"/>
          <p:cNvSpPr/>
          <p:nvPr/>
        </p:nvSpPr>
        <p:spPr>
          <a:xfrm>
            <a:off x="3598515" y="42481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t = 200</a:t>
            </a:r>
            <a:endParaRPr lang="en-US" sz="1800" dirty="0"/>
          </a:p>
        </p:txBody>
      </p:sp>
      <p:sp>
        <p:nvSpPr>
          <p:cNvPr id="10" name="Shape 6"/>
          <p:cNvSpPr/>
          <p:nvPr/>
        </p:nvSpPr>
        <p:spPr>
          <a:xfrm>
            <a:off x="5318820" y="2286000"/>
            <a:ext cx="1847850" cy="1847850"/>
          </a:xfrm>
          <a:prstGeom prst="rect">
            <a:avLst/>
          </a:prstGeom>
          <a:ln w="19050">
            <a:solidFill>
              <a:srgbClr val="141414"/>
            </a:solidFill>
            <a:prstDash val="solid"/>
          </a:ln>
        </p:spPr>
      </p:sp>
      <p:pic>
        <p:nvPicPr>
          <p:cNvPr id="11" name="Image 2" descr="preencoded.png">    </p:cNvPr>
          <p:cNvPicPr>
            <a:picLocks noChangeAspect="1"/>
          </p:cNvPicPr>
          <p:nvPr/>
        </p:nvPicPr>
        <p:blipFill>
          <a:blip r:embed="rId3"/>
          <a:stretch>
            <a:fillRect/>
          </a:stretch>
        </p:blipFill>
        <p:spPr>
          <a:xfrm>
            <a:off x="5318820" y="2286000"/>
            <a:ext cx="1847850" cy="1847850"/>
          </a:xfrm>
          <a:prstGeom prst="rect">
            <a:avLst/>
          </a:prstGeom>
        </p:spPr>
      </p:pic>
      <p:sp>
        <p:nvSpPr>
          <p:cNvPr id="12" name="Text 7"/>
          <p:cNvSpPr/>
          <p:nvPr/>
        </p:nvSpPr>
        <p:spPr>
          <a:xfrm>
            <a:off x="5762625" y="42481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t = 500</a:t>
            </a:r>
            <a:endParaRPr lang="en-US" sz="1800" dirty="0"/>
          </a:p>
        </p:txBody>
      </p:sp>
      <p:sp>
        <p:nvSpPr>
          <p:cNvPr id="13" name="Shape 8"/>
          <p:cNvSpPr/>
          <p:nvPr/>
        </p:nvSpPr>
        <p:spPr>
          <a:xfrm>
            <a:off x="7482780" y="2286000"/>
            <a:ext cx="1847850" cy="1847850"/>
          </a:xfrm>
          <a:prstGeom prst="rect">
            <a:avLst/>
          </a:prstGeom>
          <a:ln w="19050">
            <a:solidFill>
              <a:srgbClr val="141414"/>
            </a:solidFill>
            <a:prstDash val="solid"/>
          </a:ln>
        </p:spPr>
      </p:sp>
      <p:pic>
        <p:nvPicPr>
          <p:cNvPr id="14" name="Image 3" descr="preencoded.png">    </p:cNvPr>
          <p:cNvPicPr>
            <a:picLocks noChangeAspect="1"/>
          </p:cNvPicPr>
          <p:nvPr/>
        </p:nvPicPr>
        <p:blipFill>
          <a:blip r:embed="rId4"/>
          <a:stretch>
            <a:fillRect/>
          </a:stretch>
        </p:blipFill>
        <p:spPr>
          <a:xfrm>
            <a:off x="7482780" y="2286000"/>
            <a:ext cx="1847850" cy="1847850"/>
          </a:xfrm>
          <a:prstGeom prst="rect">
            <a:avLst/>
          </a:prstGeom>
        </p:spPr>
      </p:pic>
      <p:sp>
        <p:nvSpPr>
          <p:cNvPr id="15" name="Text 9"/>
          <p:cNvSpPr/>
          <p:nvPr/>
        </p:nvSpPr>
        <p:spPr>
          <a:xfrm>
            <a:off x="7926586" y="42481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t = 800</a:t>
            </a:r>
            <a:endParaRPr lang="en-US" sz="1800" dirty="0"/>
          </a:p>
        </p:txBody>
      </p:sp>
      <p:sp>
        <p:nvSpPr>
          <p:cNvPr id="16" name="Shape 10"/>
          <p:cNvSpPr/>
          <p:nvPr/>
        </p:nvSpPr>
        <p:spPr>
          <a:xfrm>
            <a:off x="9646890" y="2286000"/>
            <a:ext cx="1847850" cy="1847850"/>
          </a:xfrm>
          <a:prstGeom prst="rect">
            <a:avLst/>
          </a:prstGeom>
          <a:ln w="19050">
            <a:solidFill>
              <a:srgbClr val="141414"/>
            </a:solidFill>
            <a:prstDash val="solid"/>
          </a:ln>
        </p:spPr>
      </p:sp>
      <p:pic>
        <p:nvPicPr>
          <p:cNvPr id="17" name="Image 4" descr="preencoded.png">    </p:cNvPr>
          <p:cNvPicPr>
            <a:picLocks noChangeAspect="1"/>
          </p:cNvPicPr>
          <p:nvPr/>
        </p:nvPicPr>
        <p:blipFill>
          <a:blip r:embed="rId5"/>
          <a:stretch>
            <a:fillRect/>
          </a:stretch>
        </p:blipFill>
        <p:spPr>
          <a:xfrm>
            <a:off x="9646890" y="2286000"/>
            <a:ext cx="1847850" cy="1847850"/>
          </a:xfrm>
          <a:prstGeom prst="rect">
            <a:avLst/>
          </a:prstGeom>
        </p:spPr>
      </p:pic>
      <p:sp>
        <p:nvSpPr>
          <p:cNvPr id="18" name="Text 11"/>
          <p:cNvSpPr/>
          <p:nvPr/>
        </p:nvSpPr>
        <p:spPr>
          <a:xfrm>
            <a:off x="10090696" y="42481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t = 999</a:t>
            </a:r>
            <a:endParaRPr lang="en-US" sz="1800" dirty="0"/>
          </a:p>
        </p:txBody>
      </p:sp>
      <p:sp>
        <p:nvSpPr>
          <p:cNvPr id="19" name="Text 12"/>
          <p:cNvSpPr/>
          <p:nvPr/>
        </p:nvSpPr>
        <p:spPr>
          <a:xfrm>
            <a:off x="11963400" y="2286000"/>
            <a:ext cx="58674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FORWARD PROCESS</a:t>
            </a:r>
            <a:endParaRPr lang="en-US" sz="1800" dirty="0"/>
          </a:p>
        </p:txBody>
      </p:sp>
      <p:sp>
        <p:nvSpPr>
          <p:cNvPr id="20" name="Shape 13"/>
          <p:cNvSpPr/>
          <p:nvPr/>
        </p:nvSpPr>
        <p:spPr>
          <a:xfrm>
            <a:off x="11963400" y="2743200"/>
            <a:ext cx="5334000" cy="666750"/>
          </a:xfrm>
          <a:prstGeom prst="rect">
            <a:avLst/>
          </a:prstGeom>
          <a:solidFill>
            <a:srgbClr val="F5F5F3"/>
          </a:solidFill>
          <a:ln/>
        </p:spPr>
      </p:sp>
      <p:sp>
        <p:nvSpPr>
          <p:cNvPr id="21" name="Text 14"/>
          <p:cNvSpPr/>
          <p:nvPr/>
        </p:nvSpPr>
        <p:spPr>
          <a:xfrm>
            <a:off x="12192000" y="2914650"/>
            <a:ext cx="5036820" cy="361950"/>
          </a:xfrm>
          <a:prstGeom prst="rect">
            <a:avLst/>
          </a:prstGeom>
          <a:noFill/>
          <a:ln/>
        </p:spPr>
        <p:txBody>
          <a:bodyPr wrap="none" lIns="25400" tIns="25400" rIns="25400" bIns="25400" rtlCol="0" anchor="t">
            <a:normAutofit/>
          </a:bodyPr>
          <a:lstStyle/>
          <a:p>
            <a:pPr algn="l" indent="0" marL="0">
              <a:buNone/>
            </a:pPr>
            <a:r>
              <a:rPr lang="en-US" sz="1950" dirty="0">
                <a:solidFill>
                  <a:srgbClr val="141414"/>
                </a:solidFill>
                <a:latin typeface="Courier New" pitchFamily="34" charset="0"/>
                <a:ea typeface="Courier New" pitchFamily="34" charset="-122"/>
                <a:cs typeface="Courier New" pitchFamily="34" charset="-120"/>
              </a:rPr>
              <a:t>x_t = √ᾱ_t · x_0 + √(1 − ᾱ_t) · ε</a:t>
            </a:r>
            <a:endParaRPr lang="en-US" sz="1950" dirty="0"/>
          </a:p>
        </p:txBody>
      </p:sp>
      <p:sp>
        <p:nvSpPr>
          <p:cNvPr id="22" name="Text 15"/>
          <p:cNvSpPr/>
          <p:nvPr/>
        </p:nvSpPr>
        <p:spPr>
          <a:xfrm>
            <a:off x="11963400" y="3562350"/>
            <a:ext cx="5494020"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A5A5A"/>
                </a:solidFill>
                <a:latin typeface="Arial" pitchFamily="34" charset="0"/>
                <a:ea typeface="Arial" pitchFamily="34" charset="-122"/>
                <a:cs typeface="Arial" pitchFamily="34" charset="-120"/>
              </a:rPr>
              <a:t>Closed form: any timestep is reachable in one step, so training samples t uniformly in [0, 1000).</a:t>
            </a:r>
            <a:endParaRPr lang="en-US" sz="1800" dirty="0"/>
          </a:p>
        </p:txBody>
      </p:sp>
      <p:sp>
        <p:nvSpPr>
          <p:cNvPr id="23" name="Text 16"/>
          <p:cNvSpPr/>
          <p:nvPr/>
        </p:nvSpPr>
        <p:spPr>
          <a:xfrm>
            <a:off x="990600" y="6016228"/>
            <a:ext cx="7953077"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OBJECTIVE</a:t>
            </a:r>
            <a:endParaRPr lang="en-US" sz="1800" dirty="0"/>
          </a:p>
        </p:txBody>
      </p:sp>
      <p:sp>
        <p:nvSpPr>
          <p:cNvPr id="24" name="Shape 17"/>
          <p:cNvSpPr/>
          <p:nvPr/>
        </p:nvSpPr>
        <p:spPr>
          <a:xfrm>
            <a:off x="990600" y="6492478"/>
            <a:ext cx="7230070" cy="676275"/>
          </a:xfrm>
          <a:prstGeom prst="rect">
            <a:avLst/>
          </a:prstGeom>
          <a:solidFill>
            <a:srgbClr val="F5F5F3"/>
          </a:solidFill>
          <a:ln/>
        </p:spPr>
      </p:sp>
      <p:sp>
        <p:nvSpPr>
          <p:cNvPr id="25" name="Text 18"/>
          <p:cNvSpPr/>
          <p:nvPr/>
        </p:nvSpPr>
        <p:spPr>
          <a:xfrm>
            <a:off x="1219200" y="6663928"/>
            <a:ext cx="6989772"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41414"/>
                </a:solidFill>
                <a:latin typeface="Courier New" pitchFamily="34" charset="0"/>
                <a:ea typeface="Courier New" pitchFamily="34" charset="-122"/>
                <a:cs typeface="Courier New" pitchFamily="34" charset="-120"/>
              </a:rPr>
              <a:t>L = E_{x₀, t, ε} ‖ ε − ε_θ(x_t, t) ‖²</a:t>
            </a:r>
            <a:endParaRPr lang="en-US" sz="1950" dirty="0"/>
          </a:p>
        </p:txBody>
      </p:sp>
      <p:sp>
        <p:nvSpPr>
          <p:cNvPr id="26" name="Text 19"/>
          <p:cNvSpPr/>
          <p:nvPr/>
        </p:nvSpPr>
        <p:spPr>
          <a:xfrm>
            <a:off x="990600" y="7340203"/>
            <a:ext cx="7446972" cy="103242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41414"/>
                </a:solidFill>
                <a:latin typeface="Arial" pitchFamily="34" charset="0"/>
                <a:ea typeface="Arial" pitchFamily="34" charset="-122"/>
                <a:cs typeface="Arial" pitchFamily="34" charset="-120"/>
              </a:rPr>
              <a:t>Simple MSE between the injected noise and the noise predicted by the UNet — the ε-prediction form of the DDPM variational bound (Ho et al., 2020).</a:t>
            </a:r>
            <a:endParaRPr lang="en-US" sz="1800" dirty="0"/>
          </a:p>
        </p:txBody>
      </p:sp>
      <p:sp>
        <p:nvSpPr>
          <p:cNvPr id="27" name="Text 20"/>
          <p:cNvSpPr/>
          <p:nvPr/>
        </p:nvSpPr>
        <p:spPr>
          <a:xfrm>
            <a:off x="8982670" y="6016228"/>
            <a:ext cx="914620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TWO CONSEQUENCES FOR THIS COMPARISON</a:t>
            </a:r>
            <a:endParaRPr lang="en-US" sz="1800" dirty="0"/>
          </a:p>
        </p:txBody>
      </p:sp>
      <p:sp>
        <p:nvSpPr>
          <p:cNvPr id="28" name="Text 21"/>
          <p:cNvSpPr/>
          <p:nvPr/>
        </p:nvSpPr>
        <p:spPr>
          <a:xfrm>
            <a:off x="8982670" y="6492478"/>
            <a:ext cx="8564172" cy="103242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41414"/>
                </a:solidFill>
                <a:latin typeface="Arial" pitchFamily="34" charset="0"/>
                <a:ea typeface="Arial" pitchFamily="34" charset="-122"/>
                <a:cs typeface="Arial" pitchFamily="34" charset="-120"/>
              </a:rPr>
              <a:t>The regression target is unit Gaussian noise in both domains, so the two loss curves are numerically comparable even though x_0 is a pixel tensor in one case and a normalized spectrum in the other.</a:t>
            </a:r>
            <a:endParaRPr lang="en-US" sz="1800" dirty="0"/>
          </a:p>
        </p:txBody>
      </p:sp>
      <p:sp>
        <p:nvSpPr>
          <p:cNvPr id="29" name="Text 22"/>
          <p:cNvSpPr/>
          <p:nvPr/>
        </p:nvSpPr>
        <p:spPr>
          <a:xfrm>
            <a:off x="8982670" y="7658249"/>
            <a:ext cx="8564172" cy="103242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141414"/>
                </a:solidFill>
                <a:latin typeface="Arial" pitchFamily="34" charset="0"/>
                <a:ea typeface="Arial" pitchFamily="34" charset="-122"/>
                <a:cs typeface="Arial" pitchFamily="34" charset="-120"/>
              </a:rPr>
              <a:t>But the loss is measured in the compressed, standardized spectral space. Denormalization applies an exponential, so a small spectral residual is amplified when it returns to pixels — equal loss does not mean equal image error.</a:t>
            </a:r>
            <a:endParaRPr lang="en-US" sz="1800" dirty="0"/>
          </a:p>
        </p:txBody>
      </p:sp>
      <p:sp>
        <p:nvSpPr>
          <p:cNvPr id="30" name="Text 23"/>
          <p:cNvSpPr/>
          <p:nvPr/>
        </p:nvSpPr>
        <p:spPr>
          <a:xfrm>
            <a:off x="8982670" y="8824020"/>
            <a:ext cx="8564172" cy="70098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5A5A5A"/>
                </a:solidFill>
                <a:latin typeface="Arial" pitchFamily="34" charset="0"/>
                <a:ea typeface="Arial" pitchFamily="34" charset="-122"/>
                <a:cs typeface="Arial" pitchFamily="34" charset="-120"/>
              </a:rPr>
              <a:t>Mean loss per epoch is logged to CSV for both runs; FFT and loss are computed in fp32 under mixed-precision autocast.</a:t>
            </a:r>
            <a:endParaRPr lang="en-US" sz="1800" dirty="0"/>
          </a:p>
        </p:txBody>
      </p:sp>
      <p:sp>
        <p:nvSpPr>
          <p:cNvPr id="31" name="Text 24"/>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10 / 15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Model Evaluation — Generated Samples</a:t>
            </a:r>
            <a:endParaRPr lang="en-US" sz="4800" dirty="0"/>
          </a:p>
        </p:txBody>
      </p:sp>
      <p:sp>
        <p:nvSpPr>
          <p:cNvPr id="3" name="Shape 1"/>
          <p:cNvSpPr/>
          <p:nvPr/>
        </p:nvSpPr>
        <p:spPr>
          <a:xfrm>
            <a:off x="990600" y="1885950"/>
            <a:ext cx="16306800" cy="19050"/>
          </a:xfrm>
          <a:prstGeom prst="rect">
            <a:avLst/>
          </a:prstGeom>
          <a:solidFill>
            <a:srgbClr val="DCDCDC"/>
          </a:solidFill>
          <a:ln/>
        </p:spPr>
      </p:sp>
      <p:sp>
        <p:nvSpPr>
          <p:cNvPr id="4" name="Text 2"/>
          <p:cNvSpPr/>
          <p:nvPr/>
        </p:nvSpPr>
        <p:spPr>
          <a:xfrm>
            <a:off x="990600" y="3330625"/>
            <a:ext cx="31432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41414"/>
                </a:solidFill>
                <a:latin typeface="Arial" pitchFamily="34" charset="0"/>
                <a:ea typeface="Arial" pitchFamily="34" charset="-122"/>
                <a:cs typeface="Arial" pitchFamily="34" charset="-120"/>
              </a:rPr>
              <a:t>Real images</a:t>
            </a:r>
            <a:endParaRPr lang="en-US" sz="2550" dirty="0"/>
          </a:p>
        </p:txBody>
      </p:sp>
      <p:sp>
        <p:nvSpPr>
          <p:cNvPr id="5" name="Text 3"/>
          <p:cNvSpPr/>
          <p:nvPr/>
        </p:nvSpPr>
        <p:spPr>
          <a:xfrm>
            <a:off x="990600" y="3759250"/>
            <a:ext cx="2943225"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FFHQ validation split</a:t>
            </a:r>
            <a:endParaRPr lang="en-US" sz="1800" dirty="0"/>
          </a:p>
        </p:txBody>
      </p:sp>
      <p:sp>
        <p:nvSpPr>
          <p:cNvPr id="6" name="Shape 4"/>
          <p:cNvSpPr/>
          <p:nvPr/>
        </p:nvSpPr>
        <p:spPr>
          <a:xfrm>
            <a:off x="4114800" y="3019127"/>
            <a:ext cx="13182600" cy="1661368"/>
          </a:xfrm>
          <a:prstGeom prst="rect">
            <a:avLst/>
          </a:prstGeom>
          <a:ln w="19050">
            <a:solidFill>
              <a:srgbClr val="DCDCDC"/>
            </a:solidFill>
            <a:prstDash val="solid"/>
          </a:ln>
        </p:spPr>
      </p:sp>
      <p:pic>
        <p:nvPicPr>
          <p:cNvPr id="7" name="Image 0" descr="preencoded.png">    </p:cNvPr>
          <p:cNvPicPr>
            <a:picLocks noChangeAspect="1"/>
          </p:cNvPicPr>
          <p:nvPr/>
        </p:nvPicPr>
        <p:blipFill>
          <a:blip r:embed="rId1"/>
          <a:stretch>
            <a:fillRect/>
          </a:stretch>
        </p:blipFill>
        <p:spPr>
          <a:xfrm>
            <a:off x="4114800" y="3019127"/>
            <a:ext cx="13182600" cy="1661368"/>
          </a:xfrm>
          <a:prstGeom prst="rect">
            <a:avLst/>
          </a:prstGeom>
        </p:spPr>
      </p:pic>
      <p:sp>
        <p:nvSpPr>
          <p:cNvPr id="8" name="Text 5"/>
          <p:cNvSpPr/>
          <p:nvPr/>
        </p:nvSpPr>
        <p:spPr>
          <a:xfrm>
            <a:off x="990600" y="5353943"/>
            <a:ext cx="31432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C84F00"/>
                </a:solidFill>
                <a:latin typeface="Arial" pitchFamily="34" charset="0"/>
                <a:ea typeface="Arial" pitchFamily="34" charset="-122"/>
                <a:cs typeface="Arial" pitchFamily="34" charset="-120"/>
              </a:rPr>
              <a:t>DDPM RGB</a:t>
            </a:r>
            <a:endParaRPr lang="en-US" sz="2550" dirty="0"/>
          </a:p>
        </p:txBody>
      </p:sp>
      <p:sp>
        <p:nvSpPr>
          <p:cNvPr id="9" name="Text 6"/>
          <p:cNvSpPr/>
          <p:nvPr/>
        </p:nvSpPr>
        <p:spPr>
          <a:xfrm>
            <a:off x="990600" y="5782568"/>
            <a:ext cx="31432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baseline, 3 channels</a:t>
            </a:r>
            <a:endParaRPr lang="en-US" sz="1800" dirty="0"/>
          </a:p>
        </p:txBody>
      </p:sp>
      <p:sp>
        <p:nvSpPr>
          <p:cNvPr id="10" name="Shape 7"/>
          <p:cNvSpPr/>
          <p:nvPr/>
        </p:nvSpPr>
        <p:spPr>
          <a:xfrm>
            <a:off x="4114800" y="4890046"/>
            <a:ext cx="13182600" cy="1661368"/>
          </a:xfrm>
          <a:prstGeom prst="rect">
            <a:avLst/>
          </a:prstGeom>
          <a:ln w="19050">
            <a:solidFill>
              <a:srgbClr val="DCDCDC"/>
            </a:solidFill>
            <a:prstDash val="solid"/>
          </a:ln>
        </p:spPr>
      </p:sp>
      <p:pic>
        <p:nvPicPr>
          <p:cNvPr id="11" name="Image 1" descr="preencoded.png">    </p:cNvPr>
          <p:cNvPicPr>
            <a:picLocks noChangeAspect="1"/>
          </p:cNvPicPr>
          <p:nvPr/>
        </p:nvPicPr>
        <p:blipFill>
          <a:blip r:embed="rId2"/>
          <a:stretch>
            <a:fillRect/>
          </a:stretch>
        </p:blipFill>
        <p:spPr>
          <a:xfrm>
            <a:off x="4114800" y="4890046"/>
            <a:ext cx="13182600" cy="1661368"/>
          </a:xfrm>
          <a:prstGeom prst="rect">
            <a:avLst/>
          </a:prstGeom>
        </p:spPr>
      </p:pic>
      <p:sp>
        <p:nvSpPr>
          <p:cNvPr id="12" name="Text 8"/>
          <p:cNvSpPr/>
          <p:nvPr/>
        </p:nvSpPr>
        <p:spPr>
          <a:xfrm>
            <a:off x="990600" y="7039124"/>
            <a:ext cx="2943225" cy="781050"/>
          </a:xfrm>
          <a:prstGeom prst="rect">
            <a:avLst/>
          </a:prstGeom>
          <a:noFill/>
          <a:ln/>
        </p:spPr>
        <p:txBody>
          <a:bodyPr wrap="square" lIns="25400" tIns="25400" rIns="25400" bIns="25400" rtlCol="0" anchor="t">
            <a:normAutofit/>
          </a:bodyPr>
          <a:lstStyle/>
          <a:p>
            <a:pPr algn="l" indent="0" marL="0">
              <a:buNone/>
            </a:pPr>
            <a:r>
              <a:rPr lang="en-US" sz="2550" b="1" dirty="0">
                <a:solidFill>
                  <a:srgbClr val="137738"/>
                </a:solidFill>
                <a:latin typeface="Arial" pitchFamily="34" charset="0"/>
                <a:ea typeface="Arial" pitchFamily="34" charset="-122"/>
                <a:cs typeface="Arial" pitchFamily="34" charset="-120"/>
              </a:rPr>
              <a:t>DDPM Frequency-domain</a:t>
            </a:r>
            <a:endParaRPr lang="en-US" sz="2550" dirty="0"/>
          </a:p>
        </p:txBody>
      </p:sp>
      <p:sp>
        <p:nvSpPr>
          <p:cNvPr id="13" name="Text 9"/>
          <p:cNvSpPr/>
          <p:nvPr/>
        </p:nvSpPr>
        <p:spPr>
          <a:xfrm>
            <a:off x="990600" y="7839224"/>
            <a:ext cx="31432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6 channels, spectrum</a:t>
            </a:r>
            <a:endParaRPr lang="en-US" sz="1800" dirty="0"/>
          </a:p>
        </p:txBody>
      </p:sp>
      <p:sp>
        <p:nvSpPr>
          <p:cNvPr id="14" name="Shape 10"/>
          <p:cNvSpPr/>
          <p:nvPr/>
        </p:nvSpPr>
        <p:spPr>
          <a:xfrm>
            <a:off x="4114800" y="6760964"/>
            <a:ext cx="13182600" cy="1661368"/>
          </a:xfrm>
          <a:prstGeom prst="rect">
            <a:avLst/>
          </a:prstGeom>
          <a:ln w="19050">
            <a:solidFill>
              <a:srgbClr val="DCDCDC"/>
            </a:solidFill>
            <a:prstDash val="solid"/>
          </a:ln>
        </p:spPr>
      </p:sp>
      <p:pic>
        <p:nvPicPr>
          <p:cNvPr id="15" name="Image 2" descr="preencoded.png">    </p:cNvPr>
          <p:cNvPicPr>
            <a:picLocks noChangeAspect="1"/>
          </p:cNvPicPr>
          <p:nvPr/>
        </p:nvPicPr>
        <p:blipFill>
          <a:blip r:embed="rId3"/>
          <a:stretch>
            <a:fillRect/>
          </a:stretch>
        </p:blipFill>
        <p:spPr>
          <a:xfrm>
            <a:off x="4114800" y="6760964"/>
            <a:ext cx="13182600" cy="1661368"/>
          </a:xfrm>
          <a:prstGeom prst="rect">
            <a:avLst/>
          </a:prstGeom>
        </p:spPr>
      </p:pic>
      <p:sp>
        <p:nvSpPr>
          <p:cNvPr id="16" name="Text 11"/>
          <p:cNvSpPr/>
          <p:nvPr/>
        </p:nvSpPr>
        <p:spPr>
          <a:xfrm>
            <a:off x="990600" y="9155460"/>
            <a:ext cx="17937480" cy="369540"/>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5A5A5A"/>
                </a:solidFill>
                <a:latin typeface="Arial" pitchFamily="34" charset="0"/>
                <a:ea typeface="Arial" pitchFamily="34" charset="-122"/>
                <a:cs typeface="Arial" pitchFamily="34" charset="-120"/>
              </a:rPr>
              <a:t>Eight samples per condition, generated with deterministic DDIM (50 steps, η = 0) from the epoch-100 checkpoints.</a:t>
            </a:r>
            <a:endParaRPr lang="en-US" sz="1800" dirty="0"/>
          </a:p>
        </p:txBody>
      </p:sp>
      <p:sp>
        <p:nvSpPr>
          <p:cNvPr id="17" name="Text 12"/>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11 / 15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Model Evaluation — Visual Fidelity</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484273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RGB BASELINE</a:t>
            </a:r>
            <a:endParaRPr lang="en-US" sz="1800" dirty="0"/>
          </a:p>
        </p:txBody>
      </p:sp>
      <p:sp>
        <p:nvSpPr>
          <p:cNvPr id="5" name="Text 3"/>
          <p:cNvSpPr/>
          <p:nvPr/>
        </p:nvSpPr>
        <p:spPr>
          <a:xfrm>
            <a:off x="990600" y="2819400"/>
            <a:ext cx="3697248"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337" kern="0" dirty="0">
                <a:solidFill>
                  <a:srgbClr val="141414"/>
                </a:solidFill>
                <a:latin typeface="Arial" pitchFamily="34" charset="0"/>
                <a:ea typeface="Arial" pitchFamily="34" charset="-122"/>
                <a:cs typeface="Arial" pitchFamily="34" charset="-120"/>
              </a:rPr>
              <a:t>88.42</a:t>
            </a:r>
            <a:endParaRPr lang="en-US" sz="11250" dirty="0"/>
          </a:p>
        </p:txBody>
      </p:sp>
      <p:sp>
        <p:nvSpPr>
          <p:cNvPr id="6" name="Text 4"/>
          <p:cNvSpPr/>
          <p:nvPr/>
        </p:nvSpPr>
        <p:spPr>
          <a:xfrm>
            <a:off x="4523184" y="3619500"/>
            <a:ext cx="946100" cy="457200"/>
          </a:xfrm>
          <a:prstGeom prst="rect">
            <a:avLst/>
          </a:prstGeom>
          <a:noFill/>
          <a:ln/>
        </p:spPr>
        <p:txBody>
          <a:bodyPr wrap="none" lIns="25400" tIns="25400" rIns="25400" bIns="25400" rtlCol="0" anchor="t">
            <a:normAutofit/>
          </a:bodyPr>
          <a:lstStyle/>
          <a:p>
            <a:pPr algn="l" indent="0" marL="0">
              <a:buNone/>
            </a:pPr>
            <a:r>
              <a:rPr lang="en-US" sz="2550" dirty="0">
                <a:solidFill>
                  <a:srgbClr val="5A5A5A"/>
                </a:solidFill>
                <a:latin typeface="Arial" pitchFamily="34" charset="0"/>
                <a:ea typeface="Arial" pitchFamily="34" charset="-122"/>
                <a:cs typeface="Arial" pitchFamily="34" charset="-120"/>
              </a:rPr>
              <a:t>FID ↓</a:t>
            </a:r>
            <a:endParaRPr lang="en-US" sz="2550" dirty="0"/>
          </a:p>
        </p:txBody>
      </p:sp>
      <p:sp>
        <p:nvSpPr>
          <p:cNvPr id="7" name="Text 5"/>
          <p:cNvSpPr/>
          <p:nvPr/>
        </p:nvSpPr>
        <p:spPr>
          <a:xfrm>
            <a:off x="990600" y="4219575"/>
            <a:ext cx="1188541" cy="609600"/>
          </a:xfrm>
          <a:prstGeom prst="rect">
            <a:avLst/>
          </a:prstGeom>
          <a:noFill/>
          <a:ln/>
        </p:spPr>
        <p:txBody>
          <a:bodyPr wrap="square" lIns="25400" tIns="25400" rIns="25400" bIns="25400" rtlCol="0" anchor="t">
            <a:normAutofit/>
          </a:bodyPr>
          <a:lstStyle/>
          <a:p>
            <a:pPr algn="l" indent="0" marL="0">
              <a:lnSpc>
                <a:spcPct val="86957"/>
              </a:lnSpc>
              <a:buNone/>
            </a:pPr>
            <a:r>
              <a:rPr lang="en-US" sz="4500" b="1" dirty="0">
                <a:solidFill>
                  <a:srgbClr val="141414"/>
                </a:solidFill>
                <a:latin typeface="Arial" pitchFamily="34" charset="0"/>
                <a:ea typeface="Arial" pitchFamily="34" charset="-122"/>
                <a:cs typeface="Arial" pitchFamily="34" charset="-120"/>
              </a:rPr>
              <a:t>4.77</a:t>
            </a:r>
            <a:endParaRPr lang="en-US" sz="4500" dirty="0"/>
          </a:p>
        </p:txBody>
      </p:sp>
      <p:sp>
        <p:nvSpPr>
          <p:cNvPr id="8" name="Text 6"/>
          <p:cNvSpPr/>
          <p:nvPr/>
        </p:nvSpPr>
        <p:spPr>
          <a:xfrm>
            <a:off x="2274391" y="4457700"/>
            <a:ext cx="1260723" cy="342900"/>
          </a:xfrm>
          <a:prstGeom prst="rect">
            <a:avLst/>
          </a:prstGeom>
          <a:noFill/>
          <a:ln/>
        </p:spPr>
        <p:txBody>
          <a:bodyPr wrap="non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IS ↑ ± 0.33</a:t>
            </a:r>
            <a:endParaRPr lang="en-US" sz="1800" dirty="0"/>
          </a:p>
        </p:txBody>
      </p:sp>
      <p:sp>
        <p:nvSpPr>
          <p:cNvPr id="9" name="Text 7"/>
          <p:cNvSpPr/>
          <p:nvPr/>
        </p:nvSpPr>
        <p:spPr>
          <a:xfrm>
            <a:off x="6536085" y="2400300"/>
            <a:ext cx="5669637"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37738"/>
                </a:solidFill>
                <a:latin typeface="Courier New" pitchFamily="34" charset="0"/>
                <a:ea typeface="Courier New" pitchFamily="34" charset="-122"/>
                <a:cs typeface="Courier New" pitchFamily="34" charset="-120"/>
              </a:rPr>
              <a:t>FREQUENCY MODEL</a:t>
            </a:r>
            <a:endParaRPr lang="en-US" sz="1800" dirty="0"/>
          </a:p>
        </p:txBody>
      </p:sp>
      <p:sp>
        <p:nvSpPr>
          <p:cNvPr id="10" name="Text 8"/>
          <p:cNvSpPr/>
          <p:nvPr/>
        </p:nvSpPr>
        <p:spPr>
          <a:xfrm>
            <a:off x="6536085" y="2819400"/>
            <a:ext cx="4524152"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337" kern="0" dirty="0">
                <a:solidFill>
                  <a:srgbClr val="141414"/>
                </a:solidFill>
                <a:latin typeface="Arial" pitchFamily="34" charset="0"/>
                <a:ea typeface="Arial" pitchFamily="34" charset="-122"/>
                <a:cs typeface="Arial" pitchFamily="34" charset="-120"/>
              </a:rPr>
              <a:t>181.16</a:t>
            </a:r>
            <a:endParaRPr lang="en-US" sz="11250" dirty="0"/>
          </a:p>
        </p:txBody>
      </p:sp>
      <p:sp>
        <p:nvSpPr>
          <p:cNvPr id="11" name="Text 9"/>
          <p:cNvSpPr/>
          <p:nvPr/>
        </p:nvSpPr>
        <p:spPr>
          <a:xfrm>
            <a:off x="10820400" y="3619500"/>
            <a:ext cx="946100" cy="457200"/>
          </a:xfrm>
          <a:prstGeom prst="rect">
            <a:avLst/>
          </a:prstGeom>
          <a:noFill/>
          <a:ln/>
        </p:spPr>
        <p:txBody>
          <a:bodyPr wrap="none" lIns="25400" tIns="25400" rIns="25400" bIns="25400" rtlCol="0" anchor="t">
            <a:normAutofit/>
          </a:bodyPr>
          <a:lstStyle/>
          <a:p>
            <a:pPr algn="l" indent="0" marL="0">
              <a:buNone/>
            </a:pPr>
            <a:r>
              <a:rPr lang="en-US" sz="2550" dirty="0">
                <a:solidFill>
                  <a:srgbClr val="5A5A5A"/>
                </a:solidFill>
                <a:latin typeface="Arial" pitchFamily="34" charset="0"/>
                <a:ea typeface="Arial" pitchFamily="34" charset="-122"/>
                <a:cs typeface="Arial" pitchFamily="34" charset="-120"/>
              </a:rPr>
              <a:t>FID ↓</a:t>
            </a:r>
            <a:endParaRPr lang="en-US" sz="2550" dirty="0"/>
          </a:p>
        </p:txBody>
      </p:sp>
      <p:sp>
        <p:nvSpPr>
          <p:cNvPr id="12" name="Text 10"/>
          <p:cNvSpPr/>
          <p:nvPr/>
        </p:nvSpPr>
        <p:spPr>
          <a:xfrm>
            <a:off x="6536085" y="4219575"/>
            <a:ext cx="1188541" cy="609600"/>
          </a:xfrm>
          <a:prstGeom prst="rect">
            <a:avLst/>
          </a:prstGeom>
          <a:noFill/>
          <a:ln/>
        </p:spPr>
        <p:txBody>
          <a:bodyPr wrap="square" lIns="25400" tIns="25400" rIns="25400" bIns="25400" rtlCol="0" anchor="t">
            <a:normAutofit/>
          </a:bodyPr>
          <a:lstStyle/>
          <a:p>
            <a:pPr algn="l" indent="0" marL="0">
              <a:lnSpc>
                <a:spcPct val="86957"/>
              </a:lnSpc>
              <a:buNone/>
            </a:pPr>
            <a:r>
              <a:rPr lang="en-US" sz="4500" b="1" dirty="0">
                <a:solidFill>
                  <a:srgbClr val="141414"/>
                </a:solidFill>
                <a:latin typeface="Arial" pitchFamily="34" charset="0"/>
                <a:ea typeface="Arial" pitchFamily="34" charset="-122"/>
                <a:cs typeface="Arial" pitchFamily="34" charset="-120"/>
              </a:rPr>
              <a:t>2.57</a:t>
            </a:r>
            <a:endParaRPr lang="en-US" sz="4500" dirty="0"/>
          </a:p>
        </p:txBody>
      </p:sp>
      <p:sp>
        <p:nvSpPr>
          <p:cNvPr id="13" name="Text 11"/>
          <p:cNvSpPr/>
          <p:nvPr/>
        </p:nvSpPr>
        <p:spPr>
          <a:xfrm>
            <a:off x="7819876" y="4457700"/>
            <a:ext cx="1260723" cy="342900"/>
          </a:xfrm>
          <a:prstGeom prst="rect">
            <a:avLst/>
          </a:prstGeom>
          <a:noFill/>
          <a:ln/>
        </p:spPr>
        <p:txBody>
          <a:bodyPr wrap="non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IS ↑ ± 0.17</a:t>
            </a:r>
            <a:endParaRPr lang="en-US" sz="1800" dirty="0"/>
          </a:p>
        </p:txBody>
      </p:sp>
      <p:sp>
        <p:nvSpPr>
          <p:cNvPr id="14" name="Text 12"/>
          <p:cNvSpPr/>
          <p:nvPr/>
        </p:nvSpPr>
        <p:spPr>
          <a:xfrm>
            <a:off x="12833300" y="3133874"/>
            <a:ext cx="4598023" cy="1695301"/>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5A5A5A"/>
                </a:solidFill>
                <a:latin typeface="Arial" pitchFamily="34" charset="0"/>
                <a:ea typeface="Arial" pitchFamily="34" charset="-122"/>
                <a:cs typeface="Arial" pitchFamily="34" charset="-120"/>
              </a:rPr>
              <a:t>Computed with torchmetrics on 2,000 generated images against the 7,000-image validation split — a relative comparison between two models sharing an identical protocol, not an absolute quality figure.</a:t>
            </a:r>
            <a:endParaRPr lang="en-US" sz="1800" dirty="0"/>
          </a:p>
        </p:txBody>
      </p:sp>
      <p:sp>
        <p:nvSpPr>
          <p:cNvPr id="15" name="Text 13"/>
          <p:cNvSpPr/>
          <p:nvPr/>
        </p:nvSpPr>
        <p:spPr>
          <a:xfrm>
            <a:off x="990600" y="6843117"/>
            <a:ext cx="2097137" cy="6477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WHY THE GAP IS THIS LARGE</a:t>
            </a:r>
            <a:endParaRPr lang="en-US" sz="1800" dirty="0"/>
          </a:p>
        </p:txBody>
      </p:sp>
      <p:sp>
        <p:nvSpPr>
          <p:cNvPr id="16" name="Text 14"/>
          <p:cNvSpPr/>
          <p:nvPr/>
        </p:nvSpPr>
        <p:spPr>
          <a:xfrm>
            <a:off x="3544937" y="6766917"/>
            <a:ext cx="4355360" cy="2758083"/>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Both models share the same limited budget: 100 epochs, 11.4 M parameters and 50 DDIM steps, so neither output is accurate.</a:t>
            </a:r>
            <a:endParaRPr lang="en-US" sz="2550" dirty="0"/>
          </a:p>
        </p:txBody>
      </p:sp>
      <p:sp>
        <p:nvSpPr>
          <p:cNvPr id="17" name="Text 15"/>
          <p:cNvSpPr/>
          <p:nvPr/>
        </p:nvSpPr>
        <p:spPr>
          <a:xfrm>
            <a:off x="8306842" y="6766917"/>
            <a:ext cx="4355360" cy="2758083"/>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In RGB the residual error stays local — faces come out distorted, but they still read as faces.</a:t>
            </a:r>
            <a:endParaRPr lang="en-US" sz="2550" dirty="0"/>
          </a:p>
        </p:txBody>
      </p:sp>
      <p:sp>
        <p:nvSpPr>
          <p:cNvPr id="18" name="Text 16"/>
          <p:cNvSpPr/>
          <p:nvPr/>
        </p:nvSpPr>
        <p:spPr>
          <a:xfrm>
            <a:off x="13068746" y="6766917"/>
            <a:ext cx="4355513" cy="2758083"/>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In the spectrum every coefficient contributes to every pixel, so a small error spreads over the whole image: wrong colours, unrecognisable shapes.</a:t>
            </a:r>
            <a:endParaRPr lang="en-US" sz="2550" dirty="0"/>
          </a:p>
        </p:txBody>
      </p:sp>
      <p:sp>
        <p:nvSpPr>
          <p:cNvPr id="19" name="Text 17"/>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12 / 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Model Evaluation — Radial Power Spectrum</a:t>
            </a:r>
            <a:endParaRPr lang="en-US" sz="4800" dirty="0"/>
          </a:p>
        </p:txBody>
      </p:sp>
      <p:sp>
        <p:nvSpPr>
          <p:cNvPr id="3" name="Shape 1"/>
          <p:cNvSpPr/>
          <p:nvPr/>
        </p:nvSpPr>
        <p:spPr>
          <a:xfrm>
            <a:off x="990600" y="1885950"/>
            <a:ext cx="16306800" cy="19050"/>
          </a:xfrm>
          <a:prstGeom prst="rect">
            <a:avLst/>
          </a:prstGeom>
          <a:solidFill>
            <a:srgbClr val="DCDCDC"/>
          </a:solidFill>
          <a:ln/>
        </p:spPr>
      </p:sp>
      <p:pic>
        <p:nvPicPr>
          <p:cNvPr id="4" name="Image 0" descr="preencoded.png">    </p:cNvPr>
          <p:cNvPicPr>
            <a:picLocks noChangeAspect="1"/>
          </p:cNvPicPr>
          <p:nvPr/>
        </p:nvPicPr>
        <p:blipFill>
          <a:blip r:embed="rId1"/>
          <a:srcRect l="-1" r="-1" t="0" b="0"/>
          <a:stretch/>
        </p:blipFill>
        <p:spPr>
          <a:xfrm>
            <a:off x="990600" y="2515344"/>
            <a:ext cx="7772400" cy="5137547"/>
          </a:xfrm>
          <a:prstGeom prst="rect">
            <a:avLst/>
          </a:prstGeom>
        </p:spPr>
      </p:pic>
      <p:sp>
        <p:nvSpPr>
          <p:cNvPr id="5" name="Text 2"/>
          <p:cNvSpPr/>
          <p:nvPr/>
        </p:nvSpPr>
        <p:spPr>
          <a:xfrm>
            <a:off x="9525000" y="2286000"/>
            <a:ext cx="8005572" cy="811411"/>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5A5A5A"/>
                </a:solidFill>
                <a:latin typeface="Arial" pitchFamily="34" charset="0"/>
                <a:ea typeface="Arial" pitchFamily="34" charset="-122"/>
                <a:cs typeface="Arial" pitchFamily="34" charset="-120"/>
              </a:rPr>
              <a:t>Power spectra azimuthally averaged into 64 radial bins, 256 images per condition, log scale.</a:t>
            </a:r>
            <a:endParaRPr lang="en-US" sz="2100" dirty="0"/>
          </a:p>
        </p:txBody>
      </p:sp>
      <p:sp>
        <p:nvSpPr>
          <p:cNvPr id="6" name="Text 3"/>
          <p:cNvSpPr/>
          <p:nvPr/>
        </p:nvSpPr>
        <p:spPr>
          <a:xfrm>
            <a:off x="9525000" y="3306961"/>
            <a:ext cx="8005572"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The RGB baseline follows the real curve closely over the informative range and shows no regular grid peaks.</a:t>
            </a:r>
            <a:endParaRPr lang="en-US" sz="2550" dirty="0"/>
          </a:p>
        </p:txBody>
      </p:sp>
      <p:sp>
        <p:nvSpPr>
          <p:cNvPr id="7" name="Text 4"/>
          <p:cNvSpPr/>
          <p:nvPr/>
        </p:nvSpPr>
        <p:spPr>
          <a:xfrm>
            <a:off x="9525000" y="4914602"/>
            <a:ext cx="8005572"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The frequency model sits roughly an order of magnitude below the real curve at every radius and falls further in the high-frequency tail: it under-generates spectral energy rather than matching it.</a:t>
            </a:r>
            <a:endParaRPr lang="en-US" sz="2550" dirty="0"/>
          </a:p>
        </p:txBody>
      </p:sp>
      <p:sp>
        <p:nvSpPr>
          <p:cNvPr id="8" name="Text 5"/>
          <p:cNvSpPr/>
          <p:nvPr/>
        </p:nvSpPr>
        <p:spPr>
          <a:xfrm>
            <a:off x="9525000" y="6975574"/>
            <a:ext cx="8005572"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141414"/>
                </a:solidFill>
                <a:latin typeface="Arial" pitchFamily="34" charset="0"/>
                <a:ea typeface="Arial" pitchFamily="34" charset="-122"/>
                <a:cs typeface="Arial" pitchFamily="34" charset="-120"/>
              </a:rPr>
              <a:t>Diffusing on the spectrum did not improve spectral realism under an identical training budget.</a:t>
            </a:r>
            <a:endParaRPr lang="en-US" sz="2550" dirty="0"/>
          </a:p>
        </p:txBody>
      </p:sp>
      <p:sp>
        <p:nvSpPr>
          <p:cNvPr id="9" name="Text 6"/>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13 / 15</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Conclusions</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990600" y="2400300"/>
            <a:ext cx="84658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52B4"/>
                </a:solidFill>
                <a:latin typeface="Courier New" pitchFamily="34" charset="0"/>
                <a:ea typeface="Courier New" pitchFamily="34" charset="-122"/>
                <a:cs typeface="Courier New" pitchFamily="34" charset="-120"/>
              </a:rPr>
              <a:t>FINDINGS</a:t>
            </a:r>
            <a:endParaRPr lang="en-US" sz="1800" dirty="0"/>
          </a:p>
        </p:txBody>
      </p:sp>
      <p:sp>
        <p:nvSpPr>
          <p:cNvPr id="5" name="Text 3"/>
          <p:cNvSpPr/>
          <p:nvPr/>
        </p:nvSpPr>
        <p:spPr>
          <a:xfrm>
            <a:off x="990600" y="2952750"/>
            <a:ext cx="7927086"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A DDPM can be trained end-to-end on the Fourier spectrum once the 1/f dynamic range is compressed and standardized, at ≈3% extra cost per step.</a:t>
            </a:r>
            <a:endParaRPr lang="en-US" sz="2550" dirty="0"/>
          </a:p>
        </p:txBody>
      </p:sp>
      <p:sp>
        <p:nvSpPr>
          <p:cNvPr id="6" name="Text 4"/>
          <p:cNvSpPr/>
          <p:nvPr/>
        </p:nvSpPr>
        <p:spPr>
          <a:xfrm>
            <a:off x="990600" y="4560391"/>
            <a:ext cx="7927086"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Under an identical budget it is worse than the spatial baseline on both perceptual quality and spectral fidelity.</a:t>
            </a:r>
            <a:endParaRPr lang="en-US" sz="2550" dirty="0"/>
          </a:p>
        </p:txBody>
      </p:sp>
      <p:sp>
        <p:nvSpPr>
          <p:cNvPr id="7" name="Text 5"/>
          <p:cNvSpPr/>
          <p:nvPr/>
        </p:nvSpPr>
        <p:spPr>
          <a:xfrm>
            <a:off x="990600" y="6168033"/>
            <a:ext cx="7927086"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5A5A5A"/>
                </a:solidFill>
                <a:latin typeface="Arial" pitchFamily="34" charset="0"/>
                <a:ea typeface="Arial" pitchFamily="34" charset="-122"/>
                <a:cs typeface="Arial" pitchFamily="34" charset="-120"/>
              </a:rPr>
              <a:t>The likely cause is Hermitian redundancy: the real/imaginary parameterization carries ≈2× redundant information and the inverse transform discards the residual imaginary component, so part of the capacity is spent on an output that is thrown away.</a:t>
            </a:r>
            <a:endParaRPr lang="en-US" sz="2100" dirty="0"/>
          </a:p>
        </p:txBody>
      </p:sp>
      <p:sp>
        <p:nvSpPr>
          <p:cNvPr id="8" name="Text 6"/>
          <p:cNvSpPr/>
          <p:nvPr/>
        </p:nvSpPr>
        <p:spPr>
          <a:xfrm>
            <a:off x="9601200" y="2400300"/>
            <a:ext cx="846582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C84F00"/>
                </a:solidFill>
                <a:latin typeface="Courier New" pitchFamily="34" charset="0"/>
                <a:ea typeface="Courier New" pitchFamily="34" charset="-122"/>
                <a:cs typeface="Courier New" pitchFamily="34" charset="-120"/>
              </a:rPr>
              <a:t>FUTURE WORK</a:t>
            </a:r>
            <a:endParaRPr lang="en-US" sz="1800" dirty="0"/>
          </a:p>
        </p:txBody>
      </p:sp>
      <p:sp>
        <p:nvSpPr>
          <p:cNvPr id="9" name="Text 7"/>
          <p:cNvSpPr/>
          <p:nvPr/>
        </p:nvSpPr>
        <p:spPr>
          <a:xfrm>
            <a:off x="9601200" y="2952750"/>
            <a:ext cx="7927086"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Remove the redundancy with a half-spectrum (rfft2) or magnitude/phase parameterization.</a:t>
            </a:r>
            <a:endParaRPr lang="en-US" sz="2550" dirty="0"/>
          </a:p>
        </p:txBody>
      </p:sp>
      <p:sp>
        <p:nvSpPr>
          <p:cNvPr id="10" name="Text 8"/>
          <p:cNvSpPr/>
          <p:nvPr/>
        </p:nvSpPr>
        <p:spPr>
          <a:xfrm>
            <a:off x="9601200" y="4107061"/>
            <a:ext cx="7927086"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Add EMA weights, which diffusion models normally benefit from and which was omitted to keep the two pipelines identical.</a:t>
            </a:r>
            <a:endParaRPr lang="en-US" sz="2550" dirty="0"/>
          </a:p>
        </p:txBody>
      </p:sp>
      <p:sp>
        <p:nvSpPr>
          <p:cNvPr id="11" name="Text 9"/>
          <p:cNvSpPr/>
          <p:nvPr/>
        </p:nvSpPr>
        <p:spPr>
          <a:xfrm>
            <a:off x="9601200" y="5714702"/>
            <a:ext cx="7927086" cy="1851422"/>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Train a fuller DDPM before judging the domain: many more epochs and a wider network, since error in the spectrum is global and needs a more accurate generator.</a:t>
            </a:r>
            <a:endParaRPr lang="en-US" sz="2550" dirty="0"/>
          </a:p>
        </p:txBody>
      </p:sp>
      <p:sp>
        <p:nvSpPr>
          <p:cNvPr id="12" name="Text 10"/>
          <p:cNvSpPr/>
          <p:nvPr/>
        </p:nvSpPr>
        <p:spPr>
          <a:xfrm>
            <a:off x="9601200" y="7775674"/>
            <a:ext cx="7927086" cy="139809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141414"/>
                </a:solidFill>
                <a:latin typeface="Arial" pitchFamily="34" charset="0"/>
                <a:ea typeface="Arial" pitchFamily="34" charset="-122"/>
                <a:cs typeface="Arial" pitchFamily="34" charset="-120"/>
              </a:rPr>
              <a:t>Recompute FID on 10k–50k samples, and test both generators against a trained frequency-based detector.</a:t>
            </a:r>
            <a:endParaRPr lang="en-US" sz="2550" dirty="0"/>
          </a:p>
        </p:txBody>
      </p:sp>
      <p:sp>
        <p:nvSpPr>
          <p:cNvPr id="13" name="Text 11"/>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14 / 15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90600" y="914400"/>
            <a:ext cx="17937480" cy="742950"/>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141414"/>
                </a:solidFill>
                <a:latin typeface="Arial" pitchFamily="34" charset="0"/>
                <a:ea typeface="Arial" pitchFamily="34" charset="-122"/>
                <a:cs typeface="Arial" pitchFamily="34" charset="-120"/>
              </a:rPr>
              <a:t>References</a:t>
            </a:r>
            <a:endParaRPr lang="en-US" sz="4800" dirty="0"/>
          </a:p>
        </p:txBody>
      </p:sp>
      <p:sp>
        <p:nvSpPr>
          <p:cNvPr id="3" name="Shape 1"/>
          <p:cNvSpPr/>
          <p:nvPr/>
        </p:nvSpPr>
        <p:spPr>
          <a:xfrm>
            <a:off x="990600" y="1924050"/>
            <a:ext cx="16306800" cy="19050"/>
          </a:xfrm>
          <a:prstGeom prst="rect">
            <a:avLst/>
          </a:prstGeom>
          <a:solidFill>
            <a:srgbClr val="DCDCDC"/>
          </a:solidFill>
          <a:ln/>
        </p:spPr>
      </p:sp>
      <p:sp>
        <p:nvSpPr>
          <p:cNvPr id="4" name="Text 2"/>
          <p:cNvSpPr/>
          <p:nvPr/>
        </p:nvSpPr>
        <p:spPr>
          <a:xfrm>
            <a:off x="1085850" y="2400300"/>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1"/>
            </a:pPr>
            <a:r>
              <a:rPr lang="en-US" sz="2100" dirty="0">
                <a:solidFill>
                  <a:srgbClr val="141414"/>
                </a:solidFill>
                <a:latin typeface="Arial" pitchFamily="34" charset="0"/>
                <a:ea typeface="Arial" pitchFamily="34" charset="-122"/>
                <a:cs typeface="Arial" pitchFamily="34" charset="-120"/>
              </a:rPr>
              <a:t>Ho, J., Jain, A., Abbeel, P.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Denoising Diffusion Probabilistic Models.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NeurIPS 2020.</a:t>
            </a:r>
            <a:endParaRPr lang="en-US" sz="2100" dirty="0"/>
          </a:p>
        </p:txBody>
      </p:sp>
      <p:sp>
        <p:nvSpPr>
          <p:cNvPr id="5" name="Text 3"/>
          <p:cNvSpPr/>
          <p:nvPr/>
        </p:nvSpPr>
        <p:spPr>
          <a:xfrm>
            <a:off x="1085850" y="2973586"/>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2"/>
            </a:pPr>
            <a:r>
              <a:rPr lang="en-US" sz="2100" dirty="0">
                <a:solidFill>
                  <a:srgbClr val="141414"/>
                </a:solidFill>
                <a:latin typeface="Arial" pitchFamily="34" charset="0"/>
                <a:ea typeface="Arial" pitchFamily="34" charset="-122"/>
                <a:cs typeface="Arial" pitchFamily="34" charset="-120"/>
              </a:rPr>
              <a:t>Song, J., Meng, C., Ermon, S.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Denoising Diffusion Implicit Models.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ICLR 2021.</a:t>
            </a:r>
            <a:endParaRPr lang="en-US" sz="2100" dirty="0"/>
          </a:p>
        </p:txBody>
      </p:sp>
      <p:sp>
        <p:nvSpPr>
          <p:cNvPr id="6" name="Text 4"/>
          <p:cNvSpPr/>
          <p:nvPr/>
        </p:nvSpPr>
        <p:spPr>
          <a:xfrm>
            <a:off x="1085850" y="3546872"/>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3"/>
            </a:pPr>
            <a:r>
              <a:rPr lang="en-US" sz="2100" dirty="0">
                <a:solidFill>
                  <a:srgbClr val="141414"/>
                </a:solidFill>
                <a:latin typeface="Arial" pitchFamily="34" charset="0"/>
                <a:ea typeface="Arial" pitchFamily="34" charset="-122"/>
                <a:cs typeface="Arial" pitchFamily="34" charset="-120"/>
              </a:rPr>
              <a:t>Frank, J., et al.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Leveraging Frequency Analysis for Deep Fake Image Recognition.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ICML 2020.</a:t>
            </a:r>
            <a:endParaRPr lang="en-US" sz="2100" dirty="0"/>
          </a:p>
        </p:txBody>
      </p:sp>
      <p:sp>
        <p:nvSpPr>
          <p:cNvPr id="7" name="Text 5"/>
          <p:cNvSpPr/>
          <p:nvPr/>
        </p:nvSpPr>
        <p:spPr>
          <a:xfrm>
            <a:off x="1085850" y="4120158"/>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4"/>
            </a:pPr>
            <a:r>
              <a:rPr lang="en-US" sz="2100" dirty="0">
                <a:solidFill>
                  <a:srgbClr val="141414"/>
                </a:solidFill>
                <a:latin typeface="Arial" pitchFamily="34" charset="0"/>
                <a:ea typeface="Arial" pitchFamily="34" charset="-122"/>
                <a:cs typeface="Arial" pitchFamily="34" charset="-120"/>
              </a:rPr>
              <a:t>Corvi, R., et al.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On the Detection of Synthetic Images Generated by Diffusion Models.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ICASSP 2023.</a:t>
            </a:r>
            <a:endParaRPr lang="en-US" sz="2100" dirty="0"/>
          </a:p>
        </p:txBody>
      </p:sp>
      <p:sp>
        <p:nvSpPr>
          <p:cNvPr id="8" name="Text 6"/>
          <p:cNvSpPr/>
          <p:nvPr/>
        </p:nvSpPr>
        <p:spPr>
          <a:xfrm>
            <a:off x="1085850" y="4693444"/>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5"/>
            </a:pPr>
            <a:r>
              <a:rPr lang="en-US" sz="2100" dirty="0">
                <a:solidFill>
                  <a:srgbClr val="141414"/>
                </a:solidFill>
                <a:latin typeface="Arial" pitchFamily="34" charset="0"/>
                <a:ea typeface="Arial" pitchFamily="34" charset="-122"/>
                <a:cs typeface="Arial" pitchFamily="34" charset="-120"/>
              </a:rPr>
              <a:t>Xu, L., et al.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Text-to-Image with Frequency Domain Diffusion Models.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SPIE 2025.</a:t>
            </a:r>
            <a:endParaRPr lang="en-US" sz="2100" dirty="0"/>
          </a:p>
        </p:txBody>
      </p:sp>
      <p:sp>
        <p:nvSpPr>
          <p:cNvPr id="9" name="Text 7"/>
          <p:cNvSpPr/>
          <p:nvPr/>
        </p:nvSpPr>
        <p:spPr>
          <a:xfrm>
            <a:off x="1085850" y="5266730"/>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6"/>
            </a:pPr>
            <a:r>
              <a:rPr lang="en-US" sz="2100" dirty="0">
                <a:solidFill>
                  <a:srgbClr val="141414"/>
                </a:solidFill>
                <a:latin typeface="Arial" pitchFamily="34" charset="0"/>
                <a:ea typeface="Arial" pitchFamily="34" charset="-122"/>
                <a:cs typeface="Arial" pitchFamily="34" charset="-120"/>
              </a:rPr>
              <a:t>Song, T., et al.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FilterDiff: Noise-free Frequency-domain Diffusion Models for Accelerated MRI Reconstruction.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MICCAI 2025.</a:t>
            </a:r>
            <a:endParaRPr lang="en-US" sz="2100" dirty="0"/>
          </a:p>
        </p:txBody>
      </p:sp>
      <p:sp>
        <p:nvSpPr>
          <p:cNvPr id="10" name="Text 8"/>
          <p:cNvSpPr/>
          <p:nvPr/>
        </p:nvSpPr>
        <p:spPr>
          <a:xfrm>
            <a:off x="1085850" y="5840016"/>
            <a:ext cx="17792700" cy="420886"/>
          </a:xfrm>
          <a:prstGeom prst="rect">
            <a:avLst/>
          </a:prstGeom>
          <a:noFill/>
          <a:ln/>
        </p:spPr>
        <p:txBody>
          <a:bodyPr wrap="square" lIns="25400" tIns="25400" rIns="25400" bIns="25400" rtlCol="0" anchor="t">
            <a:normAutofit/>
          </a:bodyPr>
          <a:lstStyle/>
          <a:p>
            <a:pPr algn="l" marL="400050" indent="-400050">
              <a:lnSpc>
                <a:spcPct val="122500"/>
              </a:lnSpc>
              <a:buSzPct val="100000"/>
              <a:buFont typeface="+mj-lt"/>
              <a:buAutoNum type="arabicPeriod" startAt="7"/>
            </a:pPr>
            <a:r>
              <a:rPr lang="en-US" sz="2100" dirty="0">
                <a:solidFill>
                  <a:srgbClr val="141414"/>
                </a:solidFill>
                <a:latin typeface="Arial" pitchFamily="34" charset="0"/>
                <a:ea typeface="Arial" pitchFamily="34" charset="-122"/>
                <a:cs typeface="Arial" pitchFamily="34" charset="-120"/>
              </a:rPr>
              <a:t>Karras, T., Laine, S., Aila, T. — </a:t>
            </a:r>
            <a:pPr algn="l" indent="0" marL="0">
              <a:lnSpc>
                <a:spcPct val="122500"/>
              </a:lnSpc>
              <a:buNone/>
            </a:pPr>
            <a:r>
              <a:rPr lang="en-US" sz="2100" i="1" dirty="0">
                <a:solidFill>
                  <a:srgbClr val="141414"/>
                </a:solidFill>
                <a:latin typeface="Arial" pitchFamily="34" charset="0"/>
                <a:ea typeface="Arial" pitchFamily="34" charset="-122"/>
                <a:cs typeface="Arial" pitchFamily="34" charset="-120"/>
              </a:rPr>
              <a:t>A Style-Based Generator Architecture for Generative Adversarial Networks. </a:t>
            </a:r>
            <a:pPr algn="l" indent="0" marL="0">
              <a:lnSpc>
                <a:spcPct val="122500"/>
              </a:lnSpc>
              <a:buNone/>
            </a:pPr>
            <a:r>
              <a:rPr lang="en-US" sz="2100" dirty="0">
                <a:solidFill>
                  <a:srgbClr val="141414"/>
                </a:solidFill>
                <a:latin typeface="Arial" pitchFamily="34" charset="0"/>
                <a:ea typeface="Arial" pitchFamily="34" charset="-122"/>
                <a:cs typeface="Arial" pitchFamily="34" charset="-120"/>
              </a:rPr>
              <a:t>CVPR 2019. (FFHQ)</a:t>
            </a:r>
            <a:endParaRPr lang="en-US" sz="2100" dirty="0"/>
          </a:p>
        </p:txBody>
      </p:sp>
      <p:sp>
        <p:nvSpPr>
          <p:cNvPr id="11" name="Text 9"/>
          <p:cNvSpPr/>
          <p:nvPr/>
        </p:nvSpPr>
        <p:spPr>
          <a:xfrm>
            <a:off x="990600" y="9113639"/>
            <a:ext cx="17937480" cy="41136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5A5A5A"/>
                </a:solidFill>
                <a:latin typeface="Arial" pitchFamily="34" charset="0"/>
                <a:ea typeface="Arial" pitchFamily="34" charset="-122"/>
                <a:cs typeface="Arial" pitchFamily="34" charset="-120"/>
              </a:rPr>
              <a:t>Implementation: PyTorch 2.14, torchmetrics for FID and Inception Score. Dataset via the Kaggle FFHQ mirror.</a:t>
            </a:r>
            <a:endParaRPr lang="en-US" sz="2100" dirty="0"/>
          </a:p>
        </p:txBody>
      </p:sp>
      <p:sp>
        <p:nvSpPr>
          <p:cNvPr id="12" name="Text 10"/>
          <p:cNvSpPr/>
          <p:nvPr/>
        </p:nvSpPr>
        <p:spPr>
          <a:xfrm>
            <a:off x="16337161" y="960120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Courier New" pitchFamily="34" charset="0"/>
                <a:ea typeface="Courier New" pitchFamily="34" charset="-122"/>
                <a:cs typeface="Courier New" pitchFamily="34" charset="-120"/>
              </a:rPr>
              <a:t>15 / 15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2026-09-09T21:59:12Z</dcterms:created>
  <dcterms:modified xsi:type="dcterms:W3CDTF">2026-09-09T21:59:12Z</dcterms:modified>
</cp:coreProperties>
</file>