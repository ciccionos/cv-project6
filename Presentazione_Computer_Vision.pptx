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97"/>
    <p:restoredTop sz="94610"/>
  </p:normalViewPr>
  <p:slideViewPr>
    <p:cSldViewPr snapToGrid="0" snapToObjects="1">
      <p:cViewPr varScale="1">
        <p:scale>
          <a:sx n="78" d="100"/>
          <a:sy n="78" d="100"/>
        </p:scale>
        <p:origin x="-96" y="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5431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Francesco Malafarina and Mirco Soriano, and this is Project 6: frequency-domain diffusion models for deepfake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four movements: the forensic problem, the method, the setup, and what the numbers say.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Generators are convincing to the eye but not to the spectrum. Detectors live on that gap. Our question is whether training in the spectrum closes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lines of work meet here: forensic frequency analysis, the DDPM (Denoising Diffusion Probabilistic Model)/DDIM (Denoising Diffusion Implicit Model) family, and frequency-domain diffusion used elsewhere for speed. The controlled comparison is missing.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FFHQ (Flickr Face High Quality), seventy thousand faces, resized to 128 pixels. Faces are a good choice here: aligned, homogeneous content, and the reference domain for deepfake work.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spectrum is complex; the network is real. We split real and imaginary parts into six channels. Orthonormal transform preserves energy, fftshift centres the DC term so convolutions see a coherent layout.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problem the assignment calls out. Raw coefficients follow a 1/f law, so a single isotropic noise schedule destroys high frequencies immediately and barely touches DC. Two stages fix it: signed log compression pulls the range from about plus or minus thirty down to plus or minus three and a half, then per-channel standardization brings the standard deviation close to one. The histogram shows both distributions stay centred at zero; the radial plot shows the relative decay across frequency is preserved, so no information is discarded.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Textbook DDPM UNet, 11.4 million parameters, attention only at 8 by 8. The only structural difference between the two models is the number of input and output channels. DDIM with eta zero gives a twenty-fold inference speed-up.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held fixed except the diffusion domain: same UNet, same split, same schedule, same optimizer, same epochs, same sampler. Ten and a half hours of training in total.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objective is the standard noise-prediction MSE. Two points matter here. First, the target is always unit Gaussian noise, so the two losses are numerically comparable even though the inputs live in different domains. Second, the loss is measured in the compressed, standardized spectral space, not in pixels — so equal loss does not mean equal image error, and that asymmetry is part of why the frequency samples look worse.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DDIM samples per condition, same seed protocol. Real on top. The RGB row is distorted but still reads as faces. The frequency row keeps a global face layout, but colours and shapes drift.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perceptual metrics the baseline wins clearly: FID 88 against 181. But read the gap carefully: with 100 epochs and 50 DDIM steps neither model is accurate. In RGB an error stays local, so we still get recognisable faces. In the frequency domain every coefficient touches every pixel, so a tiny error in the spectrum becomes a global one. FID here is on two thousand images, so treat it as relative.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forensic core. The RGB curve tracks the real one almost exactly; the frequency curve sits about an order of magnitude below across the whole range and drops further in the tail. So the hypothesis is not confirmed: training in the spectrum did not improve spectral realism.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result, but a clean one, and we can name two causes: Hermitian redundancy, and the fact that the frequency model is far less tolerant of an inaccurate generator, because every spectral error is global. A fuller DDPM — more epochs, a wider network — is the first thing to try before drawing a conclusion about the domain.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the dataset source. Thank you —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90600" y="914400"/>
            <a:ext cx="1714500" cy="76200"/>
          </a:xfrm>
          <a:prstGeom prst="rect">
            <a:avLst/>
          </a:prstGeom>
          <a:solidFill>
            <a:srgbClr val="0052B4"/>
          </a:solidFill>
          <a:ln/>
        </p:spPr>
      </p:sp>
      <p:sp>
        <p:nvSpPr>
          <p:cNvPr id="3" name="Text 1"/>
          <p:cNvSpPr/>
          <p:nvPr/>
        </p:nvSpPr>
        <p:spPr>
          <a:xfrm>
            <a:off x="990600" y="1524000"/>
            <a:ext cx="14716125" cy="2098477"/>
          </a:xfrm>
          <a:prstGeom prst="rect">
            <a:avLst/>
          </a:prstGeom>
          <a:noFill/>
          <a:ln/>
        </p:spPr>
        <p:txBody>
          <a:bodyPr wrap="square" lIns="25400" tIns="25400" rIns="25400" bIns="25400" rtlCol="0" anchor="t">
            <a:normAutofit lnSpcReduction="10000"/>
          </a:bodyPr>
          <a:lstStyle/>
          <a:p>
            <a:pPr marL="0" indent="0" algn="l">
              <a:lnSpc>
                <a:spcPct val="90510"/>
              </a:lnSpc>
              <a:buNone/>
            </a:pPr>
            <a:r>
              <a:rPr lang="en-US" sz="7800" b="1" kern="0" spc="-156" dirty="0">
                <a:solidFill>
                  <a:srgbClr val="141414"/>
                </a:solidFill>
                <a:latin typeface="Arial" pitchFamily="34" charset="0"/>
                <a:ea typeface="Arial" pitchFamily="34" charset="-122"/>
                <a:cs typeface="Arial" pitchFamily="34" charset="-120"/>
              </a:rPr>
              <a:t>Frequency-Domain Diffusion Models</a:t>
            </a:r>
            <a:endParaRPr lang="en-US" sz="7800" dirty="0"/>
          </a:p>
        </p:txBody>
      </p:sp>
      <p:sp>
        <p:nvSpPr>
          <p:cNvPr id="4" name="Text 2"/>
          <p:cNvSpPr/>
          <p:nvPr/>
        </p:nvSpPr>
        <p:spPr>
          <a:xfrm>
            <a:off x="990600" y="3812977"/>
            <a:ext cx="14668500" cy="561975"/>
          </a:xfrm>
          <a:prstGeom prst="rect">
            <a:avLst/>
          </a:prstGeom>
          <a:noFill/>
          <a:ln/>
        </p:spPr>
        <p:txBody>
          <a:bodyPr wrap="square" lIns="25400" tIns="25400" rIns="25400" bIns="25400" rtlCol="0" anchor="t">
            <a:normAutofit lnSpcReduction="10000"/>
          </a:bodyPr>
          <a:lstStyle/>
          <a:p>
            <a:pPr marL="0" indent="0" algn="l">
              <a:lnSpc>
                <a:spcPct val="107843"/>
              </a:lnSpc>
              <a:buNone/>
            </a:pPr>
            <a:r>
              <a:rPr lang="en-US" sz="3300" dirty="0">
                <a:solidFill>
                  <a:srgbClr val="0052B4"/>
                </a:solidFill>
                <a:latin typeface="Arial" pitchFamily="34" charset="0"/>
                <a:ea typeface="Arial" pitchFamily="34" charset="-122"/>
                <a:cs typeface="Arial" pitchFamily="34" charset="-120"/>
              </a:rPr>
              <a:t>Synthesizing Spectral Fingerprints for Deepfake Analysis</a:t>
            </a:r>
            <a:endParaRPr lang="en-US" sz="3300" dirty="0"/>
          </a:p>
        </p:txBody>
      </p:sp>
      <p:sp>
        <p:nvSpPr>
          <p:cNvPr id="5" name="Text 3"/>
          <p:cNvSpPr/>
          <p:nvPr/>
        </p:nvSpPr>
        <p:spPr>
          <a:xfrm>
            <a:off x="990600" y="8229600"/>
            <a:ext cx="2865269" cy="381000"/>
          </a:xfrm>
          <a:prstGeom prst="rect">
            <a:avLst/>
          </a:prstGeom>
          <a:noFill/>
          <a:ln/>
        </p:spPr>
        <p:txBody>
          <a:bodyPr wrap="square" lIns="25400" tIns="25400" rIns="25400" bIns="25400" rtlCol="0" anchor="t">
            <a:normAutofit lnSpcReduction="10000"/>
          </a:bodyPr>
          <a:lstStyle/>
          <a:p>
            <a:pPr marL="0" indent="0" algn="l">
              <a:lnSpc>
                <a:spcPct val="133333"/>
              </a:lnSpc>
              <a:buNone/>
            </a:pPr>
            <a:r>
              <a:rPr lang="en-US" sz="1800" kern="0" spc="144" dirty="0">
                <a:solidFill>
                  <a:srgbClr val="5A5A5A"/>
                </a:solidFill>
                <a:latin typeface="Courier New" pitchFamily="34" charset="0"/>
                <a:ea typeface="Courier New" pitchFamily="34" charset="-122"/>
                <a:cs typeface="Courier New" pitchFamily="34" charset="-120"/>
              </a:rPr>
              <a:t>AUTHORS</a:t>
            </a:r>
            <a:endParaRPr lang="en-US" sz="1800" dirty="0"/>
          </a:p>
        </p:txBody>
      </p:sp>
      <p:sp>
        <p:nvSpPr>
          <p:cNvPr id="6" name="Text 4"/>
          <p:cNvSpPr/>
          <p:nvPr/>
        </p:nvSpPr>
        <p:spPr>
          <a:xfrm>
            <a:off x="990600" y="8629650"/>
            <a:ext cx="2865269" cy="438150"/>
          </a:xfrm>
          <a:prstGeom prst="rect">
            <a:avLst/>
          </a:prstGeom>
          <a:noFill/>
          <a:ln/>
        </p:spPr>
        <p:txBody>
          <a:bodyPr wrap="square" lIns="25400" tIns="25400" rIns="25400" bIns="25400" rtlCol="0" anchor="t">
            <a:normAutofit/>
          </a:bodyPr>
          <a:lstStyle/>
          <a:p>
            <a:pPr marL="0" indent="0" algn="l">
              <a:lnSpc>
                <a:spcPct val="129231"/>
              </a:lnSpc>
              <a:buNone/>
            </a:pPr>
            <a:r>
              <a:rPr lang="en-US" sz="2100" dirty="0">
                <a:solidFill>
                  <a:srgbClr val="141414"/>
                </a:solidFill>
                <a:latin typeface="Arial" pitchFamily="34" charset="0"/>
                <a:ea typeface="Arial" pitchFamily="34" charset="-122"/>
                <a:cs typeface="Arial" pitchFamily="34" charset="-120"/>
              </a:rPr>
              <a:t>Francesco Malafarina</a:t>
            </a:r>
            <a:endParaRPr lang="en-US" sz="2100" dirty="0"/>
          </a:p>
        </p:txBody>
      </p:sp>
      <p:sp>
        <p:nvSpPr>
          <p:cNvPr id="7" name="Text 5"/>
          <p:cNvSpPr/>
          <p:nvPr/>
        </p:nvSpPr>
        <p:spPr>
          <a:xfrm>
            <a:off x="990600" y="9086850"/>
            <a:ext cx="2865269" cy="438150"/>
          </a:xfrm>
          <a:prstGeom prst="rect">
            <a:avLst/>
          </a:prstGeom>
          <a:noFill/>
          <a:ln/>
        </p:spPr>
        <p:txBody>
          <a:bodyPr wrap="square" lIns="25400" tIns="25400" rIns="25400" bIns="25400" rtlCol="0" anchor="t">
            <a:normAutofit/>
          </a:bodyPr>
          <a:lstStyle/>
          <a:p>
            <a:pPr marL="0" indent="0" algn="l">
              <a:lnSpc>
                <a:spcPct val="129231"/>
              </a:lnSpc>
              <a:buNone/>
            </a:pPr>
            <a:r>
              <a:rPr lang="en-US" sz="2100" dirty="0">
                <a:solidFill>
                  <a:srgbClr val="141414"/>
                </a:solidFill>
                <a:latin typeface="Arial" pitchFamily="34" charset="0"/>
                <a:ea typeface="Arial" pitchFamily="34" charset="-122"/>
                <a:cs typeface="Arial" pitchFamily="34" charset="-120"/>
              </a:rPr>
              <a:t>Mirco Soriano</a:t>
            </a:r>
            <a:endParaRPr lang="en-US" sz="2100" dirty="0"/>
          </a:p>
        </p:txBody>
      </p:sp>
      <p:sp>
        <p:nvSpPr>
          <p:cNvPr id="8" name="Text 6"/>
          <p:cNvSpPr/>
          <p:nvPr/>
        </p:nvSpPr>
        <p:spPr>
          <a:xfrm>
            <a:off x="4509790" y="8229600"/>
            <a:ext cx="5032229" cy="381000"/>
          </a:xfrm>
          <a:prstGeom prst="rect">
            <a:avLst/>
          </a:prstGeom>
          <a:noFill/>
          <a:ln/>
        </p:spPr>
        <p:txBody>
          <a:bodyPr wrap="square" lIns="25400" tIns="25400" rIns="25400" bIns="25400" rtlCol="0" anchor="t">
            <a:normAutofit lnSpcReduction="10000"/>
          </a:bodyPr>
          <a:lstStyle/>
          <a:p>
            <a:pPr marL="0" indent="0" algn="l">
              <a:lnSpc>
                <a:spcPct val="133333"/>
              </a:lnSpc>
              <a:buNone/>
            </a:pPr>
            <a:r>
              <a:rPr lang="en-US" sz="1800" kern="0" spc="144" dirty="0">
                <a:solidFill>
                  <a:srgbClr val="5A5A5A"/>
                </a:solidFill>
                <a:latin typeface="Courier New" pitchFamily="34" charset="0"/>
                <a:ea typeface="Courier New" pitchFamily="34" charset="-122"/>
                <a:cs typeface="Courier New" pitchFamily="34" charset="-120"/>
              </a:rPr>
              <a:t>COURSE</a:t>
            </a:r>
            <a:endParaRPr lang="en-US" sz="1800" dirty="0"/>
          </a:p>
        </p:txBody>
      </p:sp>
      <p:sp>
        <p:nvSpPr>
          <p:cNvPr id="9" name="Text 7"/>
          <p:cNvSpPr/>
          <p:nvPr/>
        </p:nvSpPr>
        <p:spPr>
          <a:xfrm>
            <a:off x="4509790" y="8629650"/>
            <a:ext cx="5032229" cy="438150"/>
          </a:xfrm>
          <a:prstGeom prst="rect">
            <a:avLst/>
          </a:prstGeom>
          <a:noFill/>
          <a:ln/>
        </p:spPr>
        <p:txBody>
          <a:bodyPr wrap="square" lIns="25400" tIns="25400" rIns="25400" bIns="25400" rtlCol="0" anchor="t">
            <a:normAutofit/>
          </a:bodyPr>
          <a:lstStyle/>
          <a:p>
            <a:pPr marL="0" indent="0" algn="l">
              <a:lnSpc>
                <a:spcPct val="129231"/>
              </a:lnSpc>
              <a:buNone/>
            </a:pPr>
            <a:r>
              <a:rPr lang="en-US" sz="2100" dirty="0">
                <a:solidFill>
                  <a:srgbClr val="141414"/>
                </a:solidFill>
                <a:latin typeface="Arial" pitchFamily="34" charset="0"/>
                <a:ea typeface="Arial" pitchFamily="34" charset="-122"/>
                <a:cs typeface="Arial" pitchFamily="34" charset="-120"/>
              </a:rPr>
              <a:t>Computer Vision — Prof. Irene Amerini</a:t>
            </a:r>
            <a:endParaRPr lang="en-US" sz="2100" dirty="0"/>
          </a:p>
        </p:txBody>
      </p:sp>
      <p:sp>
        <p:nvSpPr>
          <p:cNvPr id="10" name="Text 8"/>
          <p:cNvSpPr/>
          <p:nvPr/>
        </p:nvSpPr>
        <p:spPr>
          <a:xfrm>
            <a:off x="4509790" y="9086850"/>
            <a:ext cx="5032229" cy="438150"/>
          </a:xfrm>
          <a:prstGeom prst="rect">
            <a:avLst/>
          </a:prstGeom>
          <a:noFill/>
          <a:ln/>
        </p:spPr>
        <p:txBody>
          <a:bodyPr wrap="square" lIns="25400" tIns="25400" rIns="25400" bIns="25400" rtlCol="0" anchor="t">
            <a:normAutofit/>
          </a:bodyPr>
          <a:lstStyle/>
          <a:p>
            <a:pPr marL="0" indent="0" algn="l">
              <a:lnSpc>
                <a:spcPct val="129231"/>
              </a:lnSpc>
              <a:buNone/>
            </a:pPr>
            <a:r>
              <a:rPr lang="en-US" sz="2100" dirty="0">
                <a:solidFill>
                  <a:srgbClr val="141414"/>
                </a:solidFill>
                <a:latin typeface="Arial" pitchFamily="34" charset="0"/>
                <a:ea typeface="Arial" pitchFamily="34" charset="-122"/>
                <a:cs typeface="Arial" pitchFamily="34" charset="-120"/>
              </a:rPr>
              <a:t>Project 6 — A.Y. 2025/26</a:t>
            </a:r>
            <a:endParaRPr lang="en-US" sz="2100" dirty="0"/>
          </a:p>
        </p:txBody>
      </p:sp>
      <p:sp>
        <p:nvSpPr>
          <p:cNvPr id="11" name="Text 9"/>
          <p:cNvSpPr/>
          <p:nvPr/>
        </p:nvSpPr>
        <p:spPr>
          <a:xfrm>
            <a:off x="16474380" y="9610725"/>
            <a:ext cx="89922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1 / 15</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Outline</a:t>
            </a:r>
            <a:endParaRPr lang="en-US" sz="4800" dirty="0"/>
          </a:p>
        </p:txBody>
      </p:sp>
      <p:sp>
        <p:nvSpPr>
          <p:cNvPr id="3" name="Shape 1"/>
          <p:cNvSpPr/>
          <p:nvPr/>
        </p:nvSpPr>
        <p:spPr>
          <a:xfrm>
            <a:off x="990600" y="1919288"/>
            <a:ext cx="16306800" cy="19050"/>
          </a:xfrm>
          <a:prstGeom prst="rect">
            <a:avLst/>
          </a:prstGeom>
          <a:solidFill>
            <a:srgbClr val="DCDCDC"/>
          </a:solidFill>
          <a:ln/>
        </p:spPr>
      </p:sp>
      <p:sp>
        <p:nvSpPr>
          <p:cNvPr id="4" name="Text 2"/>
          <p:cNvSpPr/>
          <p:nvPr/>
        </p:nvSpPr>
        <p:spPr>
          <a:xfrm>
            <a:off x="990600" y="2395538"/>
            <a:ext cx="464865" cy="475283"/>
          </a:xfrm>
          <a:prstGeom prst="rect">
            <a:avLst/>
          </a:prstGeom>
          <a:noFill/>
          <a:ln/>
        </p:spPr>
        <p:txBody>
          <a:bodyPr wrap="square" lIns="25400" tIns="25400" rIns="25400" bIns="25400" rtlCol="0" anchor="t">
            <a:normAutofit lnSpcReduction="10000"/>
          </a:bodyPr>
          <a:lstStyle/>
          <a:p>
            <a:pPr marL="0" indent="0" algn="l">
              <a:lnSpc>
                <a:spcPct val="119221"/>
              </a:lnSpc>
              <a:buNone/>
            </a:pPr>
            <a:r>
              <a:rPr lang="en-US" sz="2550" dirty="0">
                <a:solidFill>
                  <a:srgbClr val="0052B4"/>
                </a:solidFill>
                <a:latin typeface="Courier New" pitchFamily="34" charset="0"/>
                <a:ea typeface="Courier New" pitchFamily="34" charset="-122"/>
                <a:cs typeface="Courier New" pitchFamily="34" charset="-120"/>
              </a:rPr>
              <a:t>01</a:t>
            </a:r>
            <a:endParaRPr lang="en-US" sz="2550" dirty="0"/>
          </a:p>
        </p:txBody>
      </p:sp>
      <p:sp>
        <p:nvSpPr>
          <p:cNvPr id="5" name="Text 3"/>
          <p:cNvSpPr/>
          <p:nvPr/>
        </p:nvSpPr>
        <p:spPr>
          <a:xfrm>
            <a:off x="1645965" y="2395538"/>
            <a:ext cx="6744645" cy="475283"/>
          </a:xfrm>
          <a:prstGeom prst="rect">
            <a:avLst/>
          </a:prstGeom>
          <a:noFill/>
          <a:ln/>
        </p:spPr>
        <p:txBody>
          <a:bodyPr wrap="square" lIns="25400" tIns="25400" rIns="25400" bIns="25400" rtlCol="0" anchor="t">
            <a:normAutofit lnSpcReduction="10000"/>
          </a:bodyPr>
          <a:lstStyle/>
          <a:p>
            <a:pPr marL="0" indent="0" algn="l">
              <a:lnSpc>
                <a:spcPct val="117692"/>
              </a:lnSpc>
              <a:buNone/>
            </a:pPr>
            <a:r>
              <a:rPr lang="en-US" sz="2550" dirty="0">
                <a:solidFill>
                  <a:srgbClr val="141414"/>
                </a:solidFill>
                <a:latin typeface="Arial" pitchFamily="34" charset="0"/>
                <a:ea typeface="Arial" pitchFamily="34" charset="-122"/>
                <a:cs typeface="Arial" pitchFamily="34" charset="-120"/>
              </a:rPr>
              <a:t>Problem statement — spectral fingerprints</a:t>
            </a:r>
            <a:endParaRPr lang="en-US" sz="2550" dirty="0"/>
          </a:p>
        </p:txBody>
      </p:sp>
      <p:sp>
        <p:nvSpPr>
          <p:cNvPr id="6" name="Text 4"/>
          <p:cNvSpPr/>
          <p:nvPr/>
        </p:nvSpPr>
        <p:spPr>
          <a:xfrm>
            <a:off x="9667875" y="2395538"/>
            <a:ext cx="464865" cy="475283"/>
          </a:xfrm>
          <a:prstGeom prst="rect">
            <a:avLst/>
          </a:prstGeom>
          <a:noFill/>
          <a:ln/>
        </p:spPr>
        <p:txBody>
          <a:bodyPr wrap="square" lIns="25400" tIns="25400" rIns="25400" bIns="25400" rtlCol="0" anchor="t">
            <a:normAutofit lnSpcReduction="10000"/>
          </a:bodyPr>
          <a:lstStyle/>
          <a:p>
            <a:pPr marL="0" indent="0" algn="l">
              <a:lnSpc>
                <a:spcPct val="119221"/>
              </a:lnSpc>
              <a:buNone/>
            </a:pPr>
            <a:r>
              <a:rPr lang="en-US" sz="2550" dirty="0">
                <a:solidFill>
                  <a:srgbClr val="0052B4"/>
                </a:solidFill>
                <a:latin typeface="Courier New" pitchFamily="34" charset="0"/>
                <a:ea typeface="Courier New" pitchFamily="34" charset="-122"/>
                <a:cs typeface="Courier New" pitchFamily="34" charset="-120"/>
              </a:rPr>
              <a:t>05</a:t>
            </a:r>
            <a:endParaRPr lang="en-US" sz="2550" dirty="0"/>
          </a:p>
        </p:txBody>
      </p:sp>
      <p:sp>
        <p:nvSpPr>
          <p:cNvPr id="7" name="Text 5"/>
          <p:cNvSpPr/>
          <p:nvPr/>
        </p:nvSpPr>
        <p:spPr>
          <a:xfrm>
            <a:off x="10323240" y="2395538"/>
            <a:ext cx="6824045" cy="475283"/>
          </a:xfrm>
          <a:prstGeom prst="rect">
            <a:avLst/>
          </a:prstGeom>
          <a:noFill/>
          <a:ln/>
        </p:spPr>
        <p:txBody>
          <a:bodyPr wrap="square" lIns="25400" tIns="25400" rIns="25400" bIns="25400" rtlCol="0" anchor="t">
            <a:normAutofit lnSpcReduction="10000"/>
          </a:bodyPr>
          <a:lstStyle/>
          <a:p>
            <a:pPr marL="0" indent="0" algn="l">
              <a:lnSpc>
                <a:spcPct val="117692"/>
              </a:lnSpc>
              <a:buNone/>
            </a:pPr>
            <a:r>
              <a:rPr lang="en-US" sz="2550" dirty="0">
                <a:solidFill>
                  <a:srgbClr val="141414"/>
                </a:solidFill>
                <a:latin typeface="Arial" pitchFamily="34" charset="0"/>
                <a:ea typeface="Arial" pitchFamily="34" charset="-122"/>
                <a:cs typeface="Arial" pitchFamily="34" charset="-120"/>
              </a:rPr>
              <a:t>Spectral normalization and DDIM sampling</a:t>
            </a:r>
            <a:endParaRPr lang="en-US" sz="2550" dirty="0"/>
          </a:p>
        </p:txBody>
      </p:sp>
      <p:sp>
        <p:nvSpPr>
          <p:cNvPr id="8" name="Text 6"/>
          <p:cNvSpPr/>
          <p:nvPr/>
        </p:nvSpPr>
        <p:spPr>
          <a:xfrm>
            <a:off x="990600" y="3080370"/>
            <a:ext cx="464865" cy="475283"/>
          </a:xfrm>
          <a:prstGeom prst="rect">
            <a:avLst/>
          </a:prstGeom>
          <a:noFill/>
          <a:ln/>
        </p:spPr>
        <p:txBody>
          <a:bodyPr wrap="square" lIns="25400" tIns="25400" rIns="25400" bIns="25400" rtlCol="0" anchor="t">
            <a:normAutofit lnSpcReduction="10000"/>
          </a:bodyPr>
          <a:lstStyle/>
          <a:p>
            <a:pPr marL="0" indent="0" algn="l">
              <a:lnSpc>
                <a:spcPct val="119221"/>
              </a:lnSpc>
              <a:buNone/>
            </a:pPr>
            <a:r>
              <a:rPr lang="en-US" sz="2550" dirty="0">
                <a:solidFill>
                  <a:srgbClr val="0052B4"/>
                </a:solidFill>
                <a:latin typeface="Courier New" pitchFamily="34" charset="0"/>
                <a:ea typeface="Courier New" pitchFamily="34" charset="-122"/>
                <a:cs typeface="Courier New" pitchFamily="34" charset="-120"/>
              </a:rPr>
              <a:t>02</a:t>
            </a:r>
            <a:endParaRPr lang="en-US" sz="2550" dirty="0"/>
          </a:p>
        </p:txBody>
      </p:sp>
      <p:sp>
        <p:nvSpPr>
          <p:cNvPr id="9" name="Text 7"/>
          <p:cNvSpPr/>
          <p:nvPr/>
        </p:nvSpPr>
        <p:spPr>
          <a:xfrm>
            <a:off x="1645965" y="3080370"/>
            <a:ext cx="6499897" cy="475283"/>
          </a:xfrm>
          <a:prstGeom prst="rect">
            <a:avLst/>
          </a:prstGeom>
          <a:noFill/>
          <a:ln/>
        </p:spPr>
        <p:txBody>
          <a:bodyPr wrap="square" lIns="25400" tIns="25400" rIns="25400" bIns="25400" rtlCol="0" anchor="t">
            <a:normAutofit lnSpcReduction="10000"/>
          </a:bodyPr>
          <a:lstStyle/>
          <a:p>
            <a:pPr marL="0" indent="0" algn="l">
              <a:lnSpc>
                <a:spcPct val="117692"/>
              </a:lnSpc>
              <a:buNone/>
            </a:pPr>
            <a:r>
              <a:rPr lang="en-US" sz="2550" dirty="0">
                <a:solidFill>
                  <a:srgbClr val="141414"/>
                </a:solidFill>
                <a:latin typeface="Arial" pitchFamily="34" charset="0"/>
                <a:ea typeface="Arial" pitchFamily="34" charset="-122"/>
                <a:cs typeface="Arial" pitchFamily="34" charset="-120"/>
              </a:rPr>
              <a:t>State of the art — detection and diffusion</a:t>
            </a:r>
            <a:endParaRPr lang="en-US" sz="2550" dirty="0"/>
          </a:p>
        </p:txBody>
      </p:sp>
      <p:sp>
        <p:nvSpPr>
          <p:cNvPr id="10" name="Text 8"/>
          <p:cNvSpPr/>
          <p:nvPr/>
        </p:nvSpPr>
        <p:spPr>
          <a:xfrm>
            <a:off x="9667875" y="3080370"/>
            <a:ext cx="464865" cy="475283"/>
          </a:xfrm>
          <a:prstGeom prst="rect">
            <a:avLst/>
          </a:prstGeom>
          <a:noFill/>
          <a:ln/>
        </p:spPr>
        <p:txBody>
          <a:bodyPr wrap="square" lIns="25400" tIns="25400" rIns="25400" bIns="25400" rtlCol="0" anchor="t">
            <a:normAutofit lnSpcReduction="10000"/>
          </a:bodyPr>
          <a:lstStyle/>
          <a:p>
            <a:pPr marL="0" indent="0" algn="l">
              <a:lnSpc>
                <a:spcPct val="119221"/>
              </a:lnSpc>
              <a:buNone/>
            </a:pPr>
            <a:r>
              <a:rPr lang="en-US" sz="2550" dirty="0">
                <a:solidFill>
                  <a:srgbClr val="0052B4"/>
                </a:solidFill>
                <a:latin typeface="Courier New" pitchFamily="34" charset="0"/>
                <a:ea typeface="Courier New" pitchFamily="34" charset="-122"/>
                <a:cs typeface="Courier New" pitchFamily="34" charset="-120"/>
              </a:rPr>
              <a:t>06</a:t>
            </a:r>
            <a:endParaRPr lang="en-US" sz="2550" dirty="0"/>
          </a:p>
        </p:txBody>
      </p:sp>
      <p:sp>
        <p:nvSpPr>
          <p:cNvPr id="11" name="Text 9"/>
          <p:cNvSpPr/>
          <p:nvPr/>
        </p:nvSpPr>
        <p:spPr>
          <a:xfrm>
            <a:off x="10323240" y="3080370"/>
            <a:ext cx="7228083" cy="475283"/>
          </a:xfrm>
          <a:prstGeom prst="rect">
            <a:avLst/>
          </a:prstGeom>
          <a:noFill/>
          <a:ln/>
        </p:spPr>
        <p:txBody>
          <a:bodyPr wrap="square" lIns="25400" tIns="25400" rIns="25400" bIns="25400" rtlCol="0" anchor="t">
            <a:normAutofit lnSpcReduction="10000"/>
          </a:bodyPr>
          <a:lstStyle/>
          <a:p>
            <a:pPr marL="0" indent="0" algn="l">
              <a:lnSpc>
                <a:spcPct val="117692"/>
              </a:lnSpc>
              <a:buNone/>
            </a:pPr>
            <a:r>
              <a:rPr lang="en-US" sz="2550" dirty="0">
                <a:solidFill>
                  <a:srgbClr val="141414"/>
                </a:solidFill>
                <a:latin typeface="Arial" pitchFamily="34" charset="0"/>
                <a:ea typeface="Arial" pitchFamily="34" charset="-122"/>
                <a:cs typeface="Arial" pitchFamily="34" charset="-120"/>
              </a:rPr>
              <a:t>Experimental setup — one controlled variable</a:t>
            </a:r>
            <a:endParaRPr lang="en-US" sz="2550" dirty="0"/>
          </a:p>
        </p:txBody>
      </p:sp>
      <p:sp>
        <p:nvSpPr>
          <p:cNvPr id="12" name="Text 10"/>
          <p:cNvSpPr/>
          <p:nvPr/>
        </p:nvSpPr>
        <p:spPr>
          <a:xfrm>
            <a:off x="990600" y="3765203"/>
            <a:ext cx="464865" cy="475283"/>
          </a:xfrm>
          <a:prstGeom prst="rect">
            <a:avLst/>
          </a:prstGeom>
          <a:noFill/>
          <a:ln/>
        </p:spPr>
        <p:txBody>
          <a:bodyPr wrap="square" lIns="25400" tIns="25400" rIns="25400" bIns="25400" rtlCol="0" anchor="t">
            <a:normAutofit lnSpcReduction="10000"/>
          </a:bodyPr>
          <a:lstStyle/>
          <a:p>
            <a:pPr marL="0" indent="0" algn="l">
              <a:lnSpc>
                <a:spcPct val="119221"/>
              </a:lnSpc>
              <a:buNone/>
            </a:pPr>
            <a:r>
              <a:rPr lang="en-US" sz="2550" dirty="0">
                <a:solidFill>
                  <a:srgbClr val="0052B4"/>
                </a:solidFill>
                <a:latin typeface="Courier New" pitchFamily="34" charset="0"/>
                <a:ea typeface="Courier New" pitchFamily="34" charset="-122"/>
                <a:cs typeface="Courier New" pitchFamily="34" charset="-120"/>
              </a:rPr>
              <a:t>03</a:t>
            </a:r>
            <a:endParaRPr lang="en-US" sz="2550" dirty="0"/>
          </a:p>
        </p:txBody>
      </p:sp>
      <p:sp>
        <p:nvSpPr>
          <p:cNvPr id="13" name="Text 11"/>
          <p:cNvSpPr/>
          <p:nvPr/>
        </p:nvSpPr>
        <p:spPr>
          <a:xfrm>
            <a:off x="1645965" y="3765203"/>
            <a:ext cx="4566635" cy="475283"/>
          </a:xfrm>
          <a:prstGeom prst="rect">
            <a:avLst/>
          </a:prstGeom>
          <a:noFill/>
          <a:ln/>
        </p:spPr>
        <p:txBody>
          <a:bodyPr wrap="square" lIns="25400" tIns="25400" rIns="25400" bIns="25400" rtlCol="0" anchor="t">
            <a:normAutofit lnSpcReduction="10000"/>
          </a:bodyPr>
          <a:lstStyle/>
          <a:p>
            <a:pPr marL="0" indent="0" algn="l">
              <a:lnSpc>
                <a:spcPct val="117692"/>
              </a:lnSpc>
              <a:buNone/>
            </a:pPr>
            <a:r>
              <a:rPr lang="en-US" sz="2550" dirty="0">
                <a:solidFill>
                  <a:srgbClr val="141414"/>
                </a:solidFill>
                <a:latin typeface="Arial" pitchFamily="34" charset="0"/>
                <a:ea typeface="Arial" pitchFamily="34" charset="-122"/>
                <a:cs typeface="Arial" pitchFamily="34" charset="-120"/>
              </a:rPr>
              <a:t>Dataset — FFHQ at 128×128</a:t>
            </a:r>
            <a:endParaRPr lang="en-US" sz="2550" dirty="0"/>
          </a:p>
        </p:txBody>
      </p:sp>
      <p:sp>
        <p:nvSpPr>
          <p:cNvPr id="14" name="Text 12"/>
          <p:cNvSpPr/>
          <p:nvPr/>
        </p:nvSpPr>
        <p:spPr>
          <a:xfrm>
            <a:off x="9667875" y="3765203"/>
            <a:ext cx="464865" cy="475283"/>
          </a:xfrm>
          <a:prstGeom prst="rect">
            <a:avLst/>
          </a:prstGeom>
          <a:noFill/>
          <a:ln/>
        </p:spPr>
        <p:txBody>
          <a:bodyPr wrap="square" lIns="25400" tIns="25400" rIns="25400" bIns="25400" rtlCol="0" anchor="t">
            <a:normAutofit lnSpcReduction="10000"/>
          </a:bodyPr>
          <a:lstStyle/>
          <a:p>
            <a:pPr marL="0" indent="0" algn="l">
              <a:lnSpc>
                <a:spcPct val="119221"/>
              </a:lnSpc>
              <a:buNone/>
            </a:pPr>
            <a:r>
              <a:rPr lang="en-US" sz="2550" dirty="0">
                <a:solidFill>
                  <a:srgbClr val="0052B4"/>
                </a:solidFill>
                <a:latin typeface="Courier New" pitchFamily="34" charset="0"/>
                <a:ea typeface="Courier New" pitchFamily="34" charset="-122"/>
                <a:cs typeface="Courier New" pitchFamily="34" charset="-120"/>
              </a:rPr>
              <a:t>07</a:t>
            </a:r>
            <a:endParaRPr lang="en-US" sz="2550" dirty="0"/>
          </a:p>
        </p:txBody>
      </p:sp>
      <p:sp>
        <p:nvSpPr>
          <p:cNvPr id="15" name="Text 13"/>
          <p:cNvSpPr/>
          <p:nvPr/>
        </p:nvSpPr>
        <p:spPr>
          <a:xfrm>
            <a:off x="10323240" y="3765203"/>
            <a:ext cx="6892803" cy="475283"/>
          </a:xfrm>
          <a:prstGeom prst="rect">
            <a:avLst/>
          </a:prstGeom>
          <a:noFill/>
          <a:ln/>
        </p:spPr>
        <p:txBody>
          <a:bodyPr wrap="square" lIns="25400" tIns="25400" rIns="25400" bIns="25400" rtlCol="0" anchor="t">
            <a:normAutofit lnSpcReduction="10000"/>
          </a:bodyPr>
          <a:lstStyle/>
          <a:p>
            <a:pPr marL="0" indent="0" algn="l">
              <a:lnSpc>
                <a:spcPct val="117692"/>
              </a:lnSpc>
              <a:buNone/>
            </a:pPr>
            <a:r>
              <a:rPr lang="en-US" sz="2550" dirty="0">
                <a:solidFill>
                  <a:srgbClr val="141414"/>
                </a:solidFill>
                <a:latin typeface="Arial" pitchFamily="34" charset="0"/>
                <a:ea typeface="Arial" pitchFamily="34" charset="-122"/>
                <a:cs typeface="Arial" pitchFamily="34" charset="-120"/>
              </a:rPr>
              <a:t>Model evaluation — FID, KID, radial spectra</a:t>
            </a:r>
            <a:endParaRPr lang="en-US" sz="2550" dirty="0"/>
          </a:p>
        </p:txBody>
      </p:sp>
      <p:sp>
        <p:nvSpPr>
          <p:cNvPr id="16" name="Text 14"/>
          <p:cNvSpPr/>
          <p:nvPr/>
        </p:nvSpPr>
        <p:spPr>
          <a:xfrm>
            <a:off x="990600" y="4450035"/>
            <a:ext cx="464865" cy="475283"/>
          </a:xfrm>
          <a:prstGeom prst="rect">
            <a:avLst/>
          </a:prstGeom>
          <a:noFill/>
          <a:ln/>
        </p:spPr>
        <p:txBody>
          <a:bodyPr wrap="square" lIns="25400" tIns="25400" rIns="25400" bIns="25400" rtlCol="0" anchor="t">
            <a:normAutofit lnSpcReduction="10000"/>
          </a:bodyPr>
          <a:lstStyle/>
          <a:p>
            <a:pPr marL="0" indent="0" algn="l">
              <a:lnSpc>
                <a:spcPct val="119221"/>
              </a:lnSpc>
              <a:buNone/>
            </a:pPr>
            <a:r>
              <a:rPr lang="en-US" sz="2550" dirty="0">
                <a:solidFill>
                  <a:srgbClr val="0052B4"/>
                </a:solidFill>
                <a:latin typeface="Courier New" pitchFamily="34" charset="0"/>
                <a:ea typeface="Courier New" pitchFamily="34" charset="-122"/>
                <a:cs typeface="Courier New" pitchFamily="34" charset="-120"/>
              </a:rPr>
              <a:t>04</a:t>
            </a:r>
            <a:endParaRPr lang="en-US" sz="2550" dirty="0"/>
          </a:p>
        </p:txBody>
      </p:sp>
      <p:sp>
        <p:nvSpPr>
          <p:cNvPr id="17" name="Text 15"/>
          <p:cNvSpPr/>
          <p:nvPr/>
        </p:nvSpPr>
        <p:spPr>
          <a:xfrm>
            <a:off x="1645965" y="4450035"/>
            <a:ext cx="7386965" cy="475283"/>
          </a:xfrm>
          <a:prstGeom prst="rect">
            <a:avLst/>
          </a:prstGeom>
          <a:noFill/>
          <a:ln/>
        </p:spPr>
        <p:txBody>
          <a:bodyPr wrap="square" lIns="25400" tIns="25400" rIns="25400" bIns="25400" rtlCol="0" anchor="t">
            <a:normAutofit lnSpcReduction="10000"/>
          </a:bodyPr>
          <a:lstStyle/>
          <a:p>
            <a:pPr marL="0" indent="0" algn="l">
              <a:lnSpc>
                <a:spcPct val="117692"/>
              </a:lnSpc>
              <a:buNone/>
            </a:pPr>
            <a:r>
              <a:rPr lang="en-US" sz="2550" dirty="0">
                <a:solidFill>
                  <a:srgbClr val="141414"/>
                </a:solidFill>
                <a:latin typeface="Arial" pitchFamily="34" charset="0"/>
                <a:ea typeface="Arial" pitchFamily="34" charset="-122"/>
                <a:cs typeface="Arial" pitchFamily="34" charset="-120"/>
              </a:rPr>
              <a:t>Proposed method — diffusion on the spectrum</a:t>
            </a:r>
            <a:endParaRPr lang="en-US" sz="2550" dirty="0"/>
          </a:p>
        </p:txBody>
      </p:sp>
      <p:sp>
        <p:nvSpPr>
          <p:cNvPr id="18" name="Text 16"/>
          <p:cNvSpPr/>
          <p:nvPr/>
        </p:nvSpPr>
        <p:spPr>
          <a:xfrm>
            <a:off x="9667875" y="4450035"/>
            <a:ext cx="464865" cy="475283"/>
          </a:xfrm>
          <a:prstGeom prst="rect">
            <a:avLst/>
          </a:prstGeom>
          <a:noFill/>
          <a:ln/>
        </p:spPr>
        <p:txBody>
          <a:bodyPr wrap="square" lIns="25400" tIns="25400" rIns="25400" bIns="25400" rtlCol="0" anchor="t">
            <a:normAutofit lnSpcReduction="10000"/>
          </a:bodyPr>
          <a:lstStyle/>
          <a:p>
            <a:pPr marL="0" indent="0" algn="l">
              <a:lnSpc>
                <a:spcPct val="119221"/>
              </a:lnSpc>
              <a:buNone/>
            </a:pPr>
            <a:r>
              <a:rPr lang="en-US" sz="2550" dirty="0">
                <a:solidFill>
                  <a:srgbClr val="0052B4"/>
                </a:solidFill>
                <a:latin typeface="Courier New" pitchFamily="34" charset="0"/>
                <a:ea typeface="Courier New" pitchFamily="34" charset="-122"/>
                <a:cs typeface="Courier New" pitchFamily="34" charset="-120"/>
              </a:rPr>
              <a:t>08</a:t>
            </a:r>
            <a:endParaRPr lang="en-US" sz="2550" dirty="0"/>
          </a:p>
        </p:txBody>
      </p:sp>
      <p:sp>
        <p:nvSpPr>
          <p:cNvPr id="19" name="Text 17"/>
          <p:cNvSpPr/>
          <p:nvPr/>
        </p:nvSpPr>
        <p:spPr>
          <a:xfrm>
            <a:off x="10323240" y="4450035"/>
            <a:ext cx="4550264" cy="475283"/>
          </a:xfrm>
          <a:prstGeom prst="rect">
            <a:avLst/>
          </a:prstGeom>
          <a:noFill/>
          <a:ln/>
        </p:spPr>
        <p:txBody>
          <a:bodyPr wrap="square" lIns="25400" tIns="25400" rIns="25400" bIns="25400" rtlCol="0" anchor="t">
            <a:normAutofit lnSpcReduction="10000"/>
          </a:bodyPr>
          <a:lstStyle/>
          <a:p>
            <a:pPr marL="0" indent="0" algn="l">
              <a:lnSpc>
                <a:spcPct val="117692"/>
              </a:lnSpc>
              <a:buNone/>
            </a:pPr>
            <a:r>
              <a:rPr lang="en-US" sz="2550" dirty="0">
                <a:solidFill>
                  <a:srgbClr val="141414"/>
                </a:solidFill>
                <a:latin typeface="Arial" pitchFamily="34" charset="0"/>
                <a:ea typeface="Arial" pitchFamily="34" charset="-122"/>
                <a:cs typeface="Arial" pitchFamily="34" charset="-120"/>
              </a:rPr>
              <a:t>Conclusions and future work</a:t>
            </a:r>
            <a:endParaRPr lang="en-US" sz="2550" dirty="0"/>
          </a:p>
        </p:txBody>
      </p:sp>
      <p:sp>
        <p:nvSpPr>
          <p:cNvPr id="20" name="Text 18"/>
          <p:cNvSpPr/>
          <p:nvPr/>
        </p:nvSpPr>
        <p:spPr>
          <a:xfrm>
            <a:off x="990600" y="8686800"/>
            <a:ext cx="11282363" cy="838200"/>
          </a:xfrm>
          <a:prstGeom prst="rect">
            <a:avLst/>
          </a:prstGeom>
          <a:noFill/>
          <a:ln/>
        </p:spPr>
        <p:txBody>
          <a:bodyPr wrap="square" lIns="25400" tIns="25400" rIns="25400" bIns="25400" rtlCol="0" anchor="t">
            <a:normAutofit lnSpcReduction="10000"/>
          </a:bodyPr>
          <a:lstStyle/>
          <a:p>
            <a:pPr marL="0" indent="0" algn="l">
              <a:lnSpc>
                <a:spcPct val="129231"/>
              </a:lnSpc>
              <a:buNone/>
            </a:pPr>
            <a:r>
              <a:rPr lang="en-US" sz="2100" dirty="0">
                <a:solidFill>
                  <a:srgbClr val="5A5A5A"/>
                </a:solidFill>
                <a:latin typeface="Arial" pitchFamily="34" charset="0"/>
                <a:ea typeface="Arial" pitchFamily="34" charset="-122"/>
                <a:cs typeface="Arial" pitchFamily="34" charset="-120"/>
              </a:rPr>
              <a:t>Two DDPMs are trained under identical conditions and differ only in the domain of the diffusion process: RGB pixels or the Fourier spectrum.</a:t>
            </a:r>
            <a:endParaRPr lang="en-US" sz="2100" dirty="0"/>
          </a:p>
        </p:txBody>
      </p:sp>
      <p:sp>
        <p:nvSpPr>
          <p:cNvPr id="21" name="Text 19"/>
          <p:cNvSpPr/>
          <p:nvPr/>
        </p:nvSpPr>
        <p:spPr>
          <a:xfrm>
            <a:off x="16474380" y="9610725"/>
            <a:ext cx="89922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2 / 15</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Problem Statement</a:t>
            </a:r>
            <a:endParaRPr lang="en-US" sz="4800" dirty="0"/>
          </a:p>
        </p:txBody>
      </p:sp>
      <p:sp>
        <p:nvSpPr>
          <p:cNvPr id="3" name="Shape 1"/>
          <p:cNvSpPr/>
          <p:nvPr/>
        </p:nvSpPr>
        <p:spPr>
          <a:xfrm>
            <a:off x="990600" y="1919288"/>
            <a:ext cx="16306800" cy="19050"/>
          </a:xfrm>
          <a:prstGeom prst="rect">
            <a:avLst/>
          </a:prstGeom>
          <a:solidFill>
            <a:srgbClr val="DCDCDC"/>
          </a:solidFill>
          <a:ln/>
        </p:spPr>
      </p:sp>
      <p:sp>
        <p:nvSpPr>
          <p:cNvPr id="4" name="Text 2"/>
          <p:cNvSpPr/>
          <p:nvPr/>
        </p:nvSpPr>
        <p:spPr>
          <a:xfrm>
            <a:off x="990600" y="2395538"/>
            <a:ext cx="8120388" cy="1398091"/>
          </a:xfrm>
          <a:prstGeom prst="rect">
            <a:avLst/>
          </a:prstGeom>
          <a:noFill/>
          <a:ln/>
        </p:spPr>
        <p:txBody>
          <a:bodyPr wrap="square" lIns="25400" tIns="25400" rIns="25400" bIns="25400" rtlCol="0" anchor="t">
            <a:normAutofit lnSpcReduction="10000"/>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Generative models reach convincing photorealism in the spatial domain, yet they leave systematic traces in the frequency domain.</a:t>
            </a:r>
            <a:endParaRPr lang="en-US" sz="2550" dirty="0"/>
          </a:p>
        </p:txBody>
      </p:sp>
      <p:sp>
        <p:nvSpPr>
          <p:cNvPr id="5" name="Text 3"/>
          <p:cNvSpPr/>
          <p:nvPr/>
        </p:nvSpPr>
        <p:spPr>
          <a:xfrm>
            <a:off x="990600" y="4003179"/>
            <a:ext cx="8120388" cy="1398091"/>
          </a:xfrm>
          <a:prstGeom prst="rect">
            <a:avLst/>
          </a:prstGeom>
          <a:noFill/>
          <a:ln/>
        </p:spPr>
        <p:txBody>
          <a:bodyPr wrap="square" lIns="25400" tIns="25400" rIns="25400" bIns="25400" rtlCol="0" anchor="t">
            <a:normAutofit lnSpcReduction="10000"/>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Those traces — periodic grid peaks and a high-frequency tail that decays too fast — are exactly what state-of-the-art deepfake detectors exploit.</a:t>
            </a:r>
            <a:endParaRPr lang="en-US" sz="2550" dirty="0"/>
          </a:p>
        </p:txBody>
      </p:sp>
      <p:sp>
        <p:nvSpPr>
          <p:cNvPr id="6" name="Shape 4"/>
          <p:cNvSpPr/>
          <p:nvPr/>
        </p:nvSpPr>
        <p:spPr>
          <a:xfrm>
            <a:off x="9788872" y="2395538"/>
            <a:ext cx="76200" cy="3238500"/>
          </a:xfrm>
          <a:prstGeom prst="rect">
            <a:avLst/>
          </a:prstGeom>
          <a:solidFill>
            <a:srgbClr val="0052B4"/>
          </a:solidFill>
          <a:ln/>
        </p:spPr>
      </p:sp>
      <p:sp>
        <p:nvSpPr>
          <p:cNvPr id="7" name="Text 5"/>
          <p:cNvSpPr/>
          <p:nvPr/>
        </p:nvSpPr>
        <p:spPr>
          <a:xfrm>
            <a:off x="10246072" y="2471738"/>
            <a:ext cx="7262868" cy="3124200"/>
          </a:xfrm>
          <a:prstGeom prst="rect">
            <a:avLst/>
          </a:prstGeom>
          <a:noFill/>
          <a:ln/>
        </p:spPr>
        <p:txBody>
          <a:bodyPr wrap="square" lIns="25400" tIns="25400" rIns="25400" bIns="25400" rtlCol="0" anchor="t">
            <a:normAutofit lnSpcReduction="10000"/>
          </a:bodyPr>
          <a:lstStyle/>
          <a:p>
            <a:pPr marL="0" indent="0" algn="l">
              <a:lnSpc>
                <a:spcPct val="118681"/>
              </a:lnSpc>
              <a:buNone/>
            </a:pPr>
            <a:r>
              <a:rPr lang="en-US" sz="3000" i="1" dirty="0">
                <a:solidFill>
                  <a:srgbClr val="141414"/>
                </a:solidFill>
                <a:latin typeface="Georgia" pitchFamily="34" charset="0"/>
                <a:ea typeface="Georgia" pitchFamily="34" charset="-122"/>
                <a:cs typeface="Georgia" pitchFamily="34" charset="-120"/>
              </a:rPr>
              <a:t>If a diffusion model is trained directly on the Fourier spectrum rather than on RGB pixels, does it reproduce the spectral statistics of real images more faithfully than an identical model trained in the spatial domain?</a:t>
            </a:r>
            <a:endParaRPr lang="en-US" sz="3000" dirty="0"/>
          </a:p>
        </p:txBody>
      </p:sp>
      <p:sp>
        <p:nvSpPr>
          <p:cNvPr id="8" name="Text 6"/>
          <p:cNvSpPr/>
          <p:nvPr/>
        </p:nvSpPr>
        <p:spPr>
          <a:xfrm>
            <a:off x="16474380" y="9610725"/>
            <a:ext cx="89922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3 / 15</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State of the Art</a:t>
            </a:r>
            <a:endParaRPr lang="en-US" sz="4800" dirty="0"/>
          </a:p>
        </p:txBody>
      </p:sp>
      <p:sp>
        <p:nvSpPr>
          <p:cNvPr id="3" name="Shape 1"/>
          <p:cNvSpPr/>
          <p:nvPr/>
        </p:nvSpPr>
        <p:spPr>
          <a:xfrm>
            <a:off x="990600" y="1919288"/>
            <a:ext cx="16306800" cy="19050"/>
          </a:xfrm>
          <a:prstGeom prst="rect">
            <a:avLst/>
          </a:prstGeom>
          <a:solidFill>
            <a:srgbClr val="DCDCDC"/>
          </a:solidFill>
          <a:ln/>
        </p:spPr>
      </p:sp>
      <p:sp>
        <p:nvSpPr>
          <p:cNvPr id="4" name="Text 2"/>
          <p:cNvSpPr/>
          <p:nvPr/>
        </p:nvSpPr>
        <p:spPr>
          <a:xfrm>
            <a:off x="990600" y="2395538"/>
            <a:ext cx="5532120"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0052B4"/>
                </a:solidFill>
                <a:latin typeface="Courier New" pitchFamily="34" charset="0"/>
                <a:ea typeface="Courier New" pitchFamily="34" charset="-122"/>
                <a:cs typeface="Courier New" pitchFamily="34" charset="-120"/>
              </a:rPr>
              <a:t>FORENSIC ANALYSIS</a:t>
            </a:r>
            <a:endParaRPr lang="en-US" sz="1800" dirty="0"/>
          </a:p>
        </p:txBody>
      </p:sp>
      <p:sp>
        <p:nvSpPr>
          <p:cNvPr id="5" name="Text 3"/>
          <p:cNvSpPr/>
          <p:nvPr/>
        </p:nvSpPr>
        <p:spPr>
          <a:xfrm>
            <a:off x="990600" y="2881313"/>
            <a:ext cx="5180076" cy="2358033"/>
          </a:xfrm>
          <a:prstGeom prst="rect">
            <a:avLst/>
          </a:prstGeom>
          <a:noFill/>
          <a:ln/>
        </p:spPr>
        <p:txBody>
          <a:bodyPr wrap="square" lIns="25400" tIns="25400" rIns="25400" bIns="25400" rtlCol="0" anchor="t">
            <a:normAutofit/>
          </a:bodyPr>
          <a:lstStyle/>
          <a:p>
            <a:pPr marL="0" indent="0" algn="l">
              <a:lnSpc>
                <a:spcPct val="124923"/>
              </a:lnSpc>
              <a:buNone/>
            </a:pPr>
            <a:r>
              <a:rPr lang="en-US" sz="2100" dirty="0">
                <a:solidFill>
                  <a:srgbClr val="141414"/>
                </a:solidFill>
                <a:latin typeface="Arial" pitchFamily="34" charset="0"/>
                <a:ea typeface="Arial" pitchFamily="34" charset="-122"/>
                <a:cs typeface="Arial" pitchFamily="34" charset="-120"/>
              </a:rPr>
              <a:t>It is well established that image generation pipelines, especially those based on GANs, introduce distinct spectral fingerprints in the frequency domain due to upsampling operations. (Frank et al. (ICML 2020))</a:t>
            </a:r>
            <a:endParaRPr lang="en-US" sz="2100" dirty="0"/>
          </a:p>
        </p:txBody>
      </p:sp>
      <p:sp>
        <p:nvSpPr>
          <p:cNvPr id="6" name="Text 4"/>
          <p:cNvSpPr/>
          <p:nvPr/>
        </p:nvSpPr>
        <p:spPr>
          <a:xfrm>
            <a:off x="6629400" y="2395538"/>
            <a:ext cx="5532120"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0052B4"/>
                </a:solidFill>
                <a:latin typeface="Courier New" pitchFamily="34" charset="0"/>
                <a:ea typeface="Courier New" pitchFamily="34" charset="-122"/>
                <a:cs typeface="Courier New" pitchFamily="34" charset="-120"/>
              </a:rPr>
              <a:t>DIFFUSION MODELS</a:t>
            </a:r>
            <a:endParaRPr lang="en-US" sz="1800" dirty="0"/>
          </a:p>
        </p:txBody>
      </p:sp>
      <p:sp>
        <p:nvSpPr>
          <p:cNvPr id="7" name="Text 5"/>
          <p:cNvSpPr/>
          <p:nvPr/>
        </p:nvSpPr>
        <p:spPr>
          <a:xfrm>
            <a:off x="6629400" y="2881313"/>
            <a:ext cx="5180076" cy="811411"/>
          </a:xfrm>
          <a:prstGeom prst="rect">
            <a:avLst/>
          </a:prstGeom>
          <a:noFill/>
          <a:ln/>
        </p:spPr>
        <p:txBody>
          <a:bodyPr wrap="square" lIns="25400" tIns="25400" rIns="25400" bIns="25400" rtlCol="0" anchor="t">
            <a:normAutofit lnSpcReduction="10000"/>
          </a:bodyPr>
          <a:lstStyle/>
          <a:p>
            <a:pPr marL="0" indent="0" algn="l">
              <a:lnSpc>
                <a:spcPct val="124923"/>
              </a:lnSpc>
              <a:buNone/>
            </a:pPr>
            <a:r>
              <a:rPr lang="en-US" sz="2100" dirty="0">
                <a:solidFill>
                  <a:srgbClr val="141414"/>
                </a:solidFill>
                <a:latin typeface="Arial" pitchFamily="34" charset="0"/>
                <a:ea typeface="Arial" pitchFamily="34" charset="-122"/>
                <a:cs typeface="Arial" pitchFamily="34" charset="-120"/>
              </a:rPr>
              <a:t>DDPM (Ho et al., 2020) defines the noise-prediction objective used here.</a:t>
            </a:r>
            <a:endParaRPr lang="en-US" sz="2100" dirty="0"/>
          </a:p>
        </p:txBody>
      </p:sp>
      <p:sp>
        <p:nvSpPr>
          <p:cNvPr id="8" name="Text 6"/>
          <p:cNvSpPr/>
          <p:nvPr/>
        </p:nvSpPr>
        <p:spPr>
          <a:xfrm>
            <a:off x="6629400" y="3845123"/>
            <a:ext cx="5180076" cy="811411"/>
          </a:xfrm>
          <a:prstGeom prst="rect">
            <a:avLst/>
          </a:prstGeom>
          <a:noFill/>
          <a:ln/>
        </p:spPr>
        <p:txBody>
          <a:bodyPr wrap="square" lIns="25400" tIns="25400" rIns="25400" bIns="25400" rtlCol="0" anchor="t">
            <a:normAutofit lnSpcReduction="10000"/>
          </a:bodyPr>
          <a:lstStyle/>
          <a:p>
            <a:pPr marL="0" indent="0" algn="l">
              <a:lnSpc>
                <a:spcPct val="124923"/>
              </a:lnSpc>
              <a:buNone/>
            </a:pPr>
            <a:r>
              <a:rPr lang="en-US" sz="2100" dirty="0">
                <a:solidFill>
                  <a:srgbClr val="141414"/>
                </a:solidFill>
                <a:latin typeface="Arial" pitchFamily="34" charset="0"/>
                <a:ea typeface="Arial" pitchFamily="34" charset="-122"/>
                <a:cs typeface="Arial" pitchFamily="34" charset="-120"/>
              </a:rPr>
              <a:t>DDIM (Song et al., 2021) makes sampling deterministic on a coarse timestep grid.</a:t>
            </a:r>
            <a:endParaRPr lang="en-US" sz="2100" dirty="0"/>
          </a:p>
        </p:txBody>
      </p:sp>
      <p:sp>
        <p:nvSpPr>
          <p:cNvPr id="9" name="Text 7"/>
          <p:cNvSpPr/>
          <p:nvPr/>
        </p:nvSpPr>
        <p:spPr>
          <a:xfrm>
            <a:off x="12268200" y="2395538"/>
            <a:ext cx="5532120"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0052B4"/>
                </a:solidFill>
                <a:latin typeface="Courier New" pitchFamily="34" charset="0"/>
                <a:ea typeface="Courier New" pitchFamily="34" charset="-122"/>
                <a:cs typeface="Courier New" pitchFamily="34" charset="-120"/>
              </a:rPr>
              <a:t>SAMPLING TRAJECTORIES</a:t>
            </a:r>
            <a:endParaRPr lang="en-US" sz="1800" dirty="0"/>
          </a:p>
        </p:txBody>
      </p:sp>
      <p:sp>
        <p:nvSpPr>
          <p:cNvPr id="10" name="Text 8"/>
          <p:cNvSpPr/>
          <p:nvPr/>
        </p:nvSpPr>
        <p:spPr>
          <a:xfrm>
            <a:off x="12268200" y="3014663"/>
            <a:ext cx="5532120" cy="300038"/>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141414"/>
                </a:solidFill>
                <a:latin typeface="Arial" pitchFamily="34" charset="0"/>
                <a:ea typeface="Arial" pitchFamily="34" charset="-122"/>
                <a:cs typeface="Arial" pitchFamily="34" charset="-120"/>
              </a:rPr>
              <a:t>DDPM — stochastic, 1000 steps</a:t>
            </a:r>
            <a:endParaRPr lang="en-US" sz="1800" dirty="0"/>
          </a:p>
        </p:txBody>
      </p:sp>
      <p:sp>
        <p:nvSpPr>
          <p:cNvPr id="11" name="Shape 9"/>
          <p:cNvSpPr/>
          <p:nvPr/>
        </p:nvSpPr>
        <p:spPr>
          <a:xfrm>
            <a:off x="12268200" y="3390900"/>
            <a:ext cx="247650" cy="247650"/>
          </a:xfrm>
          <a:prstGeom prst="ellipse">
            <a:avLst/>
          </a:prstGeom>
          <a:solidFill>
            <a:srgbClr val="137738"/>
          </a:solidFill>
          <a:ln/>
        </p:spPr>
      </p:sp>
      <p:sp>
        <p:nvSpPr>
          <p:cNvPr id="12" name="Shape 10"/>
          <p:cNvSpPr/>
          <p:nvPr/>
        </p:nvSpPr>
        <p:spPr>
          <a:xfrm>
            <a:off x="12592050" y="3505200"/>
            <a:ext cx="460325" cy="19050"/>
          </a:xfrm>
          <a:prstGeom prst="rect">
            <a:avLst/>
          </a:prstGeom>
          <a:solidFill>
            <a:srgbClr val="5A5A5A"/>
          </a:solidFill>
          <a:ln/>
        </p:spPr>
      </p:sp>
      <p:sp>
        <p:nvSpPr>
          <p:cNvPr id="13" name="Shape 11"/>
          <p:cNvSpPr/>
          <p:nvPr/>
        </p:nvSpPr>
        <p:spPr>
          <a:xfrm>
            <a:off x="13128575" y="3429000"/>
            <a:ext cx="171450" cy="171450"/>
          </a:xfrm>
          <a:prstGeom prst="ellipse">
            <a:avLst/>
          </a:prstGeom>
          <a:solidFill>
            <a:srgbClr val="141414"/>
          </a:solidFill>
          <a:ln/>
        </p:spPr>
      </p:sp>
      <p:sp>
        <p:nvSpPr>
          <p:cNvPr id="14" name="Shape 12"/>
          <p:cNvSpPr/>
          <p:nvPr/>
        </p:nvSpPr>
        <p:spPr>
          <a:xfrm>
            <a:off x="13376225" y="3505200"/>
            <a:ext cx="460400" cy="19050"/>
          </a:xfrm>
          <a:prstGeom prst="rect">
            <a:avLst/>
          </a:prstGeom>
          <a:solidFill>
            <a:srgbClr val="5A5A5A"/>
          </a:solidFill>
          <a:ln/>
        </p:spPr>
      </p:sp>
      <p:sp>
        <p:nvSpPr>
          <p:cNvPr id="15" name="Shape 13"/>
          <p:cNvSpPr/>
          <p:nvPr/>
        </p:nvSpPr>
        <p:spPr>
          <a:xfrm>
            <a:off x="13912825" y="3429000"/>
            <a:ext cx="171450" cy="171450"/>
          </a:xfrm>
          <a:prstGeom prst="ellipse">
            <a:avLst/>
          </a:prstGeom>
          <a:solidFill>
            <a:srgbClr val="141414"/>
          </a:solidFill>
          <a:ln/>
        </p:spPr>
      </p:sp>
      <p:sp>
        <p:nvSpPr>
          <p:cNvPr id="16" name="Shape 14"/>
          <p:cNvSpPr/>
          <p:nvPr/>
        </p:nvSpPr>
        <p:spPr>
          <a:xfrm>
            <a:off x="14160475" y="3505200"/>
            <a:ext cx="460325" cy="19050"/>
          </a:xfrm>
          <a:prstGeom prst="rect">
            <a:avLst/>
          </a:prstGeom>
          <a:solidFill>
            <a:srgbClr val="5A5A5A"/>
          </a:solidFill>
          <a:ln/>
        </p:spPr>
      </p:sp>
      <p:sp>
        <p:nvSpPr>
          <p:cNvPr id="17" name="Shape 15"/>
          <p:cNvSpPr/>
          <p:nvPr/>
        </p:nvSpPr>
        <p:spPr>
          <a:xfrm>
            <a:off x="14697001" y="3429000"/>
            <a:ext cx="171450" cy="171450"/>
          </a:xfrm>
          <a:prstGeom prst="ellipse">
            <a:avLst/>
          </a:prstGeom>
          <a:solidFill>
            <a:srgbClr val="141414"/>
          </a:solidFill>
          <a:ln/>
        </p:spPr>
      </p:sp>
      <p:sp>
        <p:nvSpPr>
          <p:cNvPr id="18" name="Shape 16"/>
          <p:cNvSpPr/>
          <p:nvPr/>
        </p:nvSpPr>
        <p:spPr>
          <a:xfrm>
            <a:off x="14944651" y="3505200"/>
            <a:ext cx="460400" cy="19050"/>
          </a:xfrm>
          <a:prstGeom prst="rect">
            <a:avLst/>
          </a:prstGeom>
          <a:solidFill>
            <a:srgbClr val="5A5A5A"/>
          </a:solidFill>
          <a:ln/>
        </p:spPr>
      </p:sp>
      <p:sp>
        <p:nvSpPr>
          <p:cNvPr id="19" name="Shape 17"/>
          <p:cNvSpPr/>
          <p:nvPr/>
        </p:nvSpPr>
        <p:spPr>
          <a:xfrm>
            <a:off x="15481250" y="3429000"/>
            <a:ext cx="171450" cy="171450"/>
          </a:xfrm>
          <a:prstGeom prst="ellipse">
            <a:avLst/>
          </a:prstGeom>
          <a:solidFill>
            <a:srgbClr val="141414"/>
          </a:solidFill>
          <a:ln/>
        </p:spPr>
      </p:sp>
      <p:sp>
        <p:nvSpPr>
          <p:cNvPr id="20" name="Shape 18"/>
          <p:cNvSpPr/>
          <p:nvPr/>
        </p:nvSpPr>
        <p:spPr>
          <a:xfrm>
            <a:off x="15728900" y="3505200"/>
            <a:ext cx="460400" cy="19050"/>
          </a:xfrm>
          <a:prstGeom prst="rect">
            <a:avLst/>
          </a:prstGeom>
          <a:solidFill>
            <a:srgbClr val="5A5A5A"/>
          </a:solidFill>
          <a:ln/>
        </p:spPr>
      </p:sp>
      <p:sp>
        <p:nvSpPr>
          <p:cNvPr id="21" name="Shape 19"/>
          <p:cNvSpPr/>
          <p:nvPr/>
        </p:nvSpPr>
        <p:spPr>
          <a:xfrm>
            <a:off x="16265500" y="3429000"/>
            <a:ext cx="171450" cy="171450"/>
          </a:xfrm>
          <a:prstGeom prst="ellipse">
            <a:avLst/>
          </a:prstGeom>
          <a:solidFill>
            <a:srgbClr val="141414"/>
          </a:solidFill>
          <a:ln/>
        </p:spPr>
      </p:sp>
      <p:sp>
        <p:nvSpPr>
          <p:cNvPr id="22" name="Shape 20"/>
          <p:cNvSpPr/>
          <p:nvPr/>
        </p:nvSpPr>
        <p:spPr>
          <a:xfrm>
            <a:off x="16513150" y="3505200"/>
            <a:ext cx="460400" cy="19050"/>
          </a:xfrm>
          <a:prstGeom prst="rect">
            <a:avLst/>
          </a:prstGeom>
          <a:solidFill>
            <a:srgbClr val="5A5A5A"/>
          </a:solidFill>
          <a:ln/>
        </p:spPr>
      </p:sp>
      <p:sp>
        <p:nvSpPr>
          <p:cNvPr id="23" name="Shape 21"/>
          <p:cNvSpPr/>
          <p:nvPr/>
        </p:nvSpPr>
        <p:spPr>
          <a:xfrm>
            <a:off x="17049750" y="3390900"/>
            <a:ext cx="247650" cy="247650"/>
          </a:xfrm>
          <a:prstGeom prst="ellipse">
            <a:avLst/>
          </a:prstGeom>
          <a:solidFill>
            <a:srgbClr val="0052B4"/>
          </a:solidFill>
          <a:ln/>
        </p:spPr>
      </p:sp>
      <p:sp>
        <p:nvSpPr>
          <p:cNvPr id="24" name="Text 22"/>
          <p:cNvSpPr/>
          <p:nvPr/>
        </p:nvSpPr>
        <p:spPr>
          <a:xfrm>
            <a:off x="12268200" y="3752850"/>
            <a:ext cx="5180076" cy="655290"/>
          </a:xfrm>
          <a:prstGeom prst="rect">
            <a:avLst/>
          </a:prstGeom>
          <a:noFill/>
          <a:ln/>
        </p:spPr>
        <p:txBody>
          <a:bodyPr wrap="square" lIns="25400" tIns="25400" rIns="25400" bIns="25400" rtlCol="0" anchor="t">
            <a:normAutofit lnSpcReduction="10000"/>
          </a:bodyPr>
          <a:lstStyle/>
          <a:p>
            <a:pPr marL="0" indent="0" algn="l">
              <a:lnSpc>
                <a:spcPct val="117818"/>
              </a:lnSpc>
              <a:buNone/>
            </a:pPr>
            <a:r>
              <a:rPr lang="en-US" sz="1800" dirty="0">
                <a:solidFill>
                  <a:srgbClr val="5A5A5A"/>
                </a:solidFill>
                <a:latin typeface="Arial" pitchFamily="34" charset="0"/>
                <a:ea typeface="Arial" pitchFamily="34" charset="-122"/>
                <a:cs typeface="Arial" pitchFamily="34" charset="-120"/>
              </a:rPr>
              <a:t>Every reverse step adds fresh Gaussian noise; the full grid must be traversed.</a:t>
            </a:r>
            <a:endParaRPr lang="en-US" sz="1800" dirty="0"/>
          </a:p>
        </p:txBody>
      </p:sp>
      <p:sp>
        <p:nvSpPr>
          <p:cNvPr id="25" name="Text 23"/>
          <p:cNvSpPr/>
          <p:nvPr/>
        </p:nvSpPr>
        <p:spPr>
          <a:xfrm>
            <a:off x="12268200" y="4693890"/>
            <a:ext cx="5532120" cy="300038"/>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141414"/>
                </a:solidFill>
                <a:latin typeface="Arial" pitchFamily="34" charset="0"/>
                <a:ea typeface="Arial" pitchFamily="34" charset="-122"/>
                <a:cs typeface="Arial" pitchFamily="34" charset="-120"/>
              </a:rPr>
              <a:t>DDIM — deterministic, 50 steps</a:t>
            </a:r>
            <a:endParaRPr lang="en-US" sz="1800" dirty="0"/>
          </a:p>
        </p:txBody>
      </p:sp>
      <p:sp>
        <p:nvSpPr>
          <p:cNvPr id="26" name="Shape 24"/>
          <p:cNvSpPr/>
          <p:nvPr/>
        </p:nvSpPr>
        <p:spPr>
          <a:xfrm>
            <a:off x="12268200" y="5070128"/>
            <a:ext cx="247650" cy="247650"/>
          </a:xfrm>
          <a:prstGeom prst="ellipse">
            <a:avLst/>
          </a:prstGeom>
          <a:solidFill>
            <a:srgbClr val="137738"/>
          </a:solidFill>
          <a:ln/>
        </p:spPr>
      </p:sp>
      <p:sp>
        <p:nvSpPr>
          <p:cNvPr id="27" name="Shape 25"/>
          <p:cNvSpPr/>
          <p:nvPr/>
        </p:nvSpPr>
        <p:spPr>
          <a:xfrm>
            <a:off x="12592050" y="5184428"/>
            <a:ext cx="1244575" cy="19050"/>
          </a:xfrm>
          <a:prstGeom prst="rect">
            <a:avLst/>
          </a:prstGeom>
          <a:solidFill>
            <a:srgbClr val="5A5A5A"/>
          </a:solidFill>
          <a:ln/>
        </p:spPr>
      </p:sp>
      <p:sp>
        <p:nvSpPr>
          <p:cNvPr id="28" name="Shape 26"/>
          <p:cNvSpPr/>
          <p:nvPr/>
        </p:nvSpPr>
        <p:spPr>
          <a:xfrm>
            <a:off x="13912825" y="5108228"/>
            <a:ext cx="171450" cy="171450"/>
          </a:xfrm>
          <a:prstGeom prst="ellipse">
            <a:avLst/>
          </a:prstGeom>
          <a:solidFill>
            <a:srgbClr val="141414"/>
          </a:solidFill>
          <a:ln/>
        </p:spPr>
      </p:sp>
      <p:sp>
        <p:nvSpPr>
          <p:cNvPr id="29" name="Shape 27"/>
          <p:cNvSpPr/>
          <p:nvPr/>
        </p:nvSpPr>
        <p:spPr>
          <a:xfrm>
            <a:off x="14160475" y="5184428"/>
            <a:ext cx="1244650" cy="19050"/>
          </a:xfrm>
          <a:prstGeom prst="rect">
            <a:avLst/>
          </a:prstGeom>
          <a:solidFill>
            <a:srgbClr val="5A5A5A"/>
          </a:solidFill>
          <a:ln/>
        </p:spPr>
      </p:sp>
      <p:sp>
        <p:nvSpPr>
          <p:cNvPr id="30" name="Shape 28"/>
          <p:cNvSpPr/>
          <p:nvPr/>
        </p:nvSpPr>
        <p:spPr>
          <a:xfrm>
            <a:off x="15481325" y="5108228"/>
            <a:ext cx="171450" cy="171450"/>
          </a:xfrm>
          <a:prstGeom prst="ellipse">
            <a:avLst/>
          </a:prstGeom>
          <a:solidFill>
            <a:srgbClr val="141414"/>
          </a:solidFill>
          <a:ln/>
        </p:spPr>
      </p:sp>
      <p:sp>
        <p:nvSpPr>
          <p:cNvPr id="31" name="Shape 29"/>
          <p:cNvSpPr/>
          <p:nvPr/>
        </p:nvSpPr>
        <p:spPr>
          <a:xfrm>
            <a:off x="15728975" y="5184428"/>
            <a:ext cx="1244575" cy="19050"/>
          </a:xfrm>
          <a:prstGeom prst="rect">
            <a:avLst/>
          </a:prstGeom>
          <a:solidFill>
            <a:srgbClr val="5A5A5A"/>
          </a:solidFill>
          <a:ln/>
        </p:spPr>
      </p:sp>
      <p:sp>
        <p:nvSpPr>
          <p:cNvPr id="32" name="Shape 30"/>
          <p:cNvSpPr/>
          <p:nvPr/>
        </p:nvSpPr>
        <p:spPr>
          <a:xfrm>
            <a:off x="17049750" y="5070128"/>
            <a:ext cx="247650" cy="247650"/>
          </a:xfrm>
          <a:prstGeom prst="ellipse">
            <a:avLst/>
          </a:prstGeom>
          <a:solidFill>
            <a:srgbClr val="0052B4"/>
          </a:solidFill>
          <a:ln/>
        </p:spPr>
      </p:sp>
      <p:sp>
        <p:nvSpPr>
          <p:cNvPr id="33" name="Text 31"/>
          <p:cNvSpPr/>
          <p:nvPr/>
        </p:nvSpPr>
        <p:spPr>
          <a:xfrm>
            <a:off x="12268200" y="5432078"/>
            <a:ext cx="5180076" cy="655290"/>
          </a:xfrm>
          <a:prstGeom prst="rect">
            <a:avLst/>
          </a:prstGeom>
          <a:noFill/>
          <a:ln/>
        </p:spPr>
        <p:txBody>
          <a:bodyPr wrap="square" lIns="25400" tIns="25400" rIns="25400" bIns="25400" rtlCol="0" anchor="t">
            <a:normAutofit lnSpcReduction="10000"/>
          </a:bodyPr>
          <a:lstStyle/>
          <a:p>
            <a:pPr marL="0" indent="0" algn="l">
              <a:lnSpc>
                <a:spcPct val="117818"/>
              </a:lnSpc>
              <a:buNone/>
            </a:pPr>
            <a:r>
              <a:rPr lang="en-US" sz="1800" dirty="0">
                <a:solidFill>
                  <a:srgbClr val="5A5A5A"/>
                </a:solidFill>
                <a:latin typeface="Arial" pitchFamily="34" charset="0"/>
                <a:ea typeface="Arial" pitchFamily="34" charset="-122"/>
                <a:cs typeface="Arial" pitchFamily="34" charset="-120"/>
              </a:rPr>
              <a:t>Non-Markovian: the same trained network is sampled on a coarse subsequence.</a:t>
            </a:r>
            <a:endParaRPr lang="en-US" sz="1800" dirty="0"/>
          </a:p>
        </p:txBody>
      </p:sp>
      <p:sp>
        <p:nvSpPr>
          <p:cNvPr id="34" name="Shape 32"/>
          <p:cNvSpPr/>
          <p:nvPr/>
        </p:nvSpPr>
        <p:spPr>
          <a:xfrm>
            <a:off x="12268200" y="6454080"/>
            <a:ext cx="133350" cy="133350"/>
          </a:xfrm>
          <a:prstGeom prst="ellipse">
            <a:avLst/>
          </a:prstGeom>
          <a:solidFill>
            <a:srgbClr val="137738"/>
          </a:solidFill>
          <a:ln/>
        </p:spPr>
      </p:sp>
      <p:sp>
        <p:nvSpPr>
          <p:cNvPr id="35" name="Text 33"/>
          <p:cNvSpPr/>
          <p:nvPr/>
        </p:nvSpPr>
        <p:spPr>
          <a:xfrm>
            <a:off x="12477750" y="6373118"/>
            <a:ext cx="213420" cy="333375"/>
          </a:xfrm>
          <a:prstGeom prst="rect">
            <a:avLst/>
          </a:prstGeom>
          <a:noFill/>
          <a:ln/>
        </p:spPr>
        <p:txBody>
          <a:bodyPr wrap="square" lIns="0" tIns="0" rIns="0" bIns="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x</a:t>
            </a:r>
            <a:endParaRPr lang="en-US" sz="1800" dirty="0"/>
          </a:p>
        </p:txBody>
      </p:sp>
      <p:sp>
        <p:nvSpPr>
          <p:cNvPr id="36" name="Text 34"/>
          <p:cNvSpPr/>
          <p:nvPr/>
        </p:nvSpPr>
        <p:spPr>
          <a:xfrm>
            <a:off x="12691170" y="6396930"/>
            <a:ext cx="190500" cy="285750"/>
          </a:xfrm>
          <a:prstGeom prst="rect">
            <a:avLst/>
          </a:prstGeom>
          <a:noFill/>
          <a:ln/>
        </p:spPr>
        <p:txBody>
          <a:bodyPr wrap="square" lIns="25400" tIns="25400" rIns="25400" bIns="25400" rtlCol="0" anchor="t">
            <a:normAutofit/>
          </a:bodyPr>
          <a:lstStyle/>
          <a:p>
            <a:pPr marL="0" indent="0" algn="l">
              <a:buNone/>
            </a:pPr>
            <a:r>
              <a:rPr lang="en-US" sz="1500" dirty="0">
                <a:solidFill>
                  <a:srgbClr val="5A5A5A"/>
                </a:solidFill>
                <a:latin typeface="Courier New" pitchFamily="34" charset="0"/>
                <a:ea typeface="Courier New" pitchFamily="34" charset="-122"/>
                <a:cs typeface="Courier New" pitchFamily="34" charset="-120"/>
              </a:rPr>
              <a:t>T</a:t>
            </a:r>
            <a:endParaRPr lang="en-US" sz="1500" dirty="0"/>
          </a:p>
        </p:txBody>
      </p:sp>
      <p:sp>
        <p:nvSpPr>
          <p:cNvPr id="37" name="Text 35"/>
          <p:cNvSpPr/>
          <p:nvPr/>
        </p:nvSpPr>
        <p:spPr>
          <a:xfrm>
            <a:off x="12881670" y="6373118"/>
            <a:ext cx="762000" cy="333375"/>
          </a:xfrm>
          <a:prstGeom prst="rect">
            <a:avLst/>
          </a:prstGeom>
          <a:noFill/>
          <a:ln/>
        </p:spPr>
        <p:txBody>
          <a:bodyPr wrap="square" lIns="0" tIns="0" rIns="0" bIns="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noise</a:t>
            </a:r>
            <a:endParaRPr lang="en-US" sz="1800" dirty="0"/>
          </a:p>
        </p:txBody>
      </p:sp>
      <p:sp>
        <p:nvSpPr>
          <p:cNvPr id="38" name="Shape 36"/>
          <p:cNvSpPr/>
          <p:nvPr/>
        </p:nvSpPr>
        <p:spPr>
          <a:xfrm>
            <a:off x="13777020" y="6454080"/>
            <a:ext cx="133350" cy="133350"/>
          </a:xfrm>
          <a:prstGeom prst="ellipse">
            <a:avLst/>
          </a:prstGeom>
          <a:solidFill>
            <a:srgbClr val="0052B4"/>
          </a:solidFill>
          <a:ln/>
        </p:spPr>
      </p:sp>
      <p:sp>
        <p:nvSpPr>
          <p:cNvPr id="39" name="Text 37"/>
          <p:cNvSpPr/>
          <p:nvPr/>
        </p:nvSpPr>
        <p:spPr>
          <a:xfrm>
            <a:off x="13986570" y="6373118"/>
            <a:ext cx="213420" cy="333375"/>
          </a:xfrm>
          <a:prstGeom prst="rect">
            <a:avLst/>
          </a:prstGeom>
          <a:noFill/>
          <a:ln/>
        </p:spPr>
        <p:txBody>
          <a:bodyPr wrap="square" lIns="0" tIns="0" rIns="0" bIns="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x</a:t>
            </a:r>
            <a:endParaRPr lang="en-US" sz="1800" dirty="0"/>
          </a:p>
        </p:txBody>
      </p:sp>
      <p:sp>
        <p:nvSpPr>
          <p:cNvPr id="40" name="Text 38"/>
          <p:cNvSpPr/>
          <p:nvPr/>
        </p:nvSpPr>
        <p:spPr>
          <a:xfrm>
            <a:off x="14199989" y="6396930"/>
            <a:ext cx="190500" cy="285750"/>
          </a:xfrm>
          <a:prstGeom prst="rect">
            <a:avLst/>
          </a:prstGeom>
          <a:noFill/>
          <a:ln/>
        </p:spPr>
        <p:txBody>
          <a:bodyPr wrap="square" lIns="25400" tIns="25400" rIns="25400" bIns="25400" rtlCol="0" anchor="t">
            <a:normAutofit/>
          </a:bodyPr>
          <a:lstStyle/>
          <a:p>
            <a:pPr marL="0" indent="0" algn="l">
              <a:buNone/>
            </a:pPr>
            <a:r>
              <a:rPr lang="en-US" sz="1500" dirty="0">
                <a:solidFill>
                  <a:srgbClr val="5A5A5A"/>
                </a:solidFill>
                <a:latin typeface="Courier New" pitchFamily="34" charset="0"/>
                <a:ea typeface="Courier New" pitchFamily="34" charset="-122"/>
                <a:cs typeface="Courier New" pitchFamily="34" charset="-120"/>
              </a:rPr>
              <a:t>0</a:t>
            </a:r>
            <a:endParaRPr lang="en-US" sz="1500" dirty="0"/>
          </a:p>
        </p:txBody>
      </p:sp>
      <p:sp>
        <p:nvSpPr>
          <p:cNvPr id="41" name="Text 39"/>
          <p:cNvSpPr/>
          <p:nvPr/>
        </p:nvSpPr>
        <p:spPr>
          <a:xfrm>
            <a:off x="14390489" y="6373118"/>
            <a:ext cx="762000" cy="333375"/>
          </a:xfrm>
          <a:prstGeom prst="rect">
            <a:avLst/>
          </a:prstGeom>
          <a:noFill/>
          <a:ln/>
        </p:spPr>
        <p:txBody>
          <a:bodyPr wrap="square" lIns="0" tIns="0" rIns="0" bIns="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image</a:t>
            </a:r>
            <a:endParaRPr lang="en-US" sz="1800" dirty="0"/>
          </a:p>
        </p:txBody>
      </p:sp>
      <p:sp>
        <p:nvSpPr>
          <p:cNvPr id="42" name="Shape 40"/>
          <p:cNvSpPr/>
          <p:nvPr/>
        </p:nvSpPr>
        <p:spPr>
          <a:xfrm>
            <a:off x="990600" y="7926735"/>
            <a:ext cx="16306800" cy="1560165"/>
          </a:xfrm>
          <a:prstGeom prst="rect">
            <a:avLst/>
          </a:prstGeom>
          <a:solidFill>
            <a:srgbClr val="F5F5F3"/>
          </a:solidFill>
          <a:ln/>
        </p:spPr>
      </p:sp>
      <p:sp>
        <p:nvSpPr>
          <p:cNvPr id="43" name="Text 41"/>
          <p:cNvSpPr/>
          <p:nvPr/>
        </p:nvSpPr>
        <p:spPr>
          <a:xfrm>
            <a:off x="1409700" y="8374410"/>
            <a:ext cx="1367969" cy="333375"/>
          </a:xfrm>
          <a:prstGeom prst="rect">
            <a:avLst/>
          </a:prstGeom>
          <a:noFill/>
          <a:ln/>
        </p:spPr>
        <p:txBody>
          <a:bodyPr wrap="none" lIns="25400" tIns="25400" rIns="25400" bIns="25400" rtlCol="0" anchor="t">
            <a:normAutofit/>
          </a:bodyPr>
          <a:lstStyle/>
          <a:p>
            <a:pPr marL="0" indent="0" algn="l">
              <a:buNone/>
            </a:pPr>
            <a:r>
              <a:rPr lang="en-US" sz="1800" kern="0" spc="144" dirty="0">
                <a:solidFill>
                  <a:srgbClr val="5A5A5A"/>
                </a:solidFill>
                <a:latin typeface="Courier New" pitchFamily="34" charset="0"/>
                <a:ea typeface="Courier New" pitchFamily="34" charset="-122"/>
                <a:cs typeface="Courier New" pitchFamily="34" charset="-120"/>
              </a:rPr>
              <a:t>OPEN GAP</a:t>
            </a:r>
            <a:endParaRPr lang="en-US" sz="1800" dirty="0"/>
          </a:p>
        </p:txBody>
      </p:sp>
      <p:sp>
        <p:nvSpPr>
          <p:cNvPr id="44" name="Text 42"/>
          <p:cNvSpPr/>
          <p:nvPr/>
        </p:nvSpPr>
        <p:spPr>
          <a:xfrm>
            <a:off x="2958108" y="8269635"/>
            <a:ext cx="14337798" cy="912465"/>
          </a:xfrm>
          <a:prstGeom prst="rect">
            <a:avLst/>
          </a:prstGeom>
          <a:noFill/>
          <a:ln/>
        </p:spPr>
        <p:txBody>
          <a:bodyPr wrap="square" lIns="25400" tIns="25400" rIns="25400" bIns="25400" rtlCol="0" anchor="t">
            <a:normAutofit lnSpcReduction="10000"/>
          </a:bodyPr>
          <a:lstStyle/>
          <a:p>
            <a:pPr marL="0" indent="0" algn="l">
              <a:lnSpc>
                <a:spcPct val="117692"/>
              </a:lnSpc>
              <a:buNone/>
            </a:pPr>
            <a:r>
              <a:rPr lang="en-US" sz="2550" dirty="0">
                <a:solidFill>
                  <a:srgbClr val="141414"/>
                </a:solidFill>
                <a:latin typeface="Arial" pitchFamily="34" charset="0"/>
                <a:ea typeface="Arial" pitchFamily="34" charset="-122"/>
                <a:cs typeface="Arial" pitchFamily="34" charset="-120"/>
              </a:rPr>
              <a:t>Could generating the image directly in the frequency domain, rather than in the RGB spatial domain, mitigate the spectral fingerprint phenomenon?</a:t>
            </a:r>
            <a:endParaRPr lang="en-US" sz="2550" dirty="0"/>
          </a:p>
        </p:txBody>
      </p:sp>
      <p:sp>
        <p:nvSpPr>
          <p:cNvPr id="45" name="Text 43"/>
          <p:cNvSpPr/>
          <p:nvPr/>
        </p:nvSpPr>
        <p:spPr>
          <a:xfrm>
            <a:off x="16474380" y="9610725"/>
            <a:ext cx="89922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4 / 15</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Dataset</a:t>
            </a:r>
            <a:endParaRPr lang="en-US" sz="4800" dirty="0"/>
          </a:p>
        </p:txBody>
      </p:sp>
      <p:sp>
        <p:nvSpPr>
          <p:cNvPr id="3" name="Shape 1"/>
          <p:cNvSpPr/>
          <p:nvPr/>
        </p:nvSpPr>
        <p:spPr>
          <a:xfrm>
            <a:off x="990600" y="1919288"/>
            <a:ext cx="16306800" cy="19050"/>
          </a:xfrm>
          <a:prstGeom prst="rect">
            <a:avLst/>
          </a:prstGeom>
          <a:solidFill>
            <a:srgbClr val="DCDCDC"/>
          </a:solidFill>
          <a:ln/>
        </p:spPr>
      </p:sp>
      <p:sp>
        <p:nvSpPr>
          <p:cNvPr id="4" name="Text 2"/>
          <p:cNvSpPr/>
          <p:nvPr/>
        </p:nvSpPr>
        <p:spPr>
          <a:xfrm>
            <a:off x="990600" y="2395538"/>
            <a:ext cx="3418939" cy="1323975"/>
          </a:xfrm>
          <a:prstGeom prst="rect">
            <a:avLst/>
          </a:prstGeom>
          <a:noFill/>
          <a:ln/>
        </p:spPr>
        <p:txBody>
          <a:bodyPr wrap="square" lIns="25400" tIns="25400" rIns="25400" bIns="25400" rtlCol="0" anchor="t">
            <a:normAutofit lnSpcReduction="10000"/>
          </a:bodyPr>
          <a:lstStyle/>
          <a:p>
            <a:pPr marL="0" indent="0" algn="l">
              <a:lnSpc>
                <a:spcPct val="78035"/>
              </a:lnSpc>
              <a:buNone/>
            </a:pPr>
            <a:r>
              <a:rPr lang="en-US" sz="11250" b="1" kern="0" spc="-337" dirty="0">
                <a:solidFill>
                  <a:srgbClr val="141414"/>
                </a:solidFill>
                <a:latin typeface="Arial" pitchFamily="34" charset="0"/>
                <a:ea typeface="Arial" pitchFamily="34" charset="-122"/>
                <a:cs typeface="Arial" pitchFamily="34" charset="-120"/>
              </a:rPr>
              <a:t>70k</a:t>
            </a:r>
            <a:endParaRPr lang="en-US" sz="11250" dirty="0"/>
          </a:p>
        </p:txBody>
      </p:sp>
      <p:sp>
        <p:nvSpPr>
          <p:cNvPr id="5" name="Text 3"/>
          <p:cNvSpPr/>
          <p:nvPr/>
        </p:nvSpPr>
        <p:spPr>
          <a:xfrm>
            <a:off x="990600" y="3776662"/>
            <a:ext cx="3201370" cy="731490"/>
          </a:xfrm>
          <a:prstGeom prst="rect">
            <a:avLst/>
          </a:prstGeom>
          <a:noFill/>
          <a:ln/>
        </p:spPr>
        <p:txBody>
          <a:bodyPr wrap="square" lIns="25400" tIns="25400" rIns="25400" bIns="25400" rtlCol="0" anchor="t">
            <a:normAutofit fontScale="92500"/>
          </a:bodyPr>
          <a:lstStyle/>
          <a:p>
            <a:pPr marL="0" indent="0" algn="l">
              <a:lnSpc>
                <a:spcPct val="112000"/>
              </a:lnSpc>
              <a:buNone/>
            </a:pPr>
            <a:r>
              <a:rPr lang="en-US" sz="2100" dirty="0">
                <a:solidFill>
                  <a:srgbClr val="5A5A5A"/>
                </a:solidFill>
                <a:latin typeface="Arial" pitchFamily="34" charset="0"/>
                <a:ea typeface="Arial" pitchFamily="34" charset="-122"/>
                <a:cs typeface="Arial" pitchFamily="34" charset="-120"/>
              </a:rPr>
              <a:t>FFHQ face images (Karras et al., CVPR 2019)</a:t>
            </a:r>
            <a:endParaRPr lang="en-US" sz="2100" dirty="0"/>
          </a:p>
        </p:txBody>
      </p:sp>
      <p:sp>
        <p:nvSpPr>
          <p:cNvPr id="6" name="Text 4"/>
          <p:cNvSpPr/>
          <p:nvPr/>
        </p:nvSpPr>
        <p:spPr>
          <a:xfrm>
            <a:off x="5146477" y="2395538"/>
            <a:ext cx="2957029" cy="1323975"/>
          </a:xfrm>
          <a:prstGeom prst="rect">
            <a:avLst/>
          </a:prstGeom>
          <a:noFill/>
          <a:ln/>
        </p:spPr>
        <p:txBody>
          <a:bodyPr wrap="square" lIns="25400" tIns="25400" rIns="25400" bIns="25400" rtlCol="0" anchor="t">
            <a:normAutofit lnSpcReduction="10000"/>
          </a:bodyPr>
          <a:lstStyle/>
          <a:p>
            <a:pPr marL="0" indent="0" algn="l">
              <a:lnSpc>
                <a:spcPct val="78035"/>
              </a:lnSpc>
              <a:buNone/>
            </a:pPr>
            <a:r>
              <a:rPr lang="en-US" sz="11250" b="1" kern="0" spc="-337" dirty="0">
                <a:solidFill>
                  <a:srgbClr val="141414"/>
                </a:solidFill>
                <a:latin typeface="Arial" pitchFamily="34" charset="0"/>
                <a:ea typeface="Arial" pitchFamily="34" charset="-122"/>
                <a:cs typeface="Arial" pitchFamily="34" charset="-120"/>
              </a:rPr>
              <a:t>128²</a:t>
            </a:r>
            <a:endParaRPr lang="en-US" sz="11250" dirty="0"/>
          </a:p>
        </p:txBody>
      </p:sp>
      <p:sp>
        <p:nvSpPr>
          <p:cNvPr id="7" name="Text 5"/>
          <p:cNvSpPr/>
          <p:nvPr/>
        </p:nvSpPr>
        <p:spPr>
          <a:xfrm>
            <a:off x="5146477" y="3776662"/>
            <a:ext cx="2768854" cy="731490"/>
          </a:xfrm>
          <a:prstGeom prst="rect">
            <a:avLst/>
          </a:prstGeom>
          <a:noFill/>
          <a:ln/>
        </p:spPr>
        <p:txBody>
          <a:bodyPr wrap="square" lIns="25400" tIns="25400" rIns="25400" bIns="25400" rtlCol="0" anchor="t">
            <a:normAutofit lnSpcReduction="10000"/>
          </a:bodyPr>
          <a:lstStyle/>
          <a:p>
            <a:pPr marL="0" indent="0" algn="l">
              <a:lnSpc>
                <a:spcPct val="112000"/>
              </a:lnSpc>
              <a:buNone/>
            </a:pPr>
            <a:r>
              <a:rPr lang="en-US" sz="2100" dirty="0">
                <a:solidFill>
                  <a:srgbClr val="5A5A5A"/>
                </a:solidFill>
                <a:latin typeface="Arial" pitchFamily="34" charset="0"/>
                <a:ea typeface="Arial" pitchFamily="34" charset="-122"/>
                <a:cs typeface="Arial" pitchFamily="34" charset="-120"/>
              </a:rPr>
              <a:t>resolution, RGB normalized to [−1, 1]</a:t>
            </a:r>
            <a:endParaRPr lang="en-US" sz="2100" dirty="0"/>
          </a:p>
        </p:txBody>
      </p:sp>
      <p:sp>
        <p:nvSpPr>
          <p:cNvPr id="8" name="Text 6"/>
          <p:cNvSpPr/>
          <p:nvPr/>
        </p:nvSpPr>
        <p:spPr>
          <a:xfrm>
            <a:off x="8882435" y="2395538"/>
            <a:ext cx="5037222" cy="1323975"/>
          </a:xfrm>
          <a:prstGeom prst="rect">
            <a:avLst/>
          </a:prstGeom>
          <a:noFill/>
          <a:ln/>
        </p:spPr>
        <p:txBody>
          <a:bodyPr wrap="square" lIns="25400" tIns="25400" rIns="25400" bIns="25400" rtlCol="0" anchor="t">
            <a:normAutofit lnSpcReduction="10000"/>
          </a:bodyPr>
          <a:lstStyle/>
          <a:p>
            <a:pPr marL="0" indent="0" algn="l">
              <a:lnSpc>
                <a:spcPct val="78035"/>
              </a:lnSpc>
              <a:buNone/>
            </a:pPr>
            <a:r>
              <a:rPr lang="en-US" sz="11250" b="1" kern="0" spc="-337" dirty="0">
                <a:solidFill>
                  <a:srgbClr val="141414"/>
                </a:solidFill>
                <a:latin typeface="Arial" pitchFamily="34" charset="0"/>
                <a:ea typeface="Arial" pitchFamily="34" charset="-122"/>
                <a:cs typeface="Arial" pitchFamily="34" charset="-120"/>
              </a:rPr>
              <a:t>63/7</a:t>
            </a:r>
            <a:endParaRPr lang="en-US" sz="11250" dirty="0"/>
          </a:p>
        </p:txBody>
      </p:sp>
      <p:sp>
        <p:nvSpPr>
          <p:cNvPr id="9" name="Text 7"/>
          <p:cNvSpPr/>
          <p:nvPr/>
        </p:nvSpPr>
        <p:spPr>
          <a:xfrm>
            <a:off x="8882435" y="3776662"/>
            <a:ext cx="4716671" cy="731490"/>
          </a:xfrm>
          <a:prstGeom prst="rect">
            <a:avLst/>
          </a:prstGeom>
          <a:noFill/>
          <a:ln/>
        </p:spPr>
        <p:txBody>
          <a:bodyPr wrap="square" lIns="25400" tIns="25400" rIns="25400" bIns="25400" rtlCol="0" anchor="t">
            <a:normAutofit lnSpcReduction="10000"/>
          </a:bodyPr>
          <a:lstStyle/>
          <a:p>
            <a:pPr marL="0" indent="0" algn="l">
              <a:lnSpc>
                <a:spcPct val="112000"/>
              </a:lnSpc>
              <a:buNone/>
            </a:pPr>
            <a:r>
              <a:rPr lang="en-US" sz="2100" dirty="0">
                <a:solidFill>
                  <a:srgbClr val="5A5A5A"/>
                </a:solidFill>
                <a:latin typeface="Arial" pitchFamily="34" charset="0"/>
                <a:ea typeface="Arial" pitchFamily="34" charset="-122"/>
                <a:cs typeface="Arial" pitchFamily="34" charset="-120"/>
              </a:rPr>
              <a:t>thousand images, train / validation seeded split, identical for both models</a:t>
            </a:r>
            <a:endParaRPr lang="en-US" sz="2100" dirty="0"/>
          </a:p>
        </p:txBody>
      </p:sp>
      <p:sp>
        <p:nvSpPr>
          <p:cNvPr id="10" name="Text 8"/>
          <p:cNvSpPr/>
          <p:nvPr/>
        </p:nvSpPr>
        <p:spPr>
          <a:xfrm>
            <a:off x="990600" y="5079653"/>
            <a:ext cx="7966329" cy="1851422"/>
          </a:xfrm>
          <a:prstGeom prst="rect">
            <a:avLst/>
          </a:prstGeom>
          <a:noFill/>
          <a:ln/>
        </p:spPr>
        <p:txBody>
          <a:bodyPr wrap="square" lIns="25400" tIns="25400" rIns="25400" bIns="25400" rtlCol="0" anchor="t">
            <a:normAutofit lnSpcReduction="10000"/>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Aligned, homogeneous face crops keep the spectral statistics stable across the dataset, so differences in the generated spectra can be attributed to the model rather than to content variability.</a:t>
            </a:r>
            <a:endParaRPr lang="en-US" sz="2550" dirty="0"/>
          </a:p>
        </p:txBody>
      </p:sp>
      <p:sp>
        <p:nvSpPr>
          <p:cNvPr id="11" name="Text 9"/>
          <p:cNvSpPr/>
          <p:nvPr/>
        </p:nvSpPr>
        <p:spPr>
          <a:xfrm>
            <a:off x="9563100" y="5079653"/>
            <a:ext cx="7966329" cy="1851422"/>
          </a:xfrm>
          <a:prstGeom prst="rect">
            <a:avLst/>
          </a:prstGeom>
          <a:noFill/>
          <a:ln/>
        </p:spPr>
        <p:txBody>
          <a:bodyPr wrap="square" lIns="25400" tIns="25400" rIns="25400" bIns="25400" rtlCol="0" anchor="t">
            <a:normAutofit/>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The 7000-image validation split is the reference set for both FID and the spectral comparison; it is never seen during training.</a:t>
            </a:r>
            <a:endParaRPr lang="en-US" sz="2550" dirty="0"/>
          </a:p>
        </p:txBody>
      </p:sp>
      <p:sp>
        <p:nvSpPr>
          <p:cNvPr id="12" name="Text 10"/>
          <p:cNvSpPr/>
          <p:nvPr/>
        </p:nvSpPr>
        <p:spPr>
          <a:xfrm>
            <a:off x="16474380" y="9610725"/>
            <a:ext cx="89922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5 / 15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Proposed Method — Frequency Representation</a:t>
            </a:r>
            <a:endParaRPr lang="en-US" sz="4800" dirty="0"/>
          </a:p>
        </p:txBody>
      </p:sp>
      <p:sp>
        <p:nvSpPr>
          <p:cNvPr id="3" name="Shape 1"/>
          <p:cNvSpPr/>
          <p:nvPr/>
        </p:nvSpPr>
        <p:spPr>
          <a:xfrm>
            <a:off x="990600" y="1881187"/>
            <a:ext cx="16306800" cy="19050"/>
          </a:xfrm>
          <a:prstGeom prst="rect">
            <a:avLst/>
          </a:prstGeom>
          <a:solidFill>
            <a:srgbClr val="DCDCDC"/>
          </a:solidFill>
          <a:ln/>
        </p:spPr>
      </p:sp>
      <p:sp>
        <p:nvSpPr>
          <p:cNvPr id="4" name="Shape 2"/>
          <p:cNvSpPr/>
          <p:nvPr/>
        </p:nvSpPr>
        <p:spPr>
          <a:xfrm>
            <a:off x="990600" y="3182094"/>
            <a:ext cx="2228850" cy="2228850"/>
          </a:xfrm>
          <a:prstGeom prst="rect">
            <a:avLst/>
          </a:prstGeom>
          <a:ln w="19050">
            <a:solidFill>
              <a:srgbClr val="141414"/>
            </a:solidFill>
            <a:prstDash val="solid"/>
          </a:ln>
        </p:spPr>
      </p:sp>
      <p:pic>
        <p:nvPicPr>
          <p:cNvPr id="5" name="Image 0" descr="preencoded.png"/>
          <p:cNvPicPr>
            <a:picLocks noChangeAspect="1"/>
          </p:cNvPicPr>
          <p:nvPr/>
        </p:nvPicPr>
        <p:blipFill>
          <a:blip r:embed="rId3"/>
          <a:stretch>
            <a:fillRect/>
          </a:stretch>
        </p:blipFill>
        <p:spPr>
          <a:xfrm>
            <a:off x="990600" y="3182094"/>
            <a:ext cx="2228850" cy="2228850"/>
          </a:xfrm>
          <a:prstGeom prst="rect">
            <a:avLst/>
          </a:prstGeom>
        </p:spPr>
      </p:pic>
      <p:sp>
        <p:nvSpPr>
          <p:cNvPr id="6" name="Text 3"/>
          <p:cNvSpPr/>
          <p:nvPr/>
        </p:nvSpPr>
        <p:spPr>
          <a:xfrm>
            <a:off x="952500" y="5544294"/>
            <a:ext cx="2305050" cy="632371"/>
          </a:xfrm>
          <a:prstGeom prst="rect">
            <a:avLst/>
          </a:prstGeom>
          <a:noFill/>
          <a:ln/>
        </p:spPr>
        <p:txBody>
          <a:bodyPr wrap="square" lIns="25400" tIns="25400" rIns="25400" bIns="25400" rtlCol="0" anchor="t">
            <a:normAutofit lnSpcReduction="10000"/>
          </a:bodyPr>
          <a:lstStyle/>
          <a:p>
            <a:pPr marL="0" indent="0" algn="ctr">
              <a:lnSpc>
                <a:spcPct val="115556"/>
              </a:lnSpc>
              <a:buNone/>
            </a:pPr>
            <a:r>
              <a:rPr lang="en-US" sz="1800" dirty="0">
                <a:solidFill>
                  <a:srgbClr val="5A5A5A"/>
                </a:solidFill>
                <a:latin typeface="Courier New" pitchFamily="34" charset="0"/>
                <a:ea typeface="Courier New" pitchFamily="34" charset="-122"/>
                <a:cs typeface="Courier New" pitchFamily="34" charset="-120"/>
              </a:rPr>
              <a:t>RGB image [B, 3, 128, 128]</a:t>
            </a:r>
            <a:endParaRPr lang="en-US" sz="1800" dirty="0"/>
          </a:p>
        </p:txBody>
      </p:sp>
      <p:sp>
        <p:nvSpPr>
          <p:cNvPr id="7" name="Text 4"/>
          <p:cNvSpPr/>
          <p:nvPr/>
        </p:nvSpPr>
        <p:spPr>
          <a:xfrm>
            <a:off x="3448050" y="4274567"/>
            <a:ext cx="1810561" cy="333375"/>
          </a:xfrm>
          <a:prstGeom prst="rect">
            <a:avLst/>
          </a:prstGeom>
          <a:noFill/>
          <a:ln/>
        </p:spPr>
        <p:txBody>
          <a:bodyPr wrap="none" lIns="25400" tIns="25400" rIns="25400" bIns="25400" rtlCol="0" anchor="t">
            <a:normAutofit/>
          </a:bodyPr>
          <a:lstStyle/>
          <a:p>
            <a:pPr marL="0" indent="0" algn="l">
              <a:buNone/>
            </a:pPr>
            <a:r>
              <a:rPr lang="en-US" sz="1800" dirty="0">
                <a:solidFill>
                  <a:srgbClr val="0052B4"/>
                </a:solidFill>
                <a:latin typeface="Courier New" pitchFamily="34" charset="0"/>
                <a:ea typeface="Courier New" pitchFamily="34" charset="-122"/>
                <a:cs typeface="Courier New" pitchFamily="34" charset="-120"/>
              </a:rPr>
              <a:t>FFT2 · ortho</a:t>
            </a:r>
            <a:endParaRPr lang="en-US" sz="1800" dirty="0"/>
          </a:p>
        </p:txBody>
      </p:sp>
      <p:sp>
        <p:nvSpPr>
          <p:cNvPr id="9" name="Shape 6"/>
          <p:cNvSpPr/>
          <p:nvPr/>
        </p:nvSpPr>
        <p:spPr>
          <a:xfrm>
            <a:off x="5322615" y="3182094"/>
            <a:ext cx="2228850" cy="2228850"/>
          </a:xfrm>
          <a:prstGeom prst="rect">
            <a:avLst/>
          </a:prstGeom>
          <a:ln w="19050">
            <a:solidFill>
              <a:srgbClr val="141414"/>
            </a:solidFill>
            <a:prstDash val="solid"/>
          </a:ln>
        </p:spPr>
      </p:sp>
      <p:pic>
        <p:nvPicPr>
          <p:cNvPr id="10" name="Image 1" descr="preencoded.png"/>
          <p:cNvPicPr>
            <a:picLocks noChangeAspect="1"/>
          </p:cNvPicPr>
          <p:nvPr/>
        </p:nvPicPr>
        <p:blipFill>
          <a:blip r:embed="rId4"/>
          <a:stretch>
            <a:fillRect/>
          </a:stretch>
        </p:blipFill>
        <p:spPr>
          <a:xfrm>
            <a:off x="5322615" y="3182094"/>
            <a:ext cx="2228850" cy="2228850"/>
          </a:xfrm>
          <a:prstGeom prst="rect">
            <a:avLst/>
          </a:prstGeom>
        </p:spPr>
      </p:pic>
      <p:sp>
        <p:nvSpPr>
          <p:cNvPr id="11" name="Text 7"/>
          <p:cNvSpPr/>
          <p:nvPr/>
        </p:nvSpPr>
        <p:spPr>
          <a:xfrm>
            <a:off x="5284515" y="5544294"/>
            <a:ext cx="2305050" cy="632371"/>
          </a:xfrm>
          <a:prstGeom prst="rect">
            <a:avLst/>
          </a:prstGeom>
          <a:noFill/>
          <a:ln/>
        </p:spPr>
        <p:txBody>
          <a:bodyPr wrap="square" lIns="25400" tIns="25400" rIns="25400" bIns="25400" rtlCol="0" anchor="t">
            <a:normAutofit lnSpcReduction="10000"/>
          </a:bodyPr>
          <a:lstStyle/>
          <a:p>
            <a:pPr marL="0" indent="0" algn="ctr">
              <a:lnSpc>
                <a:spcPct val="115556"/>
              </a:lnSpc>
              <a:buNone/>
            </a:pPr>
            <a:r>
              <a:rPr lang="en-US" sz="1800" dirty="0">
                <a:solidFill>
                  <a:srgbClr val="5A5A5A"/>
                </a:solidFill>
                <a:latin typeface="Courier New" pitchFamily="34" charset="0"/>
                <a:ea typeface="Courier New" pitchFamily="34" charset="-122"/>
                <a:cs typeface="Courier New" pitchFamily="34" charset="-120"/>
              </a:rPr>
              <a:t>centred spectrum complex</a:t>
            </a:r>
            <a:endParaRPr lang="en-US" sz="1800" dirty="0"/>
          </a:p>
        </p:txBody>
      </p:sp>
      <p:sp>
        <p:nvSpPr>
          <p:cNvPr id="12" name="Text 8"/>
          <p:cNvSpPr/>
          <p:nvPr/>
        </p:nvSpPr>
        <p:spPr>
          <a:xfrm>
            <a:off x="7780065" y="4269804"/>
            <a:ext cx="1961421" cy="342900"/>
          </a:xfrm>
          <a:prstGeom prst="rect">
            <a:avLst/>
          </a:prstGeom>
          <a:noFill/>
          <a:ln/>
        </p:spPr>
        <p:txBody>
          <a:bodyPr wrap="none" lIns="25400" tIns="25400" rIns="25400" bIns="25400" rtlCol="0" anchor="t">
            <a:normAutofit/>
          </a:bodyPr>
          <a:lstStyle/>
          <a:p>
            <a:pPr marL="0" indent="0" algn="l">
              <a:buNone/>
            </a:pPr>
            <a:r>
              <a:rPr lang="en-US" sz="1800" dirty="0">
                <a:solidFill>
                  <a:srgbClr val="0052B4"/>
                </a:solidFill>
                <a:latin typeface="Courier New" pitchFamily="34" charset="0"/>
                <a:ea typeface="Courier New" pitchFamily="34" charset="-122"/>
                <a:cs typeface="Courier New" pitchFamily="34" charset="-120"/>
              </a:rPr>
              <a:t>split ‖ stack</a:t>
            </a:r>
            <a:endParaRPr lang="en-US" sz="1800" dirty="0"/>
          </a:p>
        </p:txBody>
      </p:sp>
      <p:sp>
        <p:nvSpPr>
          <p:cNvPr id="14" name="Shape 10"/>
          <p:cNvSpPr/>
          <p:nvPr/>
        </p:nvSpPr>
        <p:spPr>
          <a:xfrm>
            <a:off x="9791774" y="3544937"/>
            <a:ext cx="1800225" cy="1800225"/>
          </a:xfrm>
          <a:prstGeom prst="rect">
            <a:avLst/>
          </a:prstGeom>
          <a:ln w="19050">
            <a:solidFill>
              <a:srgbClr val="141414"/>
            </a:solidFill>
            <a:prstDash val="solid"/>
          </a:ln>
        </p:spPr>
      </p:sp>
      <p:pic>
        <p:nvPicPr>
          <p:cNvPr id="15" name="Image 2" descr="preencoded.png"/>
          <p:cNvPicPr>
            <a:picLocks noChangeAspect="1"/>
          </p:cNvPicPr>
          <p:nvPr/>
        </p:nvPicPr>
        <p:blipFill>
          <a:blip r:embed="rId5"/>
          <a:stretch>
            <a:fillRect/>
          </a:stretch>
        </p:blipFill>
        <p:spPr>
          <a:xfrm>
            <a:off x="9791774" y="3544937"/>
            <a:ext cx="1800225" cy="1800225"/>
          </a:xfrm>
          <a:prstGeom prst="rect">
            <a:avLst/>
          </a:prstGeom>
        </p:spPr>
      </p:pic>
      <p:sp>
        <p:nvSpPr>
          <p:cNvPr id="16" name="Text 11"/>
          <p:cNvSpPr/>
          <p:nvPr/>
        </p:nvSpPr>
        <p:spPr>
          <a:xfrm>
            <a:off x="9701763" y="5478512"/>
            <a:ext cx="1980248" cy="335235"/>
          </a:xfrm>
          <a:prstGeom prst="rect">
            <a:avLst/>
          </a:prstGeom>
          <a:noFill/>
          <a:ln/>
        </p:spPr>
        <p:txBody>
          <a:bodyPr wrap="square" lIns="25400" tIns="25400" rIns="25400" bIns="25400" rtlCol="0" anchor="t">
            <a:normAutofit fontScale="92500" lnSpcReduction="10000"/>
          </a:bodyPr>
          <a:lstStyle/>
          <a:p>
            <a:pPr marL="0" indent="0" algn="ctr">
              <a:lnSpc>
                <a:spcPct val="115556"/>
              </a:lnSpc>
              <a:buNone/>
            </a:pPr>
            <a:r>
              <a:rPr lang="en-US" sz="1800" dirty="0">
                <a:solidFill>
                  <a:srgbClr val="5A5A5A"/>
                </a:solidFill>
                <a:latin typeface="Courier New" pitchFamily="34" charset="0"/>
                <a:ea typeface="Courier New" pitchFamily="34" charset="-122"/>
                <a:cs typeface="Courier New" pitchFamily="34" charset="-120"/>
              </a:rPr>
              <a:t>real</a:t>
            </a:r>
            <a:endParaRPr lang="en-US" sz="1800" dirty="0"/>
          </a:p>
        </p:txBody>
      </p:sp>
      <p:sp>
        <p:nvSpPr>
          <p:cNvPr id="17" name="Shape 12"/>
          <p:cNvSpPr/>
          <p:nvPr/>
        </p:nvSpPr>
        <p:spPr>
          <a:xfrm>
            <a:off x="11763449" y="3544937"/>
            <a:ext cx="1800225" cy="1800225"/>
          </a:xfrm>
          <a:prstGeom prst="rect">
            <a:avLst/>
          </a:prstGeom>
          <a:ln w="19050">
            <a:solidFill>
              <a:srgbClr val="141414"/>
            </a:solidFill>
            <a:prstDash val="solid"/>
          </a:ln>
        </p:spPr>
      </p:sp>
      <p:pic>
        <p:nvPicPr>
          <p:cNvPr id="18" name="Image 3" descr="preencoded.png"/>
          <p:cNvPicPr>
            <a:picLocks noChangeAspect="1"/>
          </p:cNvPicPr>
          <p:nvPr/>
        </p:nvPicPr>
        <p:blipFill>
          <a:blip r:embed="rId6"/>
          <a:stretch>
            <a:fillRect/>
          </a:stretch>
        </p:blipFill>
        <p:spPr>
          <a:xfrm>
            <a:off x="11763449" y="3544937"/>
            <a:ext cx="1800225" cy="1800225"/>
          </a:xfrm>
          <a:prstGeom prst="rect">
            <a:avLst/>
          </a:prstGeom>
        </p:spPr>
      </p:pic>
      <p:sp>
        <p:nvSpPr>
          <p:cNvPr id="19" name="Text 13"/>
          <p:cNvSpPr/>
          <p:nvPr/>
        </p:nvSpPr>
        <p:spPr>
          <a:xfrm>
            <a:off x="11673438" y="5478512"/>
            <a:ext cx="1980248" cy="335235"/>
          </a:xfrm>
          <a:prstGeom prst="rect">
            <a:avLst/>
          </a:prstGeom>
          <a:noFill/>
          <a:ln/>
        </p:spPr>
        <p:txBody>
          <a:bodyPr wrap="square" lIns="25400" tIns="25400" rIns="25400" bIns="25400" rtlCol="0" anchor="t">
            <a:normAutofit fontScale="92500" lnSpcReduction="10000"/>
          </a:bodyPr>
          <a:lstStyle/>
          <a:p>
            <a:pPr marL="0" indent="0" algn="ctr">
              <a:lnSpc>
                <a:spcPct val="115556"/>
              </a:lnSpc>
              <a:buNone/>
            </a:pPr>
            <a:r>
              <a:rPr lang="en-US" sz="1800" dirty="0">
                <a:solidFill>
                  <a:srgbClr val="5A5A5A"/>
                </a:solidFill>
                <a:latin typeface="Courier New" pitchFamily="34" charset="0"/>
                <a:ea typeface="Courier New" pitchFamily="34" charset="-122"/>
                <a:cs typeface="Courier New" pitchFamily="34" charset="-120"/>
              </a:rPr>
              <a:t>imaginary</a:t>
            </a:r>
            <a:endParaRPr lang="en-US" sz="1800" dirty="0"/>
          </a:p>
        </p:txBody>
      </p:sp>
      <p:sp>
        <p:nvSpPr>
          <p:cNvPr id="20" name="Text 14"/>
          <p:cNvSpPr/>
          <p:nvPr/>
        </p:nvSpPr>
        <p:spPr>
          <a:xfrm>
            <a:off x="13792274" y="4274567"/>
            <a:ext cx="1036365" cy="333375"/>
          </a:xfrm>
          <a:prstGeom prst="rect">
            <a:avLst/>
          </a:prstGeom>
          <a:noFill/>
          <a:ln/>
        </p:spPr>
        <p:txBody>
          <a:bodyPr wrap="none" lIns="25400" tIns="25400" rIns="25400" bIns="25400" rtlCol="0" anchor="t">
            <a:normAutofit/>
          </a:bodyPr>
          <a:lstStyle/>
          <a:p>
            <a:pPr marL="0" indent="0" algn="l">
              <a:buNone/>
            </a:pPr>
            <a:r>
              <a:rPr lang="en-US" sz="1800" dirty="0">
                <a:solidFill>
                  <a:srgbClr val="0052B4"/>
                </a:solidFill>
                <a:latin typeface="Courier New" pitchFamily="34" charset="0"/>
                <a:ea typeface="Courier New" pitchFamily="34" charset="-122"/>
                <a:cs typeface="Courier New" pitchFamily="34" charset="-120"/>
              </a:rPr>
              <a:t>to UNet</a:t>
            </a:r>
            <a:endParaRPr lang="en-US" sz="1800" dirty="0"/>
          </a:p>
        </p:txBody>
      </p:sp>
      <p:sp>
        <p:nvSpPr>
          <p:cNvPr id="22" name="Shape 16"/>
          <p:cNvSpPr/>
          <p:nvPr/>
        </p:nvSpPr>
        <p:spPr>
          <a:xfrm>
            <a:off x="14981039" y="4028331"/>
            <a:ext cx="2929905" cy="833438"/>
          </a:xfrm>
          <a:prstGeom prst="rect">
            <a:avLst/>
          </a:prstGeom>
          <a:solidFill>
            <a:srgbClr val="0052B4"/>
          </a:solidFill>
          <a:ln w="28575">
            <a:solidFill>
              <a:srgbClr val="0052B4"/>
            </a:solidFill>
            <a:prstDash val="solid"/>
          </a:ln>
        </p:spPr>
      </p:sp>
      <p:sp>
        <p:nvSpPr>
          <p:cNvPr id="23" name="Text 17"/>
          <p:cNvSpPr/>
          <p:nvPr/>
        </p:nvSpPr>
        <p:spPr>
          <a:xfrm>
            <a:off x="15257264" y="4285506"/>
            <a:ext cx="2465352" cy="357188"/>
          </a:xfrm>
          <a:prstGeom prst="rect">
            <a:avLst/>
          </a:prstGeom>
          <a:noFill/>
          <a:ln/>
        </p:spPr>
        <p:txBody>
          <a:bodyPr wrap="none" lIns="25400" tIns="25400" rIns="25400" bIns="25400" rtlCol="0" anchor="t">
            <a:normAutofit/>
          </a:bodyPr>
          <a:lstStyle/>
          <a:p>
            <a:pPr marL="0" indent="0" algn="l">
              <a:buNone/>
            </a:pPr>
            <a:r>
              <a:rPr lang="en-US" sz="1950" dirty="0">
                <a:solidFill>
                  <a:srgbClr val="FFFFFF"/>
                </a:solidFill>
                <a:latin typeface="Courier New" pitchFamily="34" charset="0"/>
                <a:ea typeface="Courier New" pitchFamily="34" charset="-122"/>
                <a:cs typeface="Courier New" pitchFamily="34" charset="-120"/>
              </a:rPr>
              <a:t>[B, 6, 128, 128]</a:t>
            </a:r>
            <a:endParaRPr lang="en-US" sz="1950" dirty="0"/>
          </a:p>
        </p:txBody>
      </p:sp>
      <p:sp>
        <p:nvSpPr>
          <p:cNvPr id="24" name="Text 18"/>
          <p:cNvSpPr/>
          <p:nvPr/>
        </p:nvSpPr>
        <p:spPr>
          <a:xfrm>
            <a:off x="15314384" y="4995118"/>
            <a:ext cx="2263140" cy="335235"/>
          </a:xfrm>
          <a:prstGeom prst="rect">
            <a:avLst/>
          </a:prstGeom>
          <a:noFill/>
          <a:ln/>
        </p:spPr>
        <p:txBody>
          <a:bodyPr wrap="square" lIns="25400" tIns="25400" rIns="25400" bIns="25400" rtlCol="0" anchor="t">
            <a:normAutofit fontScale="92500" lnSpcReduction="10000"/>
          </a:bodyPr>
          <a:lstStyle/>
          <a:p>
            <a:pPr marL="0" indent="0" algn="ctr">
              <a:lnSpc>
                <a:spcPct val="115556"/>
              </a:lnSpc>
              <a:buNone/>
            </a:pPr>
            <a:r>
              <a:rPr lang="en-US" sz="1800" dirty="0">
                <a:solidFill>
                  <a:srgbClr val="5A5A5A"/>
                </a:solidFill>
                <a:latin typeface="Courier New" pitchFamily="34" charset="0"/>
                <a:ea typeface="Courier New" pitchFamily="34" charset="-122"/>
                <a:cs typeface="Courier New" pitchFamily="34" charset="-120"/>
              </a:rPr>
              <a:t>6 real channels</a:t>
            </a:r>
            <a:endParaRPr lang="en-US" sz="1800" dirty="0"/>
          </a:p>
        </p:txBody>
      </p:sp>
      <p:sp>
        <p:nvSpPr>
          <p:cNvPr id="25" name="Text 19"/>
          <p:cNvSpPr/>
          <p:nvPr/>
        </p:nvSpPr>
        <p:spPr>
          <a:xfrm>
            <a:off x="990600" y="8016478"/>
            <a:ext cx="3202290"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0052B4"/>
                </a:solidFill>
                <a:latin typeface="Courier New" pitchFamily="34" charset="0"/>
                <a:ea typeface="Courier New" pitchFamily="34" charset="-122"/>
                <a:cs typeface="Courier New" pitchFamily="34" charset="-120"/>
              </a:rPr>
              <a:t>WHY REAL / IMAGINARY</a:t>
            </a:r>
            <a:endParaRPr lang="en-US" sz="1800" dirty="0"/>
          </a:p>
        </p:txBody>
      </p:sp>
      <p:sp>
        <p:nvSpPr>
          <p:cNvPr id="26" name="Text 20"/>
          <p:cNvSpPr/>
          <p:nvPr/>
        </p:nvSpPr>
        <p:spPr>
          <a:xfrm>
            <a:off x="4480620" y="7940278"/>
            <a:ext cx="11121405" cy="1584722"/>
          </a:xfrm>
          <a:prstGeom prst="rect">
            <a:avLst/>
          </a:prstGeom>
          <a:noFill/>
          <a:ln/>
        </p:spPr>
        <p:txBody>
          <a:bodyPr wrap="square" lIns="25400" tIns="25400" rIns="25400" bIns="25400" rtlCol="0" anchor="t">
            <a:normAutofit lnSpcReduction="10000"/>
          </a:bodyPr>
          <a:lstStyle/>
          <a:p>
            <a:pPr marL="0" indent="0" algn="l">
              <a:lnSpc>
                <a:spcPct val="124923"/>
              </a:lnSpc>
              <a:buNone/>
            </a:pPr>
            <a:r>
              <a:rPr lang="en-US" sz="2100" dirty="0">
                <a:solidFill>
                  <a:srgbClr val="141414"/>
                </a:solidFill>
                <a:latin typeface="Arial" pitchFamily="34" charset="0"/>
                <a:ea typeface="Arial" pitchFamily="34" charset="-122"/>
                <a:cs typeface="Arial" pitchFamily="34" charset="-120"/>
              </a:rPr>
              <a:t>Diffusion injects unbounded Gaussian noise at every step. Real and imaginary parts are unconstrained on the whole real line, so they stay well-behaved under that noise and under an L2 objective. Magnitude and phase are not: magnitude is non-negative and phase wraps at ±π, so neither is compatible with plain Gaussian perturbation.</a:t>
            </a:r>
            <a:endParaRPr lang="en-US" sz="2100" dirty="0"/>
          </a:p>
        </p:txBody>
      </p:sp>
      <p:sp>
        <p:nvSpPr>
          <p:cNvPr id="27" name="Text 21"/>
          <p:cNvSpPr/>
          <p:nvPr/>
        </p:nvSpPr>
        <p:spPr>
          <a:xfrm>
            <a:off x="16474380" y="9610725"/>
            <a:ext cx="89922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6 / 15</a:t>
            </a:r>
            <a:endParaRPr lang="en-US" sz="1800" dirty="0"/>
          </a:p>
        </p:txBody>
      </p:sp>
      <p:sp>
        <p:nvSpPr>
          <p:cNvPr id="28" name="Triangolo 27">
            <a:extLst>
              <a:ext uri="{FF2B5EF4-FFF2-40B4-BE49-F238E27FC236}">
                <a16:creationId xmlns:a16="http://schemas.microsoft.com/office/drawing/2014/main" id="{DED93042-1FB4-AC25-079F-E55084F32E4F}"/>
              </a:ext>
            </a:extLst>
          </p:cNvPr>
          <p:cNvSpPr>
            <a:spLocks noChangeAspect="1"/>
          </p:cNvSpPr>
          <p:nvPr/>
        </p:nvSpPr>
        <p:spPr>
          <a:xfrm rot="5400000">
            <a:off x="4111452" y="4607942"/>
            <a:ext cx="360000" cy="360000"/>
          </a:xfrm>
          <a:prstGeom prst="triangle">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9" name="Triangolo 28">
            <a:extLst>
              <a:ext uri="{FF2B5EF4-FFF2-40B4-BE49-F238E27FC236}">
                <a16:creationId xmlns:a16="http://schemas.microsoft.com/office/drawing/2014/main" id="{7FD79F30-17A4-D855-D7A0-11C4F438F592}"/>
              </a:ext>
            </a:extLst>
          </p:cNvPr>
          <p:cNvSpPr>
            <a:spLocks noChangeAspect="1"/>
          </p:cNvSpPr>
          <p:nvPr/>
        </p:nvSpPr>
        <p:spPr>
          <a:xfrm rot="5400000">
            <a:off x="8543092" y="4635118"/>
            <a:ext cx="360000" cy="360000"/>
          </a:xfrm>
          <a:prstGeom prst="triangle">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0" name="Triangolo 29">
            <a:extLst>
              <a:ext uri="{FF2B5EF4-FFF2-40B4-BE49-F238E27FC236}">
                <a16:creationId xmlns:a16="http://schemas.microsoft.com/office/drawing/2014/main" id="{6168BF87-18D4-21C2-AC4A-EAE91191F961}"/>
              </a:ext>
            </a:extLst>
          </p:cNvPr>
          <p:cNvSpPr>
            <a:spLocks noChangeAspect="1"/>
          </p:cNvSpPr>
          <p:nvPr/>
        </p:nvSpPr>
        <p:spPr>
          <a:xfrm rot="5400000">
            <a:off x="14201268" y="4618746"/>
            <a:ext cx="360000" cy="360000"/>
          </a:xfrm>
          <a:prstGeom prst="triangle">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Proposed Method — Spectral Normalization</a:t>
            </a:r>
            <a:endParaRPr lang="en-US" sz="4800" dirty="0"/>
          </a:p>
        </p:txBody>
      </p:sp>
      <p:sp>
        <p:nvSpPr>
          <p:cNvPr id="3" name="Text 1"/>
          <p:cNvSpPr/>
          <p:nvPr/>
        </p:nvSpPr>
        <p:spPr>
          <a:xfrm>
            <a:off x="990600" y="2033588"/>
            <a:ext cx="15304770" cy="784771"/>
          </a:xfrm>
          <a:prstGeom prst="rect">
            <a:avLst/>
          </a:prstGeom>
          <a:noFill/>
          <a:ln/>
        </p:spPr>
        <p:txBody>
          <a:bodyPr wrap="square" lIns="25400" tIns="25400" rIns="25400" bIns="25400" rtlCol="0" anchor="t">
            <a:normAutofit lnSpcReduction="10000"/>
          </a:bodyPr>
          <a:lstStyle/>
          <a:p>
            <a:pPr marL="0" indent="0" algn="l">
              <a:lnSpc>
                <a:spcPct val="120615"/>
              </a:lnSpc>
              <a:buNone/>
            </a:pPr>
            <a:r>
              <a:rPr lang="en-US" sz="2100" dirty="0">
                <a:solidFill>
                  <a:srgbClr val="141414"/>
                </a:solidFill>
                <a:latin typeface="Arial" pitchFamily="34" charset="0"/>
                <a:ea typeface="Arial" pitchFamily="34" charset="-122"/>
                <a:cs typeface="Arial" pitchFamily="34" charset="-120"/>
              </a:rPr>
              <a:t>Low frequencies dominate the raw spectrum by orders of magnitude. Without symmetric log compression and per-channel standardization (statistics computed once on a batch of the training set) diffusion simply ignores the high frequencies.</a:t>
            </a:r>
            <a:endParaRPr lang="en-US" sz="2100" dirty="0"/>
          </a:p>
        </p:txBody>
      </p:sp>
      <p:sp>
        <p:nvSpPr>
          <p:cNvPr id="4" name="Text 2"/>
          <p:cNvSpPr/>
          <p:nvPr/>
        </p:nvSpPr>
        <p:spPr>
          <a:xfrm>
            <a:off x="990600" y="3027908"/>
            <a:ext cx="8382000" cy="347663"/>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41414"/>
                </a:solidFill>
                <a:latin typeface="Arial" pitchFamily="34" charset="0"/>
                <a:ea typeface="Arial" pitchFamily="34" charset="-122"/>
                <a:cs typeface="Arial" pitchFamily="34" charset="-120"/>
              </a:rPr>
              <a:t>Value distribution per stage</a:t>
            </a:r>
            <a:endParaRPr lang="en-US" sz="2100" dirty="0"/>
          </a:p>
        </p:txBody>
      </p:sp>
      <p:pic>
        <p:nvPicPr>
          <p:cNvPr id="5" name="Image 0" descr="preencoded.png"/>
          <p:cNvPicPr>
            <a:picLocks noChangeAspect="1"/>
          </p:cNvPicPr>
          <p:nvPr/>
        </p:nvPicPr>
        <p:blipFill>
          <a:blip r:embed="rId3"/>
          <a:srcRect r="-60000"/>
          <a:stretch/>
        </p:blipFill>
        <p:spPr>
          <a:xfrm>
            <a:off x="990600" y="3413671"/>
            <a:ext cx="7620000" cy="3810000"/>
          </a:xfrm>
          <a:prstGeom prst="rect">
            <a:avLst/>
          </a:prstGeom>
        </p:spPr>
      </p:pic>
      <p:sp>
        <p:nvSpPr>
          <p:cNvPr id="6" name="Text 3"/>
          <p:cNvSpPr/>
          <p:nvPr/>
        </p:nvSpPr>
        <p:spPr>
          <a:xfrm>
            <a:off x="9220200" y="3027908"/>
            <a:ext cx="8884838" cy="347663"/>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41414"/>
                </a:solidFill>
                <a:latin typeface="Arial" pitchFamily="34" charset="0"/>
                <a:ea typeface="Arial" pitchFamily="34" charset="-122"/>
                <a:cs typeface="Arial" pitchFamily="34" charset="-120"/>
              </a:rPr>
              <a:t>Radial decay, relative to DC</a:t>
            </a:r>
            <a:endParaRPr lang="en-US" sz="2100" dirty="0"/>
          </a:p>
        </p:txBody>
      </p:sp>
      <p:pic>
        <p:nvPicPr>
          <p:cNvPr id="7" name="Image 1" descr="preencoded.png"/>
          <p:cNvPicPr>
            <a:picLocks noChangeAspect="1"/>
          </p:cNvPicPr>
          <p:nvPr/>
        </p:nvPicPr>
        <p:blipFill>
          <a:blip r:embed="rId4"/>
          <a:srcRect r="-55909"/>
          <a:stretch/>
        </p:blipFill>
        <p:spPr>
          <a:xfrm>
            <a:off x="9220200" y="3413671"/>
            <a:ext cx="8077126" cy="3810000"/>
          </a:xfrm>
          <a:prstGeom prst="rect">
            <a:avLst/>
          </a:prstGeom>
        </p:spPr>
      </p:pic>
      <p:sp>
        <p:nvSpPr>
          <p:cNvPr id="8" name="Text 4"/>
          <p:cNvSpPr/>
          <p:nvPr/>
        </p:nvSpPr>
        <p:spPr>
          <a:xfrm>
            <a:off x="990600" y="7223671"/>
            <a:ext cx="4749745" cy="314325"/>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0052B4"/>
                </a:solidFill>
                <a:latin typeface="Courier New" pitchFamily="34" charset="0"/>
                <a:ea typeface="Courier New" pitchFamily="34" charset="-122"/>
                <a:cs typeface="Courier New" pitchFamily="34" charset="-120"/>
              </a:rPr>
              <a:t>1 </a:t>
            </a:r>
            <a:r>
              <a:rPr lang="en-US" sz="1800" b="1" dirty="0">
                <a:solidFill>
                  <a:srgbClr val="141414"/>
                </a:solidFill>
                <a:latin typeface="Arial" pitchFamily="34" charset="0"/>
                <a:ea typeface="Arial" pitchFamily="34" charset="-122"/>
                <a:cs typeface="Arial" pitchFamily="34" charset="-120"/>
              </a:rPr>
              <a:t>Signed log compression</a:t>
            </a:r>
            <a:endParaRPr lang="en-US" sz="1800" dirty="0"/>
          </a:p>
        </p:txBody>
      </p:sp>
      <p:sp>
        <p:nvSpPr>
          <p:cNvPr id="9" name="Shape 5"/>
          <p:cNvSpPr/>
          <p:nvPr/>
        </p:nvSpPr>
        <p:spPr>
          <a:xfrm>
            <a:off x="990600" y="7595146"/>
            <a:ext cx="4317950" cy="523875"/>
          </a:xfrm>
          <a:prstGeom prst="rect">
            <a:avLst/>
          </a:prstGeom>
          <a:solidFill>
            <a:srgbClr val="F5F5F3"/>
          </a:solidFill>
          <a:ln/>
        </p:spPr>
      </p:sp>
      <p:sp>
        <p:nvSpPr>
          <p:cNvPr id="10" name="Text 6"/>
          <p:cNvSpPr/>
          <p:nvPr/>
        </p:nvSpPr>
        <p:spPr>
          <a:xfrm>
            <a:off x="1143000" y="7709446"/>
            <a:ext cx="4142689"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41414"/>
                </a:solidFill>
                <a:latin typeface="Courier New" pitchFamily="34" charset="0"/>
                <a:ea typeface="Courier New" pitchFamily="34" charset="-122"/>
                <a:cs typeface="Courier New" pitchFamily="34" charset="-120"/>
              </a:rPr>
              <a:t>sign(x) · log(1 + |x|)</a:t>
            </a:r>
            <a:endParaRPr lang="en-US" sz="1800" dirty="0"/>
          </a:p>
        </p:txBody>
      </p:sp>
      <p:sp>
        <p:nvSpPr>
          <p:cNvPr id="11" name="Text 7"/>
          <p:cNvSpPr/>
          <p:nvPr/>
        </p:nvSpPr>
        <p:spPr>
          <a:xfrm>
            <a:off x="990600" y="8214271"/>
            <a:ext cx="4749745" cy="346695"/>
          </a:xfrm>
          <a:prstGeom prst="rect">
            <a:avLst/>
          </a:prstGeom>
          <a:noFill/>
          <a:ln/>
        </p:spPr>
        <p:txBody>
          <a:bodyPr wrap="square" lIns="25400" tIns="25400" rIns="25400" bIns="25400" rtlCol="0" anchor="t">
            <a:normAutofit lnSpcReduction="10000"/>
          </a:bodyPr>
          <a:lstStyle/>
          <a:p>
            <a:pPr marL="0" indent="0" algn="l">
              <a:lnSpc>
                <a:spcPct val="117818"/>
              </a:lnSpc>
              <a:buNone/>
            </a:pPr>
            <a:r>
              <a:rPr lang="en-US" sz="1800" dirty="0">
                <a:solidFill>
                  <a:srgbClr val="5A5A5A"/>
                </a:solidFill>
                <a:latin typeface="Arial" pitchFamily="34" charset="0"/>
                <a:ea typeface="Arial" pitchFamily="34" charset="-122"/>
                <a:cs typeface="Arial" pitchFamily="34" charset="-120"/>
              </a:rPr>
              <a:t>Pulls the raw ±30 range down to ±3.5.</a:t>
            </a:r>
            <a:endParaRPr lang="en-US" sz="1800" dirty="0"/>
          </a:p>
        </p:txBody>
      </p:sp>
      <p:sp>
        <p:nvSpPr>
          <p:cNvPr id="12" name="Text 8"/>
          <p:cNvSpPr/>
          <p:nvPr/>
        </p:nvSpPr>
        <p:spPr>
          <a:xfrm>
            <a:off x="5841950" y="7223671"/>
            <a:ext cx="4749827" cy="314325"/>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0052B4"/>
                </a:solidFill>
                <a:latin typeface="Courier New" pitchFamily="34" charset="0"/>
                <a:ea typeface="Courier New" pitchFamily="34" charset="-122"/>
                <a:cs typeface="Courier New" pitchFamily="34" charset="-120"/>
              </a:rPr>
              <a:t>2 </a:t>
            </a:r>
            <a:r>
              <a:rPr lang="en-US" sz="1800" b="1" dirty="0">
                <a:solidFill>
                  <a:srgbClr val="141414"/>
                </a:solidFill>
                <a:latin typeface="Arial" pitchFamily="34" charset="0"/>
                <a:ea typeface="Arial" pitchFamily="34" charset="-122"/>
                <a:cs typeface="Arial" pitchFamily="34" charset="-120"/>
              </a:rPr>
              <a:t>Per-channel standardization</a:t>
            </a:r>
            <a:endParaRPr lang="en-US" sz="1800" dirty="0"/>
          </a:p>
        </p:txBody>
      </p:sp>
      <p:sp>
        <p:nvSpPr>
          <p:cNvPr id="13" name="Shape 9"/>
          <p:cNvSpPr/>
          <p:nvPr/>
        </p:nvSpPr>
        <p:spPr>
          <a:xfrm>
            <a:off x="5841950" y="7595146"/>
            <a:ext cx="4318025" cy="819150"/>
          </a:xfrm>
          <a:prstGeom prst="rect">
            <a:avLst/>
          </a:prstGeom>
          <a:solidFill>
            <a:srgbClr val="F5F5F3"/>
          </a:solidFill>
          <a:ln/>
        </p:spPr>
      </p:sp>
      <p:sp>
        <p:nvSpPr>
          <p:cNvPr id="14" name="Text 10"/>
          <p:cNvSpPr/>
          <p:nvPr/>
        </p:nvSpPr>
        <p:spPr>
          <a:xfrm>
            <a:off x="5994350" y="7709446"/>
            <a:ext cx="4142766" cy="628650"/>
          </a:xfrm>
          <a:prstGeom prst="rect">
            <a:avLst/>
          </a:prstGeom>
          <a:noFill/>
          <a:ln/>
        </p:spPr>
        <p:txBody>
          <a:bodyPr wrap="square" lIns="25400" tIns="25400" rIns="25400" bIns="25400" rtlCol="0" anchor="t">
            <a:normAutofit/>
          </a:bodyPr>
          <a:lstStyle/>
          <a:p>
            <a:pPr marL="0" indent="0" algn="l">
              <a:buNone/>
            </a:pPr>
            <a:r>
              <a:rPr lang="en-US" sz="1800" dirty="0">
                <a:solidFill>
                  <a:srgbClr val="141414"/>
                </a:solidFill>
                <a:latin typeface="Courier New" pitchFamily="34" charset="0"/>
                <a:ea typeface="Courier New" pitchFamily="34" charset="-122"/>
                <a:cs typeface="Courier New" pitchFamily="34" charset="-120"/>
              </a:rPr>
              <a:t>(compress(f) − FREQ_MEAN) / FREQ_STD</a:t>
            </a:r>
            <a:endParaRPr lang="en-US" sz="1800" dirty="0"/>
          </a:p>
        </p:txBody>
      </p:sp>
      <p:sp>
        <p:nvSpPr>
          <p:cNvPr id="15" name="Text 11"/>
          <p:cNvSpPr/>
          <p:nvPr/>
        </p:nvSpPr>
        <p:spPr>
          <a:xfrm>
            <a:off x="5841950" y="8509546"/>
            <a:ext cx="4447566" cy="655290"/>
          </a:xfrm>
          <a:prstGeom prst="rect">
            <a:avLst/>
          </a:prstGeom>
          <a:noFill/>
          <a:ln/>
        </p:spPr>
        <p:txBody>
          <a:bodyPr wrap="square" lIns="25400" tIns="25400" rIns="25400" bIns="25400" rtlCol="0" anchor="t">
            <a:normAutofit lnSpcReduction="10000"/>
          </a:bodyPr>
          <a:lstStyle/>
          <a:p>
            <a:pPr marL="0" indent="0" algn="l">
              <a:lnSpc>
                <a:spcPct val="117818"/>
              </a:lnSpc>
              <a:buNone/>
            </a:pPr>
            <a:r>
              <a:rPr lang="en-US" sz="1800" dirty="0">
                <a:solidFill>
                  <a:srgbClr val="5A5A5A"/>
                </a:solidFill>
                <a:latin typeface="Arial" pitchFamily="34" charset="0"/>
                <a:ea typeface="Arial" pitchFamily="34" charset="-122"/>
                <a:cs typeface="Arial" pitchFamily="34" charset="-120"/>
              </a:rPr>
              <a:t>Stats [6,1,1] over 30 batches (≈960 images), persisted for sampling.</a:t>
            </a:r>
            <a:endParaRPr lang="en-US" sz="1800" dirty="0"/>
          </a:p>
        </p:txBody>
      </p:sp>
      <p:sp>
        <p:nvSpPr>
          <p:cNvPr id="16" name="Shape 12"/>
          <p:cNvSpPr/>
          <p:nvPr/>
        </p:nvSpPr>
        <p:spPr>
          <a:xfrm>
            <a:off x="10693375" y="7595146"/>
            <a:ext cx="1645965" cy="19050"/>
          </a:xfrm>
          <a:prstGeom prst="rect">
            <a:avLst/>
          </a:prstGeom>
          <a:solidFill>
            <a:srgbClr val="141414"/>
          </a:solidFill>
          <a:ln/>
        </p:spPr>
      </p:sp>
      <p:sp>
        <p:nvSpPr>
          <p:cNvPr id="17" name="Text 13"/>
          <p:cNvSpPr/>
          <p:nvPr/>
        </p:nvSpPr>
        <p:spPr>
          <a:xfrm>
            <a:off x="10693375" y="7223671"/>
            <a:ext cx="1722165" cy="333375"/>
          </a:xfrm>
          <a:prstGeom prst="rect">
            <a:avLst/>
          </a:prstGeom>
          <a:noFill/>
          <a:ln/>
        </p:spPr>
        <p:txBody>
          <a:bodyPr wrap="square" lIns="25400" tIns="25400" rIns="25400" bIns="25400" rtlCol="0" anchor="t">
            <a:normAutofit/>
          </a:bodyPr>
          <a:lstStyle/>
          <a:p>
            <a:pPr marL="0" indent="0" algn="l">
              <a:buNone/>
            </a:pPr>
            <a:r>
              <a:rPr lang="en-US" sz="1800" kern="0" spc="108" dirty="0">
                <a:solidFill>
                  <a:srgbClr val="0052B4"/>
                </a:solidFill>
                <a:latin typeface="Courier New" pitchFamily="34" charset="0"/>
                <a:ea typeface="Courier New" pitchFamily="34" charset="-122"/>
                <a:cs typeface="Courier New" pitchFamily="34" charset="-120"/>
              </a:rPr>
              <a:t>STAGE</a:t>
            </a:r>
            <a:endParaRPr lang="en-US" sz="1800" dirty="0"/>
          </a:p>
        </p:txBody>
      </p:sp>
      <p:sp>
        <p:nvSpPr>
          <p:cNvPr id="18" name="Shape 14"/>
          <p:cNvSpPr/>
          <p:nvPr/>
        </p:nvSpPr>
        <p:spPr>
          <a:xfrm>
            <a:off x="12529840" y="7595146"/>
            <a:ext cx="1089794" cy="19050"/>
          </a:xfrm>
          <a:prstGeom prst="rect">
            <a:avLst/>
          </a:prstGeom>
          <a:solidFill>
            <a:srgbClr val="141414"/>
          </a:solidFill>
          <a:ln/>
        </p:spPr>
      </p:sp>
      <p:sp>
        <p:nvSpPr>
          <p:cNvPr id="19" name="Text 15"/>
          <p:cNvSpPr/>
          <p:nvPr/>
        </p:nvSpPr>
        <p:spPr>
          <a:xfrm>
            <a:off x="12453640" y="7223671"/>
            <a:ext cx="1165994" cy="333375"/>
          </a:xfrm>
          <a:prstGeom prst="rect">
            <a:avLst/>
          </a:prstGeom>
          <a:noFill/>
          <a:ln/>
        </p:spPr>
        <p:txBody>
          <a:bodyPr wrap="square" lIns="25400" tIns="25400" rIns="25400" bIns="25400" rtlCol="0" anchor="t">
            <a:normAutofit/>
          </a:bodyPr>
          <a:lstStyle/>
          <a:p>
            <a:pPr marL="0" indent="0" algn="r">
              <a:buNone/>
            </a:pPr>
            <a:r>
              <a:rPr lang="en-US" sz="1800" kern="0" spc="108" dirty="0">
                <a:solidFill>
                  <a:srgbClr val="0052B4"/>
                </a:solidFill>
                <a:latin typeface="Courier New" pitchFamily="34" charset="0"/>
                <a:ea typeface="Courier New" pitchFamily="34" charset="-122"/>
                <a:cs typeface="Courier New" pitchFamily="34" charset="-120"/>
              </a:rPr>
              <a:t>MIN</a:t>
            </a:r>
            <a:endParaRPr lang="en-US" sz="1800" dirty="0"/>
          </a:p>
        </p:txBody>
      </p:sp>
      <p:sp>
        <p:nvSpPr>
          <p:cNvPr id="20" name="Shape 16"/>
          <p:cNvSpPr/>
          <p:nvPr/>
        </p:nvSpPr>
        <p:spPr>
          <a:xfrm>
            <a:off x="13810134" y="7595146"/>
            <a:ext cx="1089868" cy="19050"/>
          </a:xfrm>
          <a:prstGeom prst="rect">
            <a:avLst/>
          </a:prstGeom>
          <a:solidFill>
            <a:srgbClr val="141414"/>
          </a:solidFill>
          <a:ln/>
        </p:spPr>
      </p:sp>
      <p:sp>
        <p:nvSpPr>
          <p:cNvPr id="21" name="Text 17"/>
          <p:cNvSpPr/>
          <p:nvPr/>
        </p:nvSpPr>
        <p:spPr>
          <a:xfrm>
            <a:off x="13733934" y="7223671"/>
            <a:ext cx="1166068" cy="333375"/>
          </a:xfrm>
          <a:prstGeom prst="rect">
            <a:avLst/>
          </a:prstGeom>
          <a:noFill/>
          <a:ln/>
        </p:spPr>
        <p:txBody>
          <a:bodyPr wrap="square" lIns="25400" tIns="25400" rIns="25400" bIns="25400" rtlCol="0" anchor="t">
            <a:normAutofit/>
          </a:bodyPr>
          <a:lstStyle/>
          <a:p>
            <a:pPr marL="0" indent="0" algn="r">
              <a:buNone/>
            </a:pPr>
            <a:r>
              <a:rPr lang="en-US" sz="1800" kern="0" spc="108" dirty="0">
                <a:solidFill>
                  <a:srgbClr val="0052B4"/>
                </a:solidFill>
                <a:latin typeface="Courier New" pitchFamily="34" charset="0"/>
                <a:ea typeface="Courier New" pitchFamily="34" charset="-122"/>
                <a:cs typeface="Courier New" pitchFamily="34" charset="-120"/>
              </a:rPr>
              <a:t>MAX</a:t>
            </a:r>
            <a:endParaRPr lang="en-US" sz="1800" dirty="0"/>
          </a:p>
        </p:txBody>
      </p:sp>
      <p:sp>
        <p:nvSpPr>
          <p:cNvPr id="22" name="Shape 18"/>
          <p:cNvSpPr/>
          <p:nvPr/>
        </p:nvSpPr>
        <p:spPr>
          <a:xfrm>
            <a:off x="15090502" y="7595146"/>
            <a:ext cx="1089868" cy="19050"/>
          </a:xfrm>
          <a:prstGeom prst="rect">
            <a:avLst/>
          </a:prstGeom>
          <a:solidFill>
            <a:srgbClr val="141414"/>
          </a:solidFill>
          <a:ln/>
        </p:spPr>
      </p:sp>
      <p:sp>
        <p:nvSpPr>
          <p:cNvPr id="23" name="Text 19"/>
          <p:cNvSpPr/>
          <p:nvPr/>
        </p:nvSpPr>
        <p:spPr>
          <a:xfrm>
            <a:off x="15014302" y="7223671"/>
            <a:ext cx="1166068" cy="333375"/>
          </a:xfrm>
          <a:prstGeom prst="rect">
            <a:avLst/>
          </a:prstGeom>
          <a:noFill/>
          <a:ln/>
        </p:spPr>
        <p:txBody>
          <a:bodyPr wrap="square" lIns="25400" tIns="25400" rIns="25400" bIns="25400" rtlCol="0" anchor="t">
            <a:normAutofit/>
          </a:bodyPr>
          <a:lstStyle/>
          <a:p>
            <a:pPr marL="0" indent="0" algn="r">
              <a:buNone/>
            </a:pPr>
            <a:r>
              <a:rPr lang="en-US" sz="1800" kern="0" spc="108" dirty="0">
                <a:solidFill>
                  <a:srgbClr val="0052B4"/>
                </a:solidFill>
                <a:latin typeface="Courier New" pitchFamily="34" charset="0"/>
                <a:ea typeface="Courier New" pitchFamily="34" charset="-122"/>
                <a:cs typeface="Courier New" pitchFamily="34" charset="-120"/>
              </a:rPr>
              <a:t>MEAN</a:t>
            </a:r>
            <a:endParaRPr lang="en-US" sz="1800" dirty="0"/>
          </a:p>
        </p:txBody>
      </p:sp>
      <p:sp>
        <p:nvSpPr>
          <p:cNvPr id="24" name="Shape 20"/>
          <p:cNvSpPr/>
          <p:nvPr/>
        </p:nvSpPr>
        <p:spPr>
          <a:xfrm>
            <a:off x="16370871" y="7595146"/>
            <a:ext cx="926455" cy="19050"/>
          </a:xfrm>
          <a:prstGeom prst="rect">
            <a:avLst/>
          </a:prstGeom>
          <a:solidFill>
            <a:srgbClr val="141414"/>
          </a:solidFill>
          <a:ln/>
        </p:spPr>
      </p:sp>
      <p:sp>
        <p:nvSpPr>
          <p:cNvPr id="25" name="Text 21"/>
          <p:cNvSpPr/>
          <p:nvPr/>
        </p:nvSpPr>
        <p:spPr>
          <a:xfrm>
            <a:off x="16294671" y="7223671"/>
            <a:ext cx="1002655" cy="333375"/>
          </a:xfrm>
          <a:prstGeom prst="rect">
            <a:avLst/>
          </a:prstGeom>
          <a:noFill/>
          <a:ln/>
        </p:spPr>
        <p:txBody>
          <a:bodyPr wrap="square" lIns="25400" tIns="25400" rIns="25400" bIns="25400" rtlCol="0" anchor="t">
            <a:normAutofit/>
          </a:bodyPr>
          <a:lstStyle/>
          <a:p>
            <a:pPr marL="0" indent="0" algn="r">
              <a:buNone/>
            </a:pPr>
            <a:r>
              <a:rPr lang="en-US" sz="1800" kern="0" spc="108" dirty="0">
                <a:solidFill>
                  <a:srgbClr val="0052B4"/>
                </a:solidFill>
                <a:latin typeface="Courier New" pitchFamily="34" charset="0"/>
                <a:ea typeface="Courier New" pitchFamily="34" charset="-122"/>
                <a:cs typeface="Courier New" pitchFamily="34" charset="-120"/>
              </a:rPr>
              <a:t>STD</a:t>
            </a:r>
            <a:endParaRPr lang="en-US" sz="1800" dirty="0"/>
          </a:p>
        </p:txBody>
      </p:sp>
      <p:sp>
        <p:nvSpPr>
          <p:cNvPr id="26" name="Shape 22"/>
          <p:cNvSpPr/>
          <p:nvPr/>
        </p:nvSpPr>
        <p:spPr>
          <a:xfrm>
            <a:off x="10693375" y="8023771"/>
            <a:ext cx="1645965" cy="9525"/>
          </a:xfrm>
          <a:prstGeom prst="rect">
            <a:avLst/>
          </a:prstGeom>
          <a:solidFill>
            <a:srgbClr val="DCDCDC"/>
          </a:solidFill>
          <a:ln/>
        </p:spPr>
      </p:sp>
      <p:sp>
        <p:nvSpPr>
          <p:cNvPr id="27" name="Text 23"/>
          <p:cNvSpPr/>
          <p:nvPr/>
        </p:nvSpPr>
        <p:spPr>
          <a:xfrm>
            <a:off x="10693375" y="7671346"/>
            <a:ext cx="17221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41414"/>
                </a:solidFill>
                <a:latin typeface="Courier New" pitchFamily="34" charset="0"/>
                <a:ea typeface="Courier New" pitchFamily="34" charset="-122"/>
                <a:cs typeface="Courier New" pitchFamily="34" charset="-120"/>
              </a:rPr>
              <a:t>input image</a:t>
            </a:r>
            <a:endParaRPr lang="en-US" sz="1800" dirty="0"/>
          </a:p>
        </p:txBody>
      </p:sp>
      <p:sp>
        <p:nvSpPr>
          <p:cNvPr id="28" name="Shape 24"/>
          <p:cNvSpPr/>
          <p:nvPr/>
        </p:nvSpPr>
        <p:spPr>
          <a:xfrm>
            <a:off x="12529840" y="8023771"/>
            <a:ext cx="1089794" cy="9525"/>
          </a:xfrm>
          <a:prstGeom prst="rect">
            <a:avLst/>
          </a:prstGeom>
          <a:solidFill>
            <a:srgbClr val="DCDCDC"/>
          </a:solidFill>
          <a:ln/>
        </p:spPr>
      </p:sp>
      <p:sp>
        <p:nvSpPr>
          <p:cNvPr id="29" name="Text 25"/>
          <p:cNvSpPr/>
          <p:nvPr/>
        </p:nvSpPr>
        <p:spPr>
          <a:xfrm>
            <a:off x="12453640" y="7671346"/>
            <a:ext cx="1165994"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−0.969</a:t>
            </a:r>
            <a:endParaRPr lang="en-US" sz="1800" dirty="0"/>
          </a:p>
        </p:txBody>
      </p:sp>
      <p:sp>
        <p:nvSpPr>
          <p:cNvPr id="30" name="Shape 26"/>
          <p:cNvSpPr/>
          <p:nvPr/>
        </p:nvSpPr>
        <p:spPr>
          <a:xfrm>
            <a:off x="13810134" y="8023771"/>
            <a:ext cx="1089868" cy="9525"/>
          </a:xfrm>
          <a:prstGeom prst="rect">
            <a:avLst/>
          </a:prstGeom>
          <a:solidFill>
            <a:srgbClr val="DCDCDC"/>
          </a:solidFill>
          <a:ln/>
        </p:spPr>
      </p:sp>
      <p:sp>
        <p:nvSpPr>
          <p:cNvPr id="31" name="Text 27"/>
          <p:cNvSpPr/>
          <p:nvPr/>
        </p:nvSpPr>
        <p:spPr>
          <a:xfrm>
            <a:off x="13733934" y="7671346"/>
            <a:ext cx="1166068"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+1.000</a:t>
            </a:r>
            <a:endParaRPr lang="en-US" sz="1800" dirty="0"/>
          </a:p>
        </p:txBody>
      </p:sp>
      <p:sp>
        <p:nvSpPr>
          <p:cNvPr id="32" name="Shape 28"/>
          <p:cNvSpPr/>
          <p:nvPr/>
        </p:nvSpPr>
        <p:spPr>
          <a:xfrm>
            <a:off x="15090502" y="8023771"/>
            <a:ext cx="1089868" cy="9525"/>
          </a:xfrm>
          <a:prstGeom prst="rect">
            <a:avLst/>
          </a:prstGeom>
          <a:solidFill>
            <a:srgbClr val="DCDCDC"/>
          </a:solidFill>
          <a:ln/>
        </p:spPr>
      </p:sp>
      <p:sp>
        <p:nvSpPr>
          <p:cNvPr id="33" name="Text 29"/>
          <p:cNvSpPr/>
          <p:nvPr/>
        </p:nvSpPr>
        <p:spPr>
          <a:xfrm>
            <a:off x="15014302" y="7671346"/>
            <a:ext cx="1166068"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−0.005</a:t>
            </a:r>
            <a:endParaRPr lang="en-US" sz="1800" dirty="0"/>
          </a:p>
        </p:txBody>
      </p:sp>
      <p:sp>
        <p:nvSpPr>
          <p:cNvPr id="34" name="Shape 30"/>
          <p:cNvSpPr/>
          <p:nvPr/>
        </p:nvSpPr>
        <p:spPr>
          <a:xfrm>
            <a:off x="16370871" y="8023771"/>
            <a:ext cx="926455" cy="9525"/>
          </a:xfrm>
          <a:prstGeom prst="rect">
            <a:avLst/>
          </a:prstGeom>
          <a:solidFill>
            <a:srgbClr val="DCDCDC"/>
          </a:solidFill>
          <a:ln/>
        </p:spPr>
      </p:sp>
      <p:sp>
        <p:nvSpPr>
          <p:cNvPr id="35" name="Text 31"/>
          <p:cNvSpPr/>
          <p:nvPr/>
        </p:nvSpPr>
        <p:spPr>
          <a:xfrm>
            <a:off x="16294671" y="7671346"/>
            <a:ext cx="1002655"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0.443</a:t>
            </a:r>
            <a:endParaRPr lang="en-US" sz="1800" dirty="0"/>
          </a:p>
        </p:txBody>
      </p:sp>
      <p:sp>
        <p:nvSpPr>
          <p:cNvPr id="36" name="Shape 32"/>
          <p:cNvSpPr/>
          <p:nvPr/>
        </p:nvSpPr>
        <p:spPr>
          <a:xfrm>
            <a:off x="10693375" y="8442871"/>
            <a:ext cx="1645965" cy="9525"/>
          </a:xfrm>
          <a:prstGeom prst="rect">
            <a:avLst/>
          </a:prstGeom>
          <a:solidFill>
            <a:srgbClr val="DCDCDC"/>
          </a:solidFill>
          <a:ln/>
        </p:spPr>
      </p:sp>
      <p:sp>
        <p:nvSpPr>
          <p:cNvPr id="37" name="Text 33"/>
          <p:cNvSpPr/>
          <p:nvPr/>
        </p:nvSpPr>
        <p:spPr>
          <a:xfrm>
            <a:off x="10693375" y="8090446"/>
            <a:ext cx="17221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41414"/>
                </a:solidFill>
                <a:latin typeface="Courier New" pitchFamily="34" charset="0"/>
                <a:ea typeface="Courier New" pitchFamily="34" charset="-122"/>
                <a:cs typeface="Courier New" pitchFamily="34" charset="-120"/>
              </a:rPr>
              <a:t>raw FFT</a:t>
            </a:r>
            <a:endParaRPr lang="en-US" sz="1800" dirty="0"/>
          </a:p>
        </p:txBody>
      </p:sp>
      <p:sp>
        <p:nvSpPr>
          <p:cNvPr id="38" name="Shape 34"/>
          <p:cNvSpPr/>
          <p:nvPr/>
        </p:nvSpPr>
        <p:spPr>
          <a:xfrm>
            <a:off x="12529840" y="8442871"/>
            <a:ext cx="1089794" cy="9525"/>
          </a:xfrm>
          <a:prstGeom prst="rect">
            <a:avLst/>
          </a:prstGeom>
          <a:solidFill>
            <a:srgbClr val="DCDCDC"/>
          </a:solidFill>
          <a:ln/>
        </p:spPr>
      </p:sp>
      <p:sp>
        <p:nvSpPr>
          <p:cNvPr id="39" name="Text 35"/>
          <p:cNvSpPr/>
          <p:nvPr/>
        </p:nvSpPr>
        <p:spPr>
          <a:xfrm>
            <a:off x="12453640" y="8090446"/>
            <a:ext cx="1165994"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−29.430</a:t>
            </a:r>
            <a:endParaRPr lang="en-US" sz="1800" dirty="0"/>
          </a:p>
        </p:txBody>
      </p:sp>
      <p:sp>
        <p:nvSpPr>
          <p:cNvPr id="40" name="Shape 36"/>
          <p:cNvSpPr/>
          <p:nvPr/>
        </p:nvSpPr>
        <p:spPr>
          <a:xfrm>
            <a:off x="13810134" y="8442871"/>
            <a:ext cx="1089868" cy="9525"/>
          </a:xfrm>
          <a:prstGeom prst="rect">
            <a:avLst/>
          </a:prstGeom>
          <a:solidFill>
            <a:srgbClr val="DCDCDC"/>
          </a:solidFill>
          <a:ln/>
        </p:spPr>
      </p:sp>
      <p:sp>
        <p:nvSpPr>
          <p:cNvPr id="41" name="Text 37"/>
          <p:cNvSpPr/>
          <p:nvPr/>
        </p:nvSpPr>
        <p:spPr>
          <a:xfrm>
            <a:off x="13733934" y="8090446"/>
            <a:ext cx="1166068"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+31.729</a:t>
            </a:r>
            <a:endParaRPr lang="en-US" sz="1800" dirty="0"/>
          </a:p>
        </p:txBody>
      </p:sp>
      <p:sp>
        <p:nvSpPr>
          <p:cNvPr id="42" name="Shape 38"/>
          <p:cNvSpPr/>
          <p:nvPr/>
        </p:nvSpPr>
        <p:spPr>
          <a:xfrm>
            <a:off x="15090502" y="8442871"/>
            <a:ext cx="1089868" cy="9525"/>
          </a:xfrm>
          <a:prstGeom prst="rect">
            <a:avLst/>
          </a:prstGeom>
          <a:solidFill>
            <a:srgbClr val="DCDCDC"/>
          </a:solidFill>
          <a:ln/>
        </p:spPr>
      </p:sp>
      <p:sp>
        <p:nvSpPr>
          <p:cNvPr id="43" name="Text 39"/>
          <p:cNvSpPr/>
          <p:nvPr/>
        </p:nvSpPr>
        <p:spPr>
          <a:xfrm>
            <a:off x="15014302" y="8090446"/>
            <a:ext cx="1166068"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−0.003</a:t>
            </a:r>
            <a:endParaRPr lang="en-US" sz="1800" dirty="0"/>
          </a:p>
        </p:txBody>
      </p:sp>
      <p:sp>
        <p:nvSpPr>
          <p:cNvPr id="44" name="Shape 40"/>
          <p:cNvSpPr/>
          <p:nvPr/>
        </p:nvSpPr>
        <p:spPr>
          <a:xfrm>
            <a:off x="16370871" y="8442871"/>
            <a:ext cx="926455" cy="9525"/>
          </a:xfrm>
          <a:prstGeom prst="rect">
            <a:avLst/>
          </a:prstGeom>
          <a:solidFill>
            <a:srgbClr val="DCDCDC"/>
          </a:solidFill>
          <a:ln/>
        </p:spPr>
      </p:sp>
      <p:sp>
        <p:nvSpPr>
          <p:cNvPr id="45" name="Text 41"/>
          <p:cNvSpPr/>
          <p:nvPr/>
        </p:nvSpPr>
        <p:spPr>
          <a:xfrm>
            <a:off x="16294671" y="8090446"/>
            <a:ext cx="1002655"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0.313</a:t>
            </a:r>
            <a:endParaRPr lang="en-US" sz="1800" dirty="0"/>
          </a:p>
        </p:txBody>
      </p:sp>
      <p:sp>
        <p:nvSpPr>
          <p:cNvPr id="46" name="Shape 42"/>
          <p:cNvSpPr/>
          <p:nvPr/>
        </p:nvSpPr>
        <p:spPr>
          <a:xfrm>
            <a:off x="10693375" y="8861971"/>
            <a:ext cx="1645965" cy="9525"/>
          </a:xfrm>
          <a:prstGeom prst="rect">
            <a:avLst/>
          </a:prstGeom>
          <a:solidFill>
            <a:srgbClr val="DCDCDC"/>
          </a:solidFill>
          <a:ln/>
        </p:spPr>
      </p:sp>
      <p:sp>
        <p:nvSpPr>
          <p:cNvPr id="47" name="Text 43"/>
          <p:cNvSpPr/>
          <p:nvPr/>
        </p:nvSpPr>
        <p:spPr>
          <a:xfrm>
            <a:off x="10693375" y="8509546"/>
            <a:ext cx="17221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41414"/>
                </a:solidFill>
                <a:latin typeface="Courier New" pitchFamily="34" charset="0"/>
                <a:ea typeface="Courier New" pitchFamily="34" charset="-122"/>
                <a:cs typeface="Courier New" pitchFamily="34" charset="-120"/>
              </a:rPr>
              <a:t>compressed</a:t>
            </a:r>
            <a:endParaRPr lang="en-US" sz="1800" dirty="0"/>
          </a:p>
        </p:txBody>
      </p:sp>
      <p:sp>
        <p:nvSpPr>
          <p:cNvPr id="48" name="Shape 44"/>
          <p:cNvSpPr/>
          <p:nvPr/>
        </p:nvSpPr>
        <p:spPr>
          <a:xfrm>
            <a:off x="12529840" y="8861971"/>
            <a:ext cx="1089794" cy="9525"/>
          </a:xfrm>
          <a:prstGeom prst="rect">
            <a:avLst/>
          </a:prstGeom>
          <a:solidFill>
            <a:srgbClr val="DCDCDC"/>
          </a:solidFill>
          <a:ln/>
        </p:spPr>
      </p:sp>
      <p:sp>
        <p:nvSpPr>
          <p:cNvPr id="49" name="Text 45"/>
          <p:cNvSpPr/>
          <p:nvPr/>
        </p:nvSpPr>
        <p:spPr>
          <a:xfrm>
            <a:off x="12453640" y="8509546"/>
            <a:ext cx="1165994"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−3.415</a:t>
            </a:r>
            <a:endParaRPr lang="en-US" sz="1800" dirty="0"/>
          </a:p>
        </p:txBody>
      </p:sp>
      <p:sp>
        <p:nvSpPr>
          <p:cNvPr id="50" name="Shape 46"/>
          <p:cNvSpPr/>
          <p:nvPr/>
        </p:nvSpPr>
        <p:spPr>
          <a:xfrm>
            <a:off x="13810134" y="8861971"/>
            <a:ext cx="1089868" cy="9525"/>
          </a:xfrm>
          <a:prstGeom prst="rect">
            <a:avLst/>
          </a:prstGeom>
          <a:solidFill>
            <a:srgbClr val="DCDCDC"/>
          </a:solidFill>
          <a:ln/>
        </p:spPr>
      </p:sp>
      <p:sp>
        <p:nvSpPr>
          <p:cNvPr id="51" name="Text 47"/>
          <p:cNvSpPr/>
          <p:nvPr/>
        </p:nvSpPr>
        <p:spPr>
          <a:xfrm>
            <a:off x="13733934" y="8509546"/>
            <a:ext cx="1166068"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+3.488</a:t>
            </a:r>
            <a:endParaRPr lang="en-US" sz="1800" dirty="0"/>
          </a:p>
        </p:txBody>
      </p:sp>
      <p:sp>
        <p:nvSpPr>
          <p:cNvPr id="52" name="Shape 48"/>
          <p:cNvSpPr/>
          <p:nvPr/>
        </p:nvSpPr>
        <p:spPr>
          <a:xfrm>
            <a:off x="15090502" y="8861971"/>
            <a:ext cx="1089868" cy="9525"/>
          </a:xfrm>
          <a:prstGeom prst="rect">
            <a:avLst/>
          </a:prstGeom>
          <a:solidFill>
            <a:srgbClr val="DCDCDC"/>
          </a:solidFill>
          <a:ln/>
        </p:spPr>
      </p:sp>
      <p:sp>
        <p:nvSpPr>
          <p:cNvPr id="53" name="Text 49"/>
          <p:cNvSpPr/>
          <p:nvPr/>
        </p:nvSpPr>
        <p:spPr>
          <a:xfrm>
            <a:off x="15014302" y="8509546"/>
            <a:ext cx="1166068"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−0.001</a:t>
            </a:r>
            <a:endParaRPr lang="en-US" sz="1800" dirty="0"/>
          </a:p>
        </p:txBody>
      </p:sp>
      <p:sp>
        <p:nvSpPr>
          <p:cNvPr id="54" name="Shape 50"/>
          <p:cNvSpPr/>
          <p:nvPr/>
        </p:nvSpPr>
        <p:spPr>
          <a:xfrm>
            <a:off x="16370871" y="8861971"/>
            <a:ext cx="926455" cy="9525"/>
          </a:xfrm>
          <a:prstGeom prst="rect">
            <a:avLst/>
          </a:prstGeom>
          <a:solidFill>
            <a:srgbClr val="DCDCDC"/>
          </a:solidFill>
          <a:ln/>
        </p:spPr>
      </p:sp>
      <p:sp>
        <p:nvSpPr>
          <p:cNvPr id="55" name="Text 51"/>
          <p:cNvSpPr/>
          <p:nvPr/>
        </p:nvSpPr>
        <p:spPr>
          <a:xfrm>
            <a:off x="16294671" y="8509546"/>
            <a:ext cx="1002655"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0.130</a:t>
            </a:r>
            <a:endParaRPr lang="en-US" sz="1800" dirty="0"/>
          </a:p>
        </p:txBody>
      </p:sp>
      <p:sp>
        <p:nvSpPr>
          <p:cNvPr id="56" name="Text 52"/>
          <p:cNvSpPr/>
          <p:nvPr/>
        </p:nvSpPr>
        <p:spPr>
          <a:xfrm>
            <a:off x="10693375" y="8928646"/>
            <a:ext cx="17221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41414"/>
                </a:solidFill>
                <a:latin typeface="Courier New" pitchFamily="34" charset="0"/>
                <a:ea typeface="Courier New" pitchFamily="34" charset="-122"/>
                <a:cs typeface="Courier New" pitchFamily="34" charset="-120"/>
              </a:rPr>
              <a:t>standardized</a:t>
            </a:r>
            <a:endParaRPr lang="en-US" sz="1800" dirty="0"/>
          </a:p>
        </p:txBody>
      </p:sp>
      <p:sp>
        <p:nvSpPr>
          <p:cNvPr id="57" name="Text 53"/>
          <p:cNvSpPr/>
          <p:nvPr/>
        </p:nvSpPr>
        <p:spPr>
          <a:xfrm>
            <a:off x="12453640" y="8928646"/>
            <a:ext cx="1165994"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−23.566</a:t>
            </a:r>
            <a:endParaRPr lang="en-US" sz="1800" dirty="0"/>
          </a:p>
        </p:txBody>
      </p:sp>
      <p:sp>
        <p:nvSpPr>
          <p:cNvPr id="58" name="Text 54"/>
          <p:cNvSpPr/>
          <p:nvPr/>
        </p:nvSpPr>
        <p:spPr>
          <a:xfrm>
            <a:off x="13733934" y="8928646"/>
            <a:ext cx="1166068"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+22.750</a:t>
            </a:r>
            <a:endParaRPr lang="en-US" sz="1800" dirty="0"/>
          </a:p>
        </p:txBody>
      </p:sp>
      <p:sp>
        <p:nvSpPr>
          <p:cNvPr id="59" name="Text 55"/>
          <p:cNvSpPr/>
          <p:nvPr/>
        </p:nvSpPr>
        <p:spPr>
          <a:xfrm>
            <a:off x="15014302" y="8928646"/>
            <a:ext cx="1166068"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−0.010</a:t>
            </a:r>
            <a:endParaRPr lang="en-US" sz="1800" dirty="0"/>
          </a:p>
        </p:txBody>
      </p:sp>
      <p:sp>
        <p:nvSpPr>
          <p:cNvPr id="60" name="Text 56"/>
          <p:cNvSpPr/>
          <p:nvPr/>
        </p:nvSpPr>
        <p:spPr>
          <a:xfrm>
            <a:off x="16294671" y="8928646"/>
            <a:ext cx="1002655" cy="333375"/>
          </a:xfrm>
          <a:prstGeom prst="rect">
            <a:avLst/>
          </a:prstGeom>
          <a:noFill/>
          <a:ln/>
        </p:spPr>
        <p:txBody>
          <a:bodyPr wrap="square" lIns="25400" tIns="25400" rIns="25400" bIns="25400" rtlCol="0" anchor="t">
            <a:normAutofit/>
          </a:bodyPr>
          <a:lstStyle/>
          <a:p>
            <a:pPr marL="0" indent="0" algn="r">
              <a:buNone/>
            </a:pPr>
            <a:r>
              <a:rPr lang="en-US" sz="1800" dirty="0">
                <a:solidFill>
                  <a:srgbClr val="141414"/>
                </a:solidFill>
                <a:latin typeface="Courier New" pitchFamily="34" charset="0"/>
                <a:ea typeface="Courier New" pitchFamily="34" charset="-122"/>
                <a:cs typeface="Courier New" pitchFamily="34" charset="-120"/>
              </a:rPr>
              <a:t>0.879</a:t>
            </a:r>
            <a:endParaRPr lang="en-US" sz="1800" dirty="0"/>
          </a:p>
        </p:txBody>
      </p:sp>
      <p:sp>
        <p:nvSpPr>
          <p:cNvPr id="61" name="Text 57"/>
          <p:cNvSpPr/>
          <p:nvPr/>
        </p:nvSpPr>
        <p:spPr>
          <a:xfrm>
            <a:off x="16474380" y="9667875"/>
            <a:ext cx="89922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7 / 15</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Proposed Method — Network and Sampling</a:t>
            </a:r>
            <a:endParaRPr lang="en-US" sz="4800" dirty="0"/>
          </a:p>
        </p:txBody>
      </p:sp>
      <p:sp>
        <p:nvSpPr>
          <p:cNvPr id="3" name="Shape 1"/>
          <p:cNvSpPr/>
          <p:nvPr/>
        </p:nvSpPr>
        <p:spPr>
          <a:xfrm>
            <a:off x="990600" y="1881187"/>
            <a:ext cx="16306800" cy="19050"/>
          </a:xfrm>
          <a:prstGeom prst="rect">
            <a:avLst/>
          </a:prstGeom>
          <a:solidFill>
            <a:srgbClr val="DCDCDC"/>
          </a:solidFill>
          <a:ln/>
        </p:spPr>
      </p:sp>
      <p:sp>
        <p:nvSpPr>
          <p:cNvPr id="4" name="Text 2"/>
          <p:cNvSpPr/>
          <p:nvPr/>
        </p:nvSpPr>
        <p:spPr>
          <a:xfrm>
            <a:off x="990600" y="2281238"/>
            <a:ext cx="10309860"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0052B4"/>
                </a:solidFill>
                <a:latin typeface="Courier New" pitchFamily="34" charset="0"/>
                <a:ea typeface="Courier New" pitchFamily="34" charset="-122"/>
                <a:cs typeface="Courier New" pitchFamily="34" charset="-120"/>
              </a:rPr>
              <a:t>UNet ε_θ(x_t, t) — 11.4 M parameters</a:t>
            </a:r>
            <a:endParaRPr lang="en-US" sz="1800" dirty="0"/>
          </a:p>
        </p:txBody>
      </p:sp>
      <p:sp>
        <p:nvSpPr>
          <p:cNvPr id="5" name="Shape 3"/>
          <p:cNvSpPr/>
          <p:nvPr/>
        </p:nvSpPr>
        <p:spPr>
          <a:xfrm>
            <a:off x="1771650" y="2767013"/>
            <a:ext cx="1466850" cy="552450"/>
          </a:xfrm>
          <a:prstGeom prst="rect">
            <a:avLst/>
          </a:prstGeom>
          <a:solidFill>
            <a:srgbClr val="FFFFFF"/>
          </a:solidFill>
          <a:ln w="19050">
            <a:solidFill>
              <a:srgbClr val="141414"/>
            </a:solidFill>
            <a:prstDash val="solid"/>
          </a:ln>
        </p:spPr>
      </p:sp>
      <p:sp>
        <p:nvSpPr>
          <p:cNvPr id="6" name="Text 4"/>
          <p:cNvSpPr/>
          <p:nvPr/>
        </p:nvSpPr>
        <p:spPr>
          <a:xfrm>
            <a:off x="1752600" y="2786063"/>
            <a:ext cx="1504950" cy="552450"/>
          </a:xfrm>
          <a:prstGeom prst="rect">
            <a:avLst/>
          </a:prstGeom>
          <a:noFill/>
          <a:ln/>
        </p:spPr>
        <p:txBody>
          <a:bodyPr wrap="square" lIns="25400" tIns="25400" rIns="25400" bIns="25400" rtlCol="0" anchor="ctr">
            <a:normAutofit/>
          </a:bodyPr>
          <a:lstStyle/>
          <a:p>
            <a:pPr marL="0" indent="0" algn="ctr">
              <a:buNone/>
            </a:pPr>
            <a:r>
              <a:rPr lang="en-US" sz="1800" dirty="0">
                <a:solidFill>
                  <a:srgbClr val="141414"/>
                </a:solidFill>
                <a:latin typeface="Courier New" pitchFamily="34" charset="0"/>
                <a:ea typeface="Courier New" pitchFamily="34" charset="-122"/>
                <a:cs typeface="Courier New" pitchFamily="34" charset="-120"/>
              </a:rPr>
              <a:t>C_in</a:t>
            </a:r>
            <a:endParaRPr lang="en-US" sz="1800" dirty="0"/>
          </a:p>
        </p:txBody>
      </p:sp>
      <p:sp>
        <p:nvSpPr>
          <p:cNvPr id="7" name="Text 5"/>
          <p:cNvSpPr/>
          <p:nvPr/>
        </p:nvSpPr>
        <p:spPr>
          <a:xfrm>
            <a:off x="4558233" y="2895600"/>
            <a:ext cx="3320303"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encoder ▼ ▲ decoder</a:t>
            </a:r>
            <a:endParaRPr lang="en-US" sz="1800" dirty="0"/>
          </a:p>
        </p:txBody>
      </p:sp>
      <p:sp>
        <p:nvSpPr>
          <p:cNvPr id="8" name="Shape 6"/>
          <p:cNvSpPr/>
          <p:nvPr/>
        </p:nvSpPr>
        <p:spPr>
          <a:xfrm>
            <a:off x="8896350" y="2767013"/>
            <a:ext cx="1466850" cy="552450"/>
          </a:xfrm>
          <a:prstGeom prst="rect">
            <a:avLst/>
          </a:prstGeom>
          <a:solidFill>
            <a:srgbClr val="FFFFFF"/>
          </a:solidFill>
          <a:ln w="19050">
            <a:solidFill>
              <a:srgbClr val="141414"/>
            </a:solidFill>
            <a:prstDash val="solid"/>
          </a:ln>
        </p:spPr>
      </p:sp>
      <p:sp>
        <p:nvSpPr>
          <p:cNvPr id="9" name="Text 7"/>
          <p:cNvSpPr/>
          <p:nvPr/>
        </p:nvSpPr>
        <p:spPr>
          <a:xfrm>
            <a:off x="8877300" y="2786063"/>
            <a:ext cx="1504950" cy="552450"/>
          </a:xfrm>
          <a:prstGeom prst="rect">
            <a:avLst/>
          </a:prstGeom>
          <a:noFill/>
          <a:ln/>
        </p:spPr>
        <p:txBody>
          <a:bodyPr wrap="square" lIns="25400" tIns="25400" rIns="25400" bIns="25400" rtlCol="0" anchor="ctr">
            <a:normAutofit/>
          </a:bodyPr>
          <a:lstStyle/>
          <a:p>
            <a:pPr marL="0" indent="0" algn="ctr">
              <a:buNone/>
            </a:pPr>
            <a:r>
              <a:rPr lang="en-US" sz="1800" dirty="0">
                <a:solidFill>
                  <a:srgbClr val="141414"/>
                </a:solidFill>
                <a:latin typeface="Courier New" pitchFamily="34" charset="0"/>
                <a:ea typeface="Courier New" pitchFamily="34" charset="-122"/>
                <a:cs typeface="Courier New" pitchFamily="34" charset="-120"/>
              </a:rPr>
              <a:t>C_out</a:t>
            </a:r>
            <a:endParaRPr lang="en-US" sz="1800" dirty="0"/>
          </a:p>
        </p:txBody>
      </p:sp>
      <p:sp>
        <p:nvSpPr>
          <p:cNvPr id="10" name="Text 8"/>
          <p:cNvSpPr/>
          <p:nvPr/>
        </p:nvSpPr>
        <p:spPr>
          <a:xfrm>
            <a:off x="914400" y="3581400"/>
            <a:ext cx="704850" cy="333375"/>
          </a:xfrm>
          <a:prstGeom prst="rect">
            <a:avLst/>
          </a:prstGeom>
          <a:noFill/>
          <a:ln/>
        </p:spPr>
        <p:txBody>
          <a:bodyPr wrap="square" lIns="25400" tIns="25400" rIns="25400" bIns="25400" rtlCol="0" anchor="t">
            <a:normAutofit/>
          </a:bodyPr>
          <a:lstStyle/>
          <a:p>
            <a:pPr marL="0" indent="0" algn="r">
              <a:buNone/>
            </a:pPr>
            <a:r>
              <a:rPr lang="en-US" sz="1800" dirty="0">
                <a:solidFill>
                  <a:srgbClr val="5A5A5A"/>
                </a:solidFill>
                <a:latin typeface="Courier New" pitchFamily="34" charset="0"/>
                <a:ea typeface="Courier New" pitchFamily="34" charset="-122"/>
                <a:cs typeface="Courier New" pitchFamily="34" charset="-120"/>
              </a:rPr>
              <a:t>128²</a:t>
            </a:r>
            <a:endParaRPr lang="en-US" sz="1800" dirty="0"/>
          </a:p>
        </p:txBody>
      </p:sp>
      <p:sp>
        <p:nvSpPr>
          <p:cNvPr id="11" name="Shape 9"/>
          <p:cNvSpPr/>
          <p:nvPr/>
        </p:nvSpPr>
        <p:spPr>
          <a:xfrm>
            <a:off x="1771650" y="3452813"/>
            <a:ext cx="1466850" cy="552450"/>
          </a:xfrm>
          <a:prstGeom prst="rect">
            <a:avLst/>
          </a:prstGeom>
          <a:solidFill>
            <a:srgbClr val="0053B1">
              <a:alpha val="18000"/>
            </a:srgbClr>
          </a:solidFill>
          <a:ln w="19050">
            <a:solidFill>
              <a:srgbClr val="0052B4"/>
            </a:solidFill>
            <a:prstDash val="solid"/>
          </a:ln>
        </p:spPr>
      </p:sp>
      <p:sp>
        <p:nvSpPr>
          <p:cNvPr id="12" name="Text 10"/>
          <p:cNvSpPr/>
          <p:nvPr/>
        </p:nvSpPr>
        <p:spPr>
          <a:xfrm>
            <a:off x="1752600" y="3471863"/>
            <a:ext cx="1504950" cy="552450"/>
          </a:xfrm>
          <a:prstGeom prst="rect">
            <a:avLst/>
          </a:prstGeom>
          <a:noFill/>
          <a:ln/>
        </p:spPr>
        <p:txBody>
          <a:bodyPr wrap="square" lIns="25400" tIns="25400" rIns="25400" bIns="25400" rtlCol="0" anchor="ctr">
            <a:normAutofit/>
          </a:bodyPr>
          <a:lstStyle/>
          <a:p>
            <a:pPr marL="0" indent="0" algn="ctr">
              <a:buNone/>
            </a:pPr>
            <a:r>
              <a:rPr lang="en-US" sz="1800" dirty="0">
                <a:solidFill>
                  <a:srgbClr val="141414"/>
                </a:solidFill>
                <a:latin typeface="Courier New" pitchFamily="34" charset="0"/>
                <a:ea typeface="Courier New" pitchFamily="34" charset="-122"/>
                <a:cs typeface="Courier New" pitchFamily="34" charset="-120"/>
              </a:rPr>
              <a:t>64</a:t>
            </a:r>
            <a:endParaRPr lang="en-US" sz="1800" dirty="0"/>
          </a:p>
        </p:txBody>
      </p:sp>
      <p:sp>
        <p:nvSpPr>
          <p:cNvPr id="13" name="Shape 11"/>
          <p:cNvSpPr/>
          <p:nvPr/>
        </p:nvSpPr>
        <p:spPr>
          <a:xfrm>
            <a:off x="3371850" y="3719512"/>
            <a:ext cx="2306538" cy="19050"/>
          </a:xfrm>
          <a:prstGeom prst="rect">
            <a:avLst/>
          </a:prstGeom>
          <a:solidFill>
            <a:srgbClr val="C84F00"/>
          </a:solidFill>
          <a:ln/>
        </p:spPr>
      </p:sp>
      <p:sp>
        <p:nvSpPr>
          <p:cNvPr id="14" name="Text 12"/>
          <p:cNvSpPr/>
          <p:nvPr/>
        </p:nvSpPr>
        <p:spPr>
          <a:xfrm>
            <a:off x="5773638" y="3581400"/>
            <a:ext cx="3505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C84F00"/>
                </a:solidFill>
                <a:latin typeface="Courier New" pitchFamily="34" charset="0"/>
                <a:ea typeface="Courier New" pitchFamily="34" charset="-122"/>
                <a:cs typeface="Courier New" pitchFamily="34" charset="-120"/>
              </a:rPr>
              <a:t>S1</a:t>
            </a:r>
            <a:endParaRPr lang="en-US" sz="1800" dirty="0"/>
          </a:p>
        </p:txBody>
      </p:sp>
      <p:sp>
        <p:nvSpPr>
          <p:cNvPr id="15" name="Text 13"/>
          <p:cNvSpPr/>
          <p:nvPr/>
        </p:nvSpPr>
        <p:spPr>
          <a:xfrm>
            <a:off x="6143253" y="3605213"/>
            <a:ext cx="294159" cy="285750"/>
          </a:xfrm>
          <a:prstGeom prst="rect">
            <a:avLst/>
          </a:prstGeom>
          <a:noFill/>
          <a:ln/>
        </p:spPr>
        <p:txBody>
          <a:bodyPr wrap="square" lIns="25400" tIns="25400" rIns="25400" bIns="25400" rtlCol="0" anchor="t">
            <a:normAutofit fontScale="92500" lnSpcReduction="10000"/>
          </a:bodyPr>
          <a:lstStyle/>
          <a:p>
            <a:pPr marL="0" indent="0" algn="l">
              <a:lnSpc>
                <a:spcPct val="86667"/>
              </a:lnSpc>
              <a:buNone/>
            </a:pPr>
            <a:r>
              <a:rPr lang="en-US" sz="1950" dirty="0">
                <a:solidFill>
                  <a:srgbClr val="C84F00"/>
                </a:solidFill>
                <a:latin typeface="Arial" pitchFamily="34" charset="0"/>
                <a:ea typeface="Arial" pitchFamily="34" charset="-122"/>
                <a:cs typeface="Arial" pitchFamily="34" charset="-120"/>
              </a:rPr>
              <a:t>▶</a:t>
            </a:r>
            <a:endParaRPr lang="en-US" sz="1950" dirty="0"/>
          </a:p>
        </p:txBody>
      </p:sp>
      <p:sp>
        <p:nvSpPr>
          <p:cNvPr id="16" name="Shape 14"/>
          <p:cNvSpPr/>
          <p:nvPr/>
        </p:nvSpPr>
        <p:spPr>
          <a:xfrm>
            <a:off x="6456462" y="3719512"/>
            <a:ext cx="2306538" cy="19050"/>
          </a:xfrm>
          <a:prstGeom prst="rect">
            <a:avLst/>
          </a:prstGeom>
          <a:solidFill>
            <a:srgbClr val="C84F00"/>
          </a:solidFill>
          <a:ln/>
        </p:spPr>
      </p:sp>
      <p:sp>
        <p:nvSpPr>
          <p:cNvPr id="17" name="Shape 15"/>
          <p:cNvSpPr/>
          <p:nvPr/>
        </p:nvSpPr>
        <p:spPr>
          <a:xfrm>
            <a:off x="8896350" y="3452813"/>
            <a:ext cx="1466850" cy="552450"/>
          </a:xfrm>
          <a:prstGeom prst="rect">
            <a:avLst/>
          </a:prstGeom>
          <a:solidFill>
            <a:srgbClr val="0053B1">
              <a:alpha val="18000"/>
            </a:srgbClr>
          </a:solidFill>
          <a:ln w="19050">
            <a:solidFill>
              <a:srgbClr val="0052B4"/>
            </a:solidFill>
            <a:prstDash val="solid"/>
          </a:ln>
        </p:spPr>
      </p:sp>
      <p:sp>
        <p:nvSpPr>
          <p:cNvPr id="18" name="Text 16"/>
          <p:cNvSpPr/>
          <p:nvPr/>
        </p:nvSpPr>
        <p:spPr>
          <a:xfrm>
            <a:off x="8877300" y="3471863"/>
            <a:ext cx="1504950" cy="552450"/>
          </a:xfrm>
          <a:prstGeom prst="rect">
            <a:avLst/>
          </a:prstGeom>
          <a:noFill/>
          <a:ln/>
        </p:spPr>
        <p:txBody>
          <a:bodyPr wrap="square" lIns="25400" tIns="25400" rIns="25400" bIns="25400" rtlCol="0" anchor="ctr">
            <a:normAutofit/>
          </a:bodyPr>
          <a:lstStyle/>
          <a:p>
            <a:pPr marL="0" indent="0" algn="ctr">
              <a:buNone/>
            </a:pPr>
            <a:r>
              <a:rPr lang="en-US" sz="1800" dirty="0">
                <a:solidFill>
                  <a:srgbClr val="141414"/>
                </a:solidFill>
                <a:latin typeface="Courier New" pitchFamily="34" charset="0"/>
                <a:ea typeface="Courier New" pitchFamily="34" charset="-122"/>
                <a:cs typeface="Courier New" pitchFamily="34" charset="-120"/>
              </a:rPr>
              <a:t>64</a:t>
            </a:r>
            <a:endParaRPr lang="en-US" sz="1800" dirty="0"/>
          </a:p>
        </p:txBody>
      </p:sp>
      <p:sp>
        <p:nvSpPr>
          <p:cNvPr id="19" name="Text 17"/>
          <p:cNvSpPr/>
          <p:nvPr/>
        </p:nvSpPr>
        <p:spPr>
          <a:xfrm>
            <a:off x="914400" y="4267200"/>
            <a:ext cx="704850" cy="333375"/>
          </a:xfrm>
          <a:prstGeom prst="rect">
            <a:avLst/>
          </a:prstGeom>
          <a:noFill/>
          <a:ln/>
        </p:spPr>
        <p:txBody>
          <a:bodyPr wrap="square" lIns="25400" tIns="25400" rIns="25400" bIns="25400" rtlCol="0" anchor="t">
            <a:normAutofit/>
          </a:bodyPr>
          <a:lstStyle/>
          <a:p>
            <a:pPr marL="0" indent="0" algn="r">
              <a:buNone/>
            </a:pPr>
            <a:r>
              <a:rPr lang="en-US" sz="1800" dirty="0">
                <a:solidFill>
                  <a:srgbClr val="5A5A5A"/>
                </a:solidFill>
                <a:latin typeface="Courier New" pitchFamily="34" charset="0"/>
                <a:ea typeface="Courier New" pitchFamily="34" charset="-122"/>
                <a:cs typeface="Courier New" pitchFamily="34" charset="-120"/>
              </a:rPr>
              <a:t>64²</a:t>
            </a:r>
            <a:endParaRPr lang="en-US" sz="1800" dirty="0"/>
          </a:p>
        </p:txBody>
      </p:sp>
      <p:sp>
        <p:nvSpPr>
          <p:cNvPr id="20" name="Shape 18"/>
          <p:cNvSpPr/>
          <p:nvPr/>
        </p:nvSpPr>
        <p:spPr>
          <a:xfrm>
            <a:off x="2209800" y="4138613"/>
            <a:ext cx="1466850" cy="552450"/>
          </a:xfrm>
          <a:prstGeom prst="rect">
            <a:avLst/>
          </a:prstGeom>
          <a:solidFill>
            <a:srgbClr val="0053B3">
              <a:alpha val="30000"/>
            </a:srgbClr>
          </a:solidFill>
          <a:ln w="19050">
            <a:solidFill>
              <a:srgbClr val="0052B4"/>
            </a:solidFill>
            <a:prstDash val="solid"/>
          </a:ln>
        </p:spPr>
      </p:sp>
      <p:sp>
        <p:nvSpPr>
          <p:cNvPr id="21" name="Text 19"/>
          <p:cNvSpPr/>
          <p:nvPr/>
        </p:nvSpPr>
        <p:spPr>
          <a:xfrm>
            <a:off x="2190750" y="4157663"/>
            <a:ext cx="1504950" cy="552450"/>
          </a:xfrm>
          <a:prstGeom prst="rect">
            <a:avLst/>
          </a:prstGeom>
          <a:noFill/>
          <a:ln/>
        </p:spPr>
        <p:txBody>
          <a:bodyPr wrap="square" lIns="25400" tIns="25400" rIns="25400" bIns="25400" rtlCol="0" anchor="ctr">
            <a:normAutofit/>
          </a:bodyPr>
          <a:lstStyle/>
          <a:p>
            <a:pPr marL="0" indent="0" algn="ctr">
              <a:buNone/>
            </a:pPr>
            <a:r>
              <a:rPr lang="en-US" sz="1800" dirty="0">
                <a:solidFill>
                  <a:srgbClr val="141414"/>
                </a:solidFill>
                <a:latin typeface="Courier New" pitchFamily="34" charset="0"/>
                <a:ea typeface="Courier New" pitchFamily="34" charset="-122"/>
                <a:cs typeface="Courier New" pitchFamily="34" charset="-120"/>
              </a:rPr>
              <a:t>128</a:t>
            </a:r>
            <a:endParaRPr lang="en-US" sz="1800" dirty="0"/>
          </a:p>
        </p:txBody>
      </p:sp>
      <p:sp>
        <p:nvSpPr>
          <p:cNvPr id="22" name="Shape 20"/>
          <p:cNvSpPr/>
          <p:nvPr/>
        </p:nvSpPr>
        <p:spPr>
          <a:xfrm>
            <a:off x="3810000" y="4405313"/>
            <a:ext cx="1868388" cy="19050"/>
          </a:xfrm>
          <a:prstGeom prst="rect">
            <a:avLst/>
          </a:prstGeom>
          <a:solidFill>
            <a:srgbClr val="C84F00"/>
          </a:solidFill>
          <a:ln/>
        </p:spPr>
      </p:sp>
      <p:sp>
        <p:nvSpPr>
          <p:cNvPr id="23" name="Text 21"/>
          <p:cNvSpPr/>
          <p:nvPr/>
        </p:nvSpPr>
        <p:spPr>
          <a:xfrm>
            <a:off x="5773638" y="4267200"/>
            <a:ext cx="3505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C84F00"/>
                </a:solidFill>
                <a:latin typeface="Courier New" pitchFamily="34" charset="0"/>
                <a:ea typeface="Courier New" pitchFamily="34" charset="-122"/>
                <a:cs typeface="Courier New" pitchFamily="34" charset="-120"/>
              </a:rPr>
              <a:t>S2</a:t>
            </a:r>
            <a:endParaRPr lang="en-US" sz="1800" dirty="0"/>
          </a:p>
        </p:txBody>
      </p:sp>
      <p:sp>
        <p:nvSpPr>
          <p:cNvPr id="24" name="Text 22"/>
          <p:cNvSpPr/>
          <p:nvPr/>
        </p:nvSpPr>
        <p:spPr>
          <a:xfrm>
            <a:off x="6143253" y="4291013"/>
            <a:ext cx="294159" cy="285750"/>
          </a:xfrm>
          <a:prstGeom prst="rect">
            <a:avLst/>
          </a:prstGeom>
          <a:noFill/>
          <a:ln/>
        </p:spPr>
        <p:txBody>
          <a:bodyPr wrap="square" lIns="25400" tIns="25400" rIns="25400" bIns="25400" rtlCol="0" anchor="t">
            <a:normAutofit fontScale="92500" lnSpcReduction="10000"/>
          </a:bodyPr>
          <a:lstStyle/>
          <a:p>
            <a:pPr marL="0" indent="0" algn="l">
              <a:lnSpc>
                <a:spcPct val="86667"/>
              </a:lnSpc>
              <a:buNone/>
            </a:pPr>
            <a:r>
              <a:rPr lang="en-US" sz="1950" dirty="0">
                <a:solidFill>
                  <a:srgbClr val="C84F00"/>
                </a:solidFill>
                <a:latin typeface="Arial" pitchFamily="34" charset="0"/>
                <a:ea typeface="Arial" pitchFamily="34" charset="-122"/>
                <a:cs typeface="Arial" pitchFamily="34" charset="-120"/>
              </a:rPr>
              <a:t>▶</a:t>
            </a:r>
            <a:endParaRPr lang="en-US" sz="1950" dirty="0"/>
          </a:p>
        </p:txBody>
      </p:sp>
      <p:sp>
        <p:nvSpPr>
          <p:cNvPr id="25" name="Shape 23"/>
          <p:cNvSpPr/>
          <p:nvPr/>
        </p:nvSpPr>
        <p:spPr>
          <a:xfrm>
            <a:off x="6456462" y="4405313"/>
            <a:ext cx="1868388" cy="19050"/>
          </a:xfrm>
          <a:prstGeom prst="rect">
            <a:avLst/>
          </a:prstGeom>
          <a:solidFill>
            <a:srgbClr val="C84F00"/>
          </a:solidFill>
          <a:ln/>
        </p:spPr>
      </p:sp>
      <p:sp>
        <p:nvSpPr>
          <p:cNvPr id="26" name="Shape 24"/>
          <p:cNvSpPr/>
          <p:nvPr/>
        </p:nvSpPr>
        <p:spPr>
          <a:xfrm>
            <a:off x="8458200" y="4138613"/>
            <a:ext cx="1466850" cy="552450"/>
          </a:xfrm>
          <a:prstGeom prst="rect">
            <a:avLst/>
          </a:prstGeom>
          <a:solidFill>
            <a:srgbClr val="0053B3">
              <a:alpha val="30000"/>
            </a:srgbClr>
          </a:solidFill>
          <a:ln w="19050">
            <a:solidFill>
              <a:srgbClr val="0052B4"/>
            </a:solidFill>
            <a:prstDash val="solid"/>
          </a:ln>
        </p:spPr>
      </p:sp>
      <p:sp>
        <p:nvSpPr>
          <p:cNvPr id="27" name="Text 25"/>
          <p:cNvSpPr/>
          <p:nvPr/>
        </p:nvSpPr>
        <p:spPr>
          <a:xfrm>
            <a:off x="8439150" y="4157663"/>
            <a:ext cx="1504950" cy="552450"/>
          </a:xfrm>
          <a:prstGeom prst="rect">
            <a:avLst/>
          </a:prstGeom>
          <a:noFill/>
          <a:ln/>
        </p:spPr>
        <p:txBody>
          <a:bodyPr wrap="square" lIns="25400" tIns="25400" rIns="25400" bIns="25400" rtlCol="0" anchor="ctr">
            <a:normAutofit/>
          </a:bodyPr>
          <a:lstStyle/>
          <a:p>
            <a:pPr marL="0" indent="0" algn="ctr">
              <a:buNone/>
            </a:pPr>
            <a:r>
              <a:rPr lang="en-US" sz="1800" dirty="0">
                <a:solidFill>
                  <a:srgbClr val="141414"/>
                </a:solidFill>
                <a:latin typeface="Courier New" pitchFamily="34" charset="0"/>
                <a:ea typeface="Courier New" pitchFamily="34" charset="-122"/>
                <a:cs typeface="Courier New" pitchFamily="34" charset="-120"/>
              </a:rPr>
              <a:t>128</a:t>
            </a:r>
            <a:endParaRPr lang="en-US" sz="1800" dirty="0"/>
          </a:p>
        </p:txBody>
      </p:sp>
      <p:sp>
        <p:nvSpPr>
          <p:cNvPr id="28" name="Text 26"/>
          <p:cNvSpPr/>
          <p:nvPr/>
        </p:nvSpPr>
        <p:spPr>
          <a:xfrm>
            <a:off x="914400" y="4953000"/>
            <a:ext cx="704850" cy="333375"/>
          </a:xfrm>
          <a:prstGeom prst="rect">
            <a:avLst/>
          </a:prstGeom>
          <a:noFill/>
          <a:ln/>
        </p:spPr>
        <p:txBody>
          <a:bodyPr wrap="square" lIns="25400" tIns="25400" rIns="25400" bIns="25400" rtlCol="0" anchor="t">
            <a:normAutofit/>
          </a:bodyPr>
          <a:lstStyle/>
          <a:p>
            <a:pPr marL="0" indent="0" algn="r">
              <a:buNone/>
            </a:pPr>
            <a:r>
              <a:rPr lang="en-US" sz="1800" dirty="0">
                <a:solidFill>
                  <a:srgbClr val="5A5A5A"/>
                </a:solidFill>
                <a:latin typeface="Courier New" pitchFamily="34" charset="0"/>
                <a:ea typeface="Courier New" pitchFamily="34" charset="-122"/>
                <a:cs typeface="Courier New" pitchFamily="34" charset="-120"/>
              </a:rPr>
              <a:t>32²</a:t>
            </a:r>
            <a:endParaRPr lang="en-US" sz="1800" dirty="0"/>
          </a:p>
        </p:txBody>
      </p:sp>
      <p:sp>
        <p:nvSpPr>
          <p:cNvPr id="29" name="Shape 27"/>
          <p:cNvSpPr/>
          <p:nvPr/>
        </p:nvSpPr>
        <p:spPr>
          <a:xfrm>
            <a:off x="2647950" y="4824413"/>
            <a:ext cx="1466850" cy="552450"/>
          </a:xfrm>
          <a:prstGeom prst="rect">
            <a:avLst/>
          </a:prstGeom>
          <a:solidFill>
            <a:srgbClr val="0052B4">
              <a:alpha val="44000"/>
            </a:srgbClr>
          </a:solidFill>
          <a:ln w="19050">
            <a:solidFill>
              <a:srgbClr val="0052B4"/>
            </a:solidFill>
            <a:prstDash val="solid"/>
          </a:ln>
        </p:spPr>
      </p:sp>
      <p:sp>
        <p:nvSpPr>
          <p:cNvPr id="30" name="Text 28"/>
          <p:cNvSpPr/>
          <p:nvPr/>
        </p:nvSpPr>
        <p:spPr>
          <a:xfrm>
            <a:off x="2628900" y="4843463"/>
            <a:ext cx="1504950" cy="552450"/>
          </a:xfrm>
          <a:prstGeom prst="rect">
            <a:avLst/>
          </a:prstGeom>
          <a:noFill/>
          <a:ln/>
        </p:spPr>
        <p:txBody>
          <a:bodyPr wrap="square" lIns="25400" tIns="25400" rIns="25400" bIns="25400" rtlCol="0" anchor="ctr">
            <a:normAutofit/>
          </a:bodyPr>
          <a:lstStyle/>
          <a:p>
            <a:pPr marL="0" indent="0" algn="ctr">
              <a:buNone/>
            </a:pPr>
            <a:r>
              <a:rPr lang="en-US" sz="1800" dirty="0">
                <a:solidFill>
                  <a:srgbClr val="141414"/>
                </a:solidFill>
                <a:latin typeface="Courier New" pitchFamily="34" charset="0"/>
                <a:ea typeface="Courier New" pitchFamily="34" charset="-122"/>
                <a:cs typeface="Courier New" pitchFamily="34" charset="-120"/>
              </a:rPr>
              <a:t>128</a:t>
            </a:r>
            <a:endParaRPr lang="en-US" sz="1800" dirty="0"/>
          </a:p>
        </p:txBody>
      </p:sp>
      <p:sp>
        <p:nvSpPr>
          <p:cNvPr id="31" name="Shape 29"/>
          <p:cNvSpPr/>
          <p:nvPr/>
        </p:nvSpPr>
        <p:spPr>
          <a:xfrm>
            <a:off x="4248150" y="5091113"/>
            <a:ext cx="1430238" cy="19050"/>
          </a:xfrm>
          <a:prstGeom prst="rect">
            <a:avLst/>
          </a:prstGeom>
          <a:solidFill>
            <a:srgbClr val="C84F00"/>
          </a:solidFill>
          <a:ln/>
        </p:spPr>
      </p:sp>
      <p:sp>
        <p:nvSpPr>
          <p:cNvPr id="32" name="Text 30"/>
          <p:cNvSpPr/>
          <p:nvPr/>
        </p:nvSpPr>
        <p:spPr>
          <a:xfrm>
            <a:off x="5773638" y="4953000"/>
            <a:ext cx="3505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C84F00"/>
                </a:solidFill>
                <a:latin typeface="Courier New" pitchFamily="34" charset="0"/>
                <a:ea typeface="Courier New" pitchFamily="34" charset="-122"/>
                <a:cs typeface="Courier New" pitchFamily="34" charset="-120"/>
              </a:rPr>
              <a:t>S3</a:t>
            </a:r>
            <a:endParaRPr lang="en-US" sz="1800" dirty="0"/>
          </a:p>
        </p:txBody>
      </p:sp>
      <p:sp>
        <p:nvSpPr>
          <p:cNvPr id="33" name="Text 31"/>
          <p:cNvSpPr/>
          <p:nvPr/>
        </p:nvSpPr>
        <p:spPr>
          <a:xfrm>
            <a:off x="6143253" y="4976813"/>
            <a:ext cx="294159" cy="285750"/>
          </a:xfrm>
          <a:prstGeom prst="rect">
            <a:avLst/>
          </a:prstGeom>
          <a:noFill/>
          <a:ln/>
        </p:spPr>
        <p:txBody>
          <a:bodyPr wrap="square" lIns="25400" tIns="25400" rIns="25400" bIns="25400" rtlCol="0" anchor="t">
            <a:normAutofit fontScale="92500" lnSpcReduction="10000"/>
          </a:bodyPr>
          <a:lstStyle/>
          <a:p>
            <a:pPr marL="0" indent="0" algn="l">
              <a:lnSpc>
                <a:spcPct val="86667"/>
              </a:lnSpc>
              <a:buNone/>
            </a:pPr>
            <a:r>
              <a:rPr lang="en-US" sz="1950" dirty="0">
                <a:solidFill>
                  <a:srgbClr val="C84F00"/>
                </a:solidFill>
                <a:latin typeface="Arial" pitchFamily="34" charset="0"/>
                <a:ea typeface="Arial" pitchFamily="34" charset="-122"/>
                <a:cs typeface="Arial" pitchFamily="34" charset="-120"/>
              </a:rPr>
              <a:t>▶</a:t>
            </a:r>
            <a:endParaRPr lang="en-US" sz="1950" dirty="0"/>
          </a:p>
        </p:txBody>
      </p:sp>
      <p:sp>
        <p:nvSpPr>
          <p:cNvPr id="34" name="Shape 32"/>
          <p:cNvSpPr/>
          <p:nvPr/>
        </p:nvSpPr>
        <p:spPr>
          <a:xfrm>
            <a:off x="6456462" y="5091113"/>
            <a:ext cx="1430238" cy="19050"/>
          </a:xfrm>
          <a:prstGeom prst="rect">
            <a:avLst/>
          </a:prstGeom>
          <a:solidFill>
            <a:srgbClr val="C84F00"/>
          </a:solidFill>
          <a:ln/>
        </p:spPr>
      </p:sp>
      <p:sp>
        <p:nvSpPr>
          <p:cNvPr id="35" name="Shape 33"/>
          <p:cNvSpPr/>
          <p:nvPr/>
        </p:nvSpPr>
        <p:spPr>
          <a:xfrm>
            <a:off x="8020050" y="4824413"/>
            <a:ext cx="1466850" cy="552450"/>
          </a:xfrm>
          <a:prstGeom prst="rect">
            <a:avLst/>
          </a:prstGeom>
          <a:solidFill>
            <a:srgbClr val="0052B4">
              <a:alpha val="44000"/>
            </a:srgbClr>
          </a:solidFill>
          <a:ln w="19050">
            <a:solidFill>
              <a:srgbClr val="0052B4"/>
            </a:solidFill>
            <a:prstDash val="solid"/>
          </a:ln>
        </p:spPr>
      </p:sp>
      <p:sp>
        <p:nvSpPr>
          <p:cNvPr id="36" name="Text 34"/>
          <p:cNvSpPr/>
          <p:nvPr/>
        </p:nvSpPr>
        <p:spPr>
          <a:xfrm>
            <a:off x="8001000" y="4843463"/>
            <a:ext cx="1504950" cy="552450"/>
          </a:xfrm>
          <a:prstGeom prst="rect">
            <a:avLst/>
          </a:prstGeom>
          <a:noFill/>
          <a:ln/>
        </p:spPr>
        <p:txBody>
          <a:bodyPr wrap="square" lIns="25400" tIns="25400" rIns="25400" bIns="25400" rtlCol="0" anchor="ctr">
            <a:normAutofit/>
          </a:bodyPr>
          <a:lstStyle/>
          <a:p>
            <a:pPr marL="0" indent="0" algn="ctr">
              <a:buNone/>
            </a:pPr>
            <a:r>
              <a:rPr lang="en-US" sz="1800" dirty="0">
                <a:solidFill>
                  <a:srgbClr val="141414"/>
                </a:solidFill>
                <a:latin typeface="Courier New" pitchFamily="34" charset="0"/>
                <a:ea typeface="Courier New" pitchFamily="34" charset="-122"/>
                <a:cs typeface="Courier New" pitchFamily="34" charset="-120"/>
              </a:rPr>
              <a:t>128</a:t>
            </a:r>
            <a:endParaRPr lang="en-US" sz="1800" dirty="0"/>
          </a:p>
        </p:txBody>
      </p:sp>
      <p:sp>
        <p:nvSpPr>
          <p:cNvPr id="37" name="Text 35"/>
          <p:cNvSpPr/>
          <p:nvPr/>
        </p:nvSpPr>
        <p:spPr>
          <a:xfrm>
            <a:off x="914400" y="5638800"/>
            <a:ext cx="704850" cy="333375"/>
          </a:xfrm>
          <a:prstGeom prst="rect">
            <a:avLst/>
          </a:prstGeom>
          <a:noFill/>
          <a:ln/>
        </p:spPr>
        <p:txBody>
          <a:bodyPr wrap="square" lIns="25400" tIns="25400" rIns="25400" bIns="25400" rtlCol="0" anchor="t">
            <a:normAutofit/>
          </a:bodyPr>
          <a:lstStyle/>
          <a:p>
            <a:pPr marL="0" indent="0" algn="r">
              <a:buNone/>
            </a:pPr>
            <a:r>
              <a:rPr lang="en-US" sz="1800" dirty="0">
                <a:solidFill>
                  <a:srgbClr val="5A5A5A"/>
                </a:solidFill>
                <a:latin typeface="Courier New" pitchFamily="34" charset="0"/>
                <a:ea typeface="Courier New" pitchFamily="34" charset="-122"/>
                <a:cs typeface="Courier New" pitchFamily="34" charset="-120"/>
              </a:rPr>
              <a:t>16²</a:t>
            </a:r>
            <a:endParaRPr lang="en-US" sz="1800" dirty="0"/>
          </a:p>
        </p:txBody>
      </p:sp>
      <p:sp>
        <p:nvSpPr>
          <p:cNvPr id="38" name="Shape 36"/>
          <p:cNvSpPr/>
          <p:nvPr/>
        </p:nvSpPr>
        <p:spPr>
          <a:xfrm>
            <a:off x="3086100" y="5510213"/>
            <a:ext cx="1466850" cy="552450"/>
          </a:xfrm>
          <a:prstGeom prst="rect">
            <a:avLst/>
          </a:prstGeom>
          <a:solidFill>
            <a:srgbClr val="0053B3">
              <a:alpha val="58000"/>
            </a:srgbClr>
          </a:solidFill>
          <a:ln w="19050">
            <a:solidFill>
              <a:srgbClr val="0052B4"/>
            </a:solidFill>
            <a:prstDash val="solid"/>
          </a:ln>
        </p:spPr>
      </p:sp>
      <p:sp>
        <p:nvSpPr>
          <p:cNvPr id="39" name="Text 37"/>
          <p:cNvSpPr/>
          <p:nvPr/>
        </p:nvSpPr>
        <p:spPr>
          <a:xfrm>
            <a:off x="3067050" y="5529263"/>
            <a:ext cx="1504950" cy="552450"/>
          </a:xfrm>
          <a:prstGeom prst="rect">
            <a:avLst/>
          </a:prstGeom>
          <a:noFill/>
          <a:ln/>
        </p:spPr>
        <p:txBody>
          <a:bodyPr wrap="square" lIns="25400" tIns="25400" rIns="25400" bIns="25400" rtlCol="0" anchor="ctr">
            <a:normAutofit/>
          </a:bodyPr>
          <a:lstStyle/>
          <a:p>
            <a:pPr marL="0" indent="0" algn="ctr">
              <a:buNone/>
            </a:pPr>
            <a:r>
              <a:rPr lang="en-US" sz="1800" dirty="0">
                <a:solidFill>
                  <a:srgbClr val="141414"/>
                </a:solidFill>
                <a:latin typeface="Courier New" pitchFamily="34" charset="0"/>
                <a:ea typeface="Courier New" pitchFamily="34" charset="-122"/>
                <a:cs typeface="Courier New" pitchFamily="34" charset="-120"/>
              </a:rPr>
              <a:t>256</a:t>
            </a:r>
            <a:endParaRPr lang="en-US" sz="1800" dirty="0"/>
          </a:p>
        </p:txBody>
      </p:sp>
      <p:sp>
        <p:nvSpPr>
          <p:cNvPr id="40" name="Shape 38"/>
          <p:cNvSpPr/>
          <p:nvPr/>
        </p:nvSpPr>
        <p:spPr>
          <a:xfrm>
            <a:off x="4686300" y="5776913"/>
            <a:ext cx="992088" cy="19050"/>
          </a:xfrm>
          <a:prstGeom prst="rect">
            <a:avLst/>
          </a:prstGeom>
          <a:solidFill>
            <a:srgbClr val="C84F00"/>
          </a:solidFill>
          <a:ln/>
        </p:spPr>
      </p:sp>
      <p:sp>
        <p:nvSpPr>
          <p:cNvPr id="41" name="Text 39"/>
          <p:cNvSpPr/>
          <p:nvPr/>
        </p:nvSpPr>
        <p:spPr>
          <a:xfrm>
            <a:off x="5773638" y="5638800"/>
            <a:ext cx="3505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C84F00"/>
                </a:solidFill>
                <a:latin typeface="Courier New" pitchFamily="34" charset="0"/>
                <a:ea typeface="Courier New" pitchFamily="34" charset="-122"/>
                <a:cs typeface="Courier New" pitchFamily="34" charset="-120"/>
              </a:rPr>
              <a:t>S4</a:t>
            </a:r>
            <a:endParaRPr lang="en-US" sz="1800" dirty="0"/>
          </a:p>
        </p:txBody>
      </p:sp>
      <p:sp>
        <p:nvSpPr>
          <p:cNvPr id="42" name="Text 40"/>
          <p:cNvSpPr/>
          <p:nvPr/>
        </p:nvSpPr>
        <p:spPr>
          <a:xfrm>
            <a:off x="6143253" y="5662613"/>
            <a:ext cx="294159" cy="285750"/>
          </a:xfrm>
          <a:prstGeom prst="rect">
            <a:avLst/>
          </a:prstGeom>
          <a:noFill/>
          <a:ln/>
        </p:spPr>
        <p:txBody>
          <a:bodyPr wrap="square" lIns="25400" tIns="25400" rIns="25400" bIns="25400" rtlCol="0" anchor="t">
            <a:normAutofit fontScale="92500" lnSpcReduction="10000"/>
          </a:bodyPr>
          <a:lstStyle/>
          <a:p>
            <a:pPr marL="0" indent="0" algn="l">
              <a:lnSpc>
                <a:spcPct val="86667"/>
              </a:lnSpc>
              <a:buNone/>
            </a:pPr>
            <a:r>
              <a:rPr lang="en-US" sz="1950" dirty="0">
                <a:solidFill>
                  <a:srgbClr val="C84F00"/>
                </a:solidFill>
                <a:latin typeface="Arial" pitchFamily="34" charset="0"/>
                <a:ea typeface="Arial" pitchFamily="34" charset="-122"/>
                <a:cs typeface="Arial" pitchFamily="34" charset="-120"/>
              </a:rPr>
              <a:t>▶</a:t>
            </a:r>
            <a:endParaRPr lang="en-US" sz="1950" dirty="0"/>
          </a:p>
        </p:txBody>
      </p:sp>
      <p:sp>
        <p:nvSpPr>
          <p:cNvPr id="43" name="Shape 41"/>
          <p:cNvSpPr/>
          <p:nvPr/>
        </p:nvSpPr>
        <p:spPr>
          <a:xfrm>
            <a:off x="6456462" y="5776913"/>
            <a:ext cx="992088" cy="19050"/>
          </a:xfrm>
          <a:prstGeom prst="rect">
            <a:avLst/>
          </a:prstGeom>
          <a:solidFill>
            <a:srgbClr val="C84F00"/>
          </a:solidFill>
          <a:ln/>
        </p:spPr>
      </p:sp>
      <p:sp>
        <p:nvSpPr>
          <p:cNvPr id="44" name="Shape 42"/>
          <p:cNvSpPr/>
          <p:nvPr/>
        </p:nvSpPr>
        <p:spPr>
          <a:xfrm>
            <a:off x="7581900" y="5510213"/>
            <a:ext cx="1466850" cy="552450"/>
          </a:xfrm>
          <a:prstGeom prst="rect">
            <a:avLst/>
          </a:prstGeom>
          <a:solidFill>
            <a:srgbClr val="0053B3">
              <a:alpha val="58000"/>
            </a:srgbClr>
          </a:solidFill>
          <a:ln w="19050">
            <a:solidFill>
              <a:srgbClr val="0052B4"/>
            </a:solidFill>
            <a:prstDash val="solid"/>
          </a:ln>
        </p:spPr>
      </p:sp>
      <p:sp>
        <p:nvSpPr>
          <p:cNvPr id="45" name="Text 43"/>
          <p:cNvSpPr/>
          <p:nvPr/>
        </p:nvSpPr>
        <p:spPr>
          <a:xfrm>
            <a:off x="7562850" y="5529263"/>
            <a:ext cx="1504950" cy="552450"/>
          </a:xfrm>
          <a:prstGeom prst="rect">
            <a:avLst/>
          </a:prstGeom>
          <a:noFill/>
          <a:ln/>
        </p:spPr>
        <p:txBody>
          <a:bodyPr wrap="square" lIns="25400" tIns="25400" rIns="25400" bIns="25400" rtlCol="0" anchor="ctr">
            <a:normAutofit/>
          </a:bodyPr>
          <a:lstStyle/>
          <a:p>
            <a:pPr marL="0" indent="0" algn="ctr">
              <a:buNone/>
            </a:pPr>
            <a:r>
              <a:rPr lang="en-US" sz="1800" dirty="0">
                <a:solidFill>
                  <a:srgbClr val="141414"/>
                </a:solidFill>
                <a:latin typeface="Courier New" pitchFamily="34" charset="0"/>
                <a:ea typeface="Courier New" pitchFamily="34" charset="-122"/>
                <a:cs typeface="Courier New" pitchFamily="34" charset="-120"/>
              </a:rPr>
              <a:t>256</a:t>
            </a:r>
            <a:endParaRPr lang="en-US" sz="1800" dirty="0"/>
          </a:p>
        </p:txBody>
      </p:sp>
      <p:sp>
        <p:nvSpPr>
          <p:cNvPr id="46" name="Text 44"/>
          <p:cNvSpPr/>
          <p:nvPr/>
        </p:nvSpPr>
        <p:spPr>
          <a:xfrm>
            <a:off x="1266825" y="6305550"/>
            <a:ext cx="350565" cy="333375"/>
          </a:xfrm>
          <a:prstGeom prst="rect">
            <a:avLst/>
          </a:prstGeom>
          <a:noFill/>
          <a:ln/>
        </p:spPr>
        <p:txBody>
          <a:bodyPr wrap="square" lIns="25400" tIns="25400" rIns="25400" bIns="25400" rtlCol="0" anchor="t">
            <a:normAutofit/>
          </a:bodyPr>
          <a:lstStyle/>
          <a:p>
            <a:pPr marL="0" indent="0" algn="ctr">
              <a:buNone/>
            </a:pPr>
            <a:r>
              <a:rPr lang="en-US" sz="1800" dirty="0">
                <a:solidFill>
                  <a:srgbClr val="5A5A5A"/>
                </a:solidFill>
                <a:latin typeface="Courier New" pitchFamily="34" charset="0"/>
                <a:ea typeface="Courier New" pitchFamily="34" charset="-122"/>
                <a:cs typeface="Courier New" pitchFamily="34" charset="-120"/>
              </a:rPr>
              <a:t>8²</a:t>
            </a:r>
            <a:endParaRPr lang="en-US" sz="1800" dirty="0"/>
          </a:p>
        </p:txBody>
      </p:sp>
      <p:sp>
        <p:nvSpPr>
          <p:cNvPr id="47" name="Shape 45"/>
          <p:cNvSpPr/>
          <p:nvPr/>
        </p:nvSpPr>
        <p:spPr>
          <a:xfrm>
            <a:off x="3169965" y="6196013"/>
            <a:ext cx="5662613" cy="552450"/>
          </a:xfrm>
          <a:prstGeom prst="rect">
            <a:avLst/>
          </a:prstGeom>
          <a:solidFill>
            <a:srgbClr val="0052B4"/>
          </a:solidFill>
          <a:ln w="19050">
            <a:solidFill>
              <a:srgbClr val="0052B4"/>
            </a:solidFill>
            <a:prstDash val="solid"/>
          </a:ln>
        </p:spPr>
      </p:sp>
      <p:sp>
        <p:nvSpPr>
          <p:cNvPr id="48" name="Text 46"/>
          <p:cNvSpPr/>
          <p:nvPr/>
        </p:nvSpPr>
        <p:spPr>
          <a:xfrm>
            <a:off x="3104075" y="6215063"/>
            <a:ext cx="5794391" cy="552450"/>
          </a:xfrm>
          <a:prstGeom prst="rect">
            <a:avLst/>
          </a:prstGeom>
          <a:noFill/>
          <a:ln/>
        </p:spPr>
        <p:txBody>
          <a:bodyPr wrap="none" lIns="25400" tIns="25400" rIns="25400" bIns="25400" rtlCol="0" anchor="ctr">
            <a:normAutofit/>
          </a:bodyPr>
          <a:lstStyle/>
          <a:p>
            <a:pPr marL="0" indent="0" algn="ctr">
              <a:buNone/>
            </a:pPr>
            <a:r>
              <a:rPr lang="en-US" sz="1800" dirty="0">
                <a:solidFill>
                  <a:srgbClr val="FFFFFF"/>
                </a:solidFill>
                <a:latin typeface="Courier New" pitchFamily="34" charset="0"/>
                <a:ea typeface="Courier New" pitchFamily="34" charset="-122"/>
                <a:cs typeface="Courier New" pitchFamily="34" charset="-120"/>
              </a:rPr>
              <a:t>ResBlock → SelfAttention → ResBlock · 256</a:t>
            </a:r>
            <a:endParaRPr lang="en-US" sz="1800" dirty="0"/>
          </a:p>
        </p:txBody>
      </p:sp>
      <p:sp>
        <p:nvSpPr>
          <p:cNvPr id="49" name="Text 47"/>
          <p:cNvSpPr/>
          <p:nvPr/>
        </p:nvSpPr>
        <p:spPr>
          <a:xfrm>
            <a:off x="1771650" y="6938963"/>
            <a:ext cx="2715801"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ResBlock + Down ×4</a:t>
            </a:r>
            <a:endParaRPr lang="en-US" sz="1800" dirty="0"/>
          </a:p>
        </p:txBody>
      </p:sp>
      <p:sp>
        <p:nvSpPr>
          <p:cNvPr id="50" name="Text 48"/>
          <p:cNvSpPr/>
          <p:nvPr/>
        </p:nvSpPr>
        <p:spPr>
          <a:xfrm>
            <a:off x="6659835" y="6938963"/>
            <a:ext cx="4073701"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Up + cat skip + ResBlock ×4</a:t>
            </a:r>
            <a:endParaRPr lang="en-US" sz="1800" dirty="0"/>
          </a:p>
        </p:txBody>
      </p:sp>
      <p:sp>
        <p:nvSpPr>
          <p:cNvPr id="51" name="Text 49"/>
          <p:cNvSpPr/>
          <p:nvPr/>
        </p:nvSpPr>
        <p:spPr>
          <a:xfrm>
            <a:off x="990600" y="7424737"/>
            <a:ext cx="9653778" cy="1363861"/>
          </a:xfrm>
          <a:prstGeom prst="rect">
            <a:avLst/>
          </a:prstGeom>
          <a:noFill/>
          <a:ln/>
        </p:spPr>
        <p:txBody>
          <a:bodyPr wrap="square" lIns="25400" tIns="25400" rIns="25400" bIns="25400" rtlCol="0" anchor="t">
            <a:normAutofit/>
          </a:bodyPr>
          <a:lstStyle/>
          <a:p>
            <a:pPr marL="0" indent="0" algn="l">
              <a:lnSpc>
                <a:spcPct val="126545"/>
              </a:lnSpc>
              <a:buNone/>
            </a:pPr>
            <a:r>
              <a:rPr lang="en-US" sz="1800" dirty="0">
                <a:solidFill>
                  <a:srgbClr val="5A5A5A"/>
                </a:solidFill>
                <a:latin typeface="Arial" pitchFamily="34" charset="0"/>
                <a:ea typeface="Arial" pitchFamily="34" charset="-122"/>
                <a:cs typeface="Arial" pitchFamily="34" charset="-120"/>
              </a:rPr>
              <a:t>Time conditioning is implemented as a sinusoidal embedding injected as additive bias in every ResBlock; self-attention runs only at 8×8, where the attention matrix is 64×64. C_in = C_out is 3 for RGB and 6 for the frequency model — the only structural difference between the two.</a:t>
            </a:r>
            <a:endParaRPr lang="en-US" sz="1800" dirty="0"/>
          </a:p>
        </p:txBody>
      </p:sp>
      <p:sp>
        <p:nvSpPr>
          <p:cNvPr id="52" name="Text 50"/>
          <p:cNvSpPr/>
          <p:nvPr/>
        </p:nvSpPr>
        <p:spPr>
          <a:xfrm>
            <a:off x="11049000" y="2281238"/>
            <a:ext cx="6873240"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C84F00"/>
                </a:solidFill>
                <a:latin typeface="Courier New" pitchFamily="34" charset="0"/>
                <a:ea typeface="Courier New" pitchFamily="34" charset="-122"/>
                <a:cs typeface="Courier New" pitchFamily="34" charset="-120"/>
              </a:rPr>
              <a:t>DDIM sampling, η = 0</a:t>
            </a:r>
            <a:endParaRPr lang="en-US" sz="1800" dirty="0"/>
          </a:p>
        </p:txBody>
      </p:sp>
      <p:sp>
        <p:nvSpPr>
          <p:cNvPr id="53" name="Text 51"/>
          <p:cNvSpPr/>
          <p:nvPr/>
        </p:nvSpPr>
        <p:spPr>
          <a:xfrm>
            <a:off x="11049000" y="2824163"/>
            <a:ext cx="2019620" cy="1066800"/>
          </a:xfrm>
          <a:prstGeom prst="rect">
            <a:avLst/>
          </a:prstGeom>
          <a:noFill/>
          <a:ln/>
        </p:spPr>
        <p:txBody>
          <a:bodyPr wrap="square" lIns="25400" tIns="25400" rIns="25400" bIns="25400" rtlCol="0" anchor="t">
            <a:normAutofit lnSpcReduction="10000"/>
          </a:bodyPr>
          <a:lstStyle/>
          <a:p>
            <a:pPr marL="0" indent="0" algn="l">
              <a:lnSpc>
                <a:spcPct val="78261"/>
              </a:lnSpc>
              <a:buNone/>
            </a:pPr>
            <a:r>
              <a:rPr lang="en-US" sz="9000" b="1" kern="0" spc="-270" dirty="0">
                <a:solidFill>
                  <a:srgbClr val="141414"/>
                </a:solidFill>
                <a:latin typeface="Arial" pitchFamily="34" charset="0"/>
                <a:ea typeface="Arial" pitchFamily="34" charset="-122"/>
                <a:cs typeface="Arial" pitchFamily="34" charset="-120"/>
              </a:rPr>
              <a:t>20×</a:t>
            </a:r>
            <a:endParaRPr lang="en-US" sz="9000" dirty="0"/>
          </a:p>
        </p:txBody>
      </p:sp>
      <p:sp>
        <p:nvSpPr>
          <p:cNvPr id="54" name="Text 52"/>
          <p:cNvSpPr/>
          <p:nvPr/>
        </p:nvSpPr>
        <p:spPr>
          <a:xfrm>
            <a:off x="13075518" y="3500438"/>
            <a:ext cx="1553914" cy="632371"/>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dirty="0">
                <a:solidFill>
                  <a:srgbClr val="5A5A5A"/>
                </a:solidFill>
                <a:latin typeface="Arial" pitchFamily="34" charset="0"/>
                <a:ea typeface="Arial" pitchFamily="34" charset="-122"/>
                <a:cs typeface="Arial" pitchFamily="34" charset="-120"/>
              </a:rPr>
              <a:t>fewer network evaluations</a:t>
            </a:r>
            <a:endParaRPr lang="en-US" sz="1800" dirty="0"/>
          </a:p>
        </p:txBody>
      </p:sp>
      <p:sp>
        <p:nvSpPr>
          <p:cNvPr id="55" name="Text 53"/>
          <p:cNvSpPr/>
          <p:nvPr/>
        </p:nvSpPr>
        <p:spPr>
          <a:xfrm>
            <a:off x="11049000" y="4342358"/>
            <a:ext cx="2828925" cy="333375"/>
          </a:xfrm>
          <a:prstGeom prst="rect">
            <a:avLst/>
          </a:prstGeom>
          <a:noFill/>
          <a:ln/>
        </p:spPr>
        <p:txBody>
          <a:bodyPr wrap="non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DDPM · 1000 steps</a:t>
            </a:r>
            <a:endParaRPr lang="en-US" sz="1800" dirty="0"/>
          </a:p>
        </p:txBody>
      </p:sp>
      <p:sp>
        <p:nvSpPr>
          <p:cNvPr id="56" name="Shape 54"/>
          <p:cNvSpPr/>
          <p:nvPr/>
        </p:nvSpPr>
        <p:spPr>
          <a:xfrm>
            <a:off x="13773150" y="4385221"/>
            <a:ext cx="3524250" cy="209550"/>
          </a:xfrm>
          <a:prstGeom prst="rect">
            <a:avLst/>
          </a:prstGeom>
          <a:solidFill>
            <a:srgbClr val="DCDCDC"/>
          </a:solidFill>
          <a:ln/>
        </p:spPr>
      </p:sp>
      <p:sp>
        <p:nvSpPr>
          <p:cNvPr id="57" name="Text 55"/>
          <p:cNvSpPr/>
          <p:nvPr/>
        </p:nvSpPr>
        <p:spPr>
          <a:xfrm>
            <a:off x="11049000" y="4751933"/>
            <a:ext cx="2828925" cy="333375"/>
          </a:xfrm>
          <a:prstGeom prst="rect">
            <a:avLst/>
          </a:prstGeom>
          <a:noFill/>
          <a:ln/>
        </p:spPr>
        <p:txBody>
          <a:bodyPr wrap="none" lIns="25400" tIns="25400" rIns="25400" bIns="25400" rtlCol="0" anchor="t">
            <a:normAutofit/>
          </a:bodyPr>
          <a:lstStyle/>
          <a:p>
            <a:pPr marL="0" indent="0" algn="l">
              <a:buNone/>
            </a:pPr>
            <a:r>
              <a:rPr lang="en-US" sz="1800" dirty="0">
                <a:solidFill>
                  <a:srgbClr val="C84F00"/>
                </a:solidFill>
                <a:latin typeface="Courier New" pitchFamily="34" charset="0"/>
                <a:ea typeface="Courier New" pitchFamily="34" charset="-122"/>
                <a:cs typeface="Courier New" pitchFamily="34" charset="-120"/>
              </a:rPr>
              <a:t>DDIM · 50 steps</a:t>
            </a:r>
            <a:endParaRPr lang="en-US" sz="1800" dirty="0"/>
          </a:p>
        </p:txBody>
      </p:sp>
      <p:sp>
        <p:nvSpPr>
          <p:cNvPr id="58" name="Shape 56"/>
          <p:cNvSpPr/>
          <p:nvPr/>
        </p:nvSpPr>
        <p:spPr>
          <a:xfrm>
            <a:off x="13773150" y="4794796"/>
            <a:ext cx="176213" cy="209550"/>
          </a:xfrm>
          <a:prstGeom prst="rect">
            <a:avLst/>
          </a:prstGeom>
          <a:solidFill>
            <a:srgbClr val="C84F00"/>
          </a:solidFill>
          <a:ln/>
        </p:spPr>
      </p:sp>
      <p:sp>
        <p:nvSpPr>
          <p:cNvPr id="59" name="Text 57"/>
          <p:cNvSpPr/>
          <p:nvPr/>
        </p:nvSpPr>
        <p:spPr>
          <a:xfrm>
            <a:off x="11049000" y="5294858"/>
            <a:ext cx="6435852" cy="1851422"/>
          </a:xfrm>
          <a:prstGeom prst="rect">
            <a:avLst/>
          </a:prstGeom>
          <a:noFill/>
          <a:ln/>
        </p:spPr>
        <p:txBody>
          <a:bodyPr wrap="square" lIns="25400" tIns="25400" rIns="25400" bIns="25400" rtlCol="0" anchor="t">
            <a:normAutofit lnSpcReduction="10000"/>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The 1000 training timesteps are sub-sampled to 50 uniformly spaced steps, and deterministic updates make generation reproducible.</a:t>
            </a:r>
            <a:endParaRPr lang="en-US" sz="2550" dirty="0"/>
          </a:p>
        </p:txBody>
      </p:sp>
      <p:sp>
        <p:nvSpPr>
          <p:cNvPr id="60" name="Text 58"/>
          <p:cNvSpPr/>
          <p:nvPr/>
        </p:nvSpPr>
        <p:spPr>
          <a:xfrm>
            <a:off x="16474380" y="9610725"/>
            <a:ext cx="89922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8 / 15</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Experimental Setup</a:t>
            </a:r>
            <a:endParaRPr lang="en-US" sz="4800" dirty="0"/>
          </a:p>
        </p:txBody>
      </p:sp>
      <p:sp>
        <p:nvSpPr>
          <p:cNvPr id="3" name="Shape 1"/>
          <p:cNvSpPr/>
          <p:nvPr/>
        </p:nvSpPr>
        <p:spPr>
          <a:xfrm>
            <a:off x="990600" y="1919288"/>
            <a:ext cx="16306800" cy="19050"/>
          </a:xfrm>
          <a:prstGeom prst="rect">
            <a:avLst/>
          </a:prstGeom>
          <a:solidFill>
            <a:srgbClr val="DCDCDC"/>
          </a:solidFill>
          <a:ln/>
        </p:spPr>
      </p:sp>
      <p:sp>
        <p:nvSpPr>
          <p:cNvPr id="4" name="Text 2"/>
          <p:cNvSpPr/>
          <p:nvPr/>
        </p:nvSpPr>
        <p:spPr>
          <a:xfrm>
            <a:off x="990600" y="2395538"/>
            <a:ext cx="8465820"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0052B4"/>
                </a:solidFill>
                <a:latin typeface="Courier New" pitchFamily="34" charset="0"/>
                <a:ea typeface="Courier New" pitchFamily="34" charset="-122"/>
                <a:cs typeface="Courier New" pitchFamily="34" charset="-120"/>
              </a:rPr>
              <a:t>SHARED CONFIGURATION</a:t>
            </a:r>
            <a:endParaRPr lang="en-US" sz="1800" dirty="0"/>
          </a:p>
        </p:txBody>
      </p:sp>
      <p:sp>
        <p:nvSpPr>
          <p:cNvPr id="5" name="Shape 3"/>
          <p:cNvSpPr/>
          <p:nvPr/>
        </p:nvSpPr>
        <p:spPr>
          <a:xfrm>
            <a:off x="990600" y="3433763"/>
            <a:ext cx="4815260" cy="9525"/>
          </a:xfrm>
          <a:prstGeom prst="rect">
            <a:avLst/>
          </a:prstGeom>
          <a:solidFill>
            <a:srgbClr val="DCDCDC"/>
          </a:solidFill>
          <a:ln/>
        </p:spPr>
      </p:sp>
      <p:sp>
        <p:nvSpPr>
          <p:cNvPr id="6" name="Text 4"/>
          <p:cNvSpPr/>
          <p:nvPr/>
        </p:nvSpPr>
        <p:spPr>
          <a:xfrm>
            <a:off x="990600" y="2900363"/>
            <a:ext cx="4959717" cy="571500"/>
          </a:xfrm>
          <a:prstGeom prst="rect">
            <a:avLst/>
          </a:prstGeom>
          <a:noFill/>
          <a:ln/>
        </p:spPr>
        <p:txBody>
          <a:bodyPr wrap="square" lIns="25400" tIns="25400" rIns="25400" bIns="25400" rtlCol="0" anchor="t">
            <a:normAutofit/>
          </a:bodyPr>
          <a:lstStyle/>
          <a:p>
            <a:pPr marL="0" indent="0" algn="l">
              <a:lnSpc>
                <a:spcPct val="172308"/>
              </a:lnSpc>
              <a:buNone/>
            </a:pPr>
            <a:r>
              <a:rPr lang="en-US" sz="2100" dirty="0">
                <a:solidFill>
                  <a:srgbClr val="141414"/>
                </a:solidFill>
                <a:latin typeface="Arial" pitchFamily="34" charset="0"/>
                <a:ea typeface="Arial" pitchFamily="34" charset="-122"/>
                <a:cs typeface="Arial" pitchFamily="34" charset="-120"/>
              </a:rPr>
              <a:t>Timesteps T, linear β</a:t>
            </a:r>
            <a:endParaRPr lang="en-US" sz="2100" dirty="0"/>
          </a:p>
        </p:txBody>
      </p:sp>
      <p:sp>
        <p:nvSpPr>
          <p:cNvPr id="7" name="Shape 5"/>
          <p:cNvSpPr/>
          <p:nvPr/>
        </p:nvSpPr>
        <p:spPr>
          <a:xfrm>
            <a:off x="5805860" y="3433763"/>
            <a:ext cx="2880940" cy="9525"/>
          </a:xfrm>
          <a:prstGeom prst="rect">
            <a:avLst/>
          </a:prstGeom>
          <a:solidFill>
            <a:srgbClr val="DCDCDC"/>
          </a:solidFill>
          <a:ln/>
        </p:spPr>
      </p:sp>
      <p:sp>
        <p:nvSpPr>
          <p:cNvPr id="8" name="Text 6"/>
          <p:cNvSpPr/>
          <p:nvPr/>
        </p:nvSpPr>
        <p:spPr>
          <a:xfrm>
            <a:off x="5719431" y="2900363"/>
            <a:ext cx="2967369" cy="571500"/>
          </a:xfrm>
          <a:prstGeom prst="rect">
            <a:avLst/>
          </a:prstGeom>
          <a:noFill/>
          <a:ln/>
        </p:spPr>
        <p:txBody>
          <a:bodyPr wrap="square" lIns="25400" tIns="25400" rIns="25400" bIns="25400" rtlCol="0" anchor="t">
            <a:normAutofit/>
          </a:bodyPr>
          <a:lstStyle/>
          <a:p>
            <a:pPr marL="0" indent="0" algn="r">
              <a:lnSpc>
                <a:spcPct val="175000"/>
              </a:lnSpc>
              <a:buNone/>
            </a:pPr>
            <a:r>
              <a:rPr lang="en-US" sz="2100" dirty="0">
                <a:solidFill>
                  <a:srgbClr val="141414"/>
                </a:solidFill>
                <a:latin typeface="Courier New" pitchFamily="34" charset="0"/>
                <a:ea typeface="Courier New" pitchFamily="34" charset="-122"/>
                <a:cs typeface="Courier New" pitchFamily="34" charset="-120"/>
              </a:rPr>
              <a:t>1000 · 1e-4 → 0.02</a:t>
            </a:r>
            <a:endParaRPr lang="en-US" sz="2100" dirty="0"/>
          </a:p>
        </p:txBody>
      </p:sp>
      <p:sp>
        <p:nvSpPr>
          <p:cNvPr id="9" name="Shape 7"/>
          <p:cNvSpPr/>
          <p:nvPr/>
        </p:nvSpPr>
        <p:spPr>
          <a:xfrm>
            <a:off x="990600" y="3976687"/>
            <a:ext cx="4815260" cy="9525"/>
          </a:xfrm>
          <a:prstGeom prst="rect">
            <a:avLst/>
          </a:prstGeom>
          <a:solidFill>
            <a:srgbClr val="DCDCDC"/>
          </a:solidFill>
          <a:ln/>
        </p:spPr>
      </p:sp>
      <p:sp>
        <p:nvSpPr>
          <p:cNvPr id="10" name="Text 8"/>
          <p:cNvSpPr/>
          <p:nvPr/>
        </p:nvSpPr>
        <p:spPr>
          <a:xfrm>
            <a:off x="990600" y="3443288"/>
            <a:ext cx="4959717" cy="571500"/>
          </a:xfrm>
          <a:prstGeom prst="rect">
            <a:avLst/>
          </a:prstGeom>
          <a:noFill/>
          <a:ln/>
        </p:spPr>
        <p:txBody>
          <a:bodyPr wrap="square" lIns="25400" tIns="25400" rIns="25400" bIns="25400" rtlCol="0" anchor="t">
            <a:normAutofit/>
          </a:bodyPr>
          <a:lstStyle/>
          <a:p>
            <a:pPr marL="0" indent="0" algn="l">
              <a:lnSpc>
                <a:spcPct val="172308"/>
              </a:lnSpc>
              <a:buNone/>
            </a:pPr>
            <a:r>
              <a:rPr lang="en-US" sz="2100" dirty="0">
                <a:solidFill>
                  <a:srgbClr val="141414"/>
                </a:solidFill>
                <a:latin typeface="Arial" pitchFamily="34" charset="0"/>
                <a:ea typeface="Arial" pitchFamily="34" charset="-122"/>
                <a:cs typeface="Arial" pitchFamily="34" charset="-120"/>
              </a:rPr>
              <a:t>DDIM steps, η</a:t>
            </a:r>
            <a:endParaRPr lang="en-US" sz="2100" dirty="0"/>
          </a:p>
        </p:txBody>
      </p:sp>
      <p:sp>
        <p:nvSpPr>
          <p:cNvPr id="11" name="Shape 9"/>
          <p:cNvSpPr/>
          <p:nvPr/>
        </p:nvSpPr>
        <p:spPr>
          <a:xfrm>
            <a:off x="5805860" y="3976687"/>
            <a:ext cx="2880940" cy="9525"/>
          </a:xfrm>
          <a:prstGeom prst="rect">
            <a:avLst/>
          </a:prstGeom>
          <a:solidFill>
            <a:srgbClr val="DCDCDC"/>
          </a:solidFill>
          <a:ln/>
        </p:spPr>
      </p:sp>
      <p:sp>
        <p:nvSpPr>
          <p:cNvPr id="12" name="Text 10"/>
          <p:cNvSpPr/>
          <p:nvPr/>
        </p:nvSpPr>
        <p:spPr>
          <a:xfrm>
            <a:off x="5719431" y="3443288"/>
            <a:ext cx="2967369" cy="571500"/>
          </a:xfrm>
          <a:prstGeom prst="rect">
            <a:avLst/>
          </a:prstGeom>
          <a:noFill/>
          <a:ln/>
        </p:spPr>
        <p:txBody>
          <a:bodyPr wrap="square" lIns="25400" tIns="25400" rIns="25400" bIns="25400" rtlCol="0" anchor="t">
            <a:normAutofit/>
          </a:bodyPr>
          <a:lstStyle/>
          <a:p>
            <a:pPr marL="0" indent="0" algn="r">
              <a:lnSpc>
                <a:spcPct val="175000"/>
              </a:lnSpc>
              <a:buNone/>
            </a:pPr>
            <a:r>
              <a:rPr lang="en-US" sz="2100" dirty="0">
                <a:solidFill>
                  <a:srgbClr val="141414"/>
                </a:solidFill>
                <a:latin typeface="Courier New" pitchFamily="34" charset="0"/>
                <a:ea typeface="Courier New" pitchFamily="34" charset="-122"/>
                <a:cs typeface="Courier New" pitchFamily="34" charset="-120"/>
              </a:rPr>
              <a:t>50 · 0.0</a:t>
            </a:r>
            <a:endParaRPr lang="en-US" sz="2100" dirty="0"/>
          </a:p>
        </p:txBody>
      </p:sp>
      <p:sp>
        <p:nvSpPr>
          <p:cNvPr id="13" name="Shape 11"/>
          <p:cNvSpPr/>
          <p:nvPr/>
        </p:nvSpPr>
        <p:spPr>
          <a:xfrm>
            <a:off x="990600" y="4519613"/>
            <a:ext cx="4815260" cy="9525"/>
          </a:xfrm>
          <a:prstGeom prst="rect">
            <a:avLst/>
          </a:prstGeom>
          <a:solidFill>
            <a:srgbClr val="DCDCDC"/>
          </a:solidFill>
          <a:ln/>
        </p:spPr>
      </p:sp>
      <p:sp>
        <p:nvSpPr>
          <p:cNvPr id="14" name="Text 12"/>
          <p:cNvSpPr/>
          <p:nvPr/>
        </p:nvSpPr>
        <p:spPr>
          <a:xfrm>
            <a:off x="990600" y="3986213"/>
            <a:ext cx="4959717" cy="571500"/>
          </a:xfrm>
          <a:prstGeom prst="rect">
            <a:avLst/>
          </a:prstGeom>
          <a:noFill/>
          <a:ln/>
        </p:spPr>
        <p:txBody>
          <a:bodyPr wrap="square" lIns="25400" tIns="25400" rIns="25400" bIns="25400" rtlCol="0" anchor="t">
            <a:normAutofit/>
          </a:bodyPr>
          <a:lstStyle/>
          <a:p>
            <a:pPr marL="0" indent="0" algn="l">
              <a:lnSpc>
                <a:spcPct val="172308"/>
              </a:lnSpc>
              <a:buNone/>
            </a:pPr>
            <a:r>
              <a:rPr lang="en-US" sz="2100" dirty="0">
                <a:solidFill>
                  <a:srgbClr val="141414"/>
                </a:solidFill>
                <a:latin typeface="Arial" pitchFamily="34" charset="0"/>
                <a:ea typeface="Arial" pitchFamily="34" charset="-122"/>
                <a:cs typeface="Arial" pitchFamily="34" charset="-120"/>
              </a:rPr>
              <a:t>Optimizer, learning rate</a:t>
            </a:r>
            <a:endParaRPr lang="en-US" sz="2100" dirty="0"/>
          </a:p>
        </p:txBody>
      </p:sp>
      <p:sp>
        <p:nvSpPr>
          <p:cNvPr id="15" name="Shape 13"/>
          <p:cNvSpPr/>
          <p:nvPr/>
        </p:nvSpPr>
        <p:spPr>
          <a:xfrm>
            <a:off x="5805860" y="4519613"/>
            <a:ext cx="2880940" cy="9525"/>
          </a:xfrm>
          <a:prstGeom prst="rect">
            <a:avLst/>
          </a:prstGeom>
          <a:solidFill>
            <a:srgbClr val="DCDCDC"/>
          </a:solidFill>
          <a:ln/>
        </p:spPr>
      </p:sp>
      <p:sp>
        <p:nvSpPr>
          <p:cNvPr id="16" name="Text 14"/>
          <p:cNvSpPr/>
          <p:nvPr/>
        </p:nvSpPr>
        <p:spPr>
          <a:xfrm>
            <a:off x="5719431" y="3986213"/>
            <a:ext cx="2967369" cy="571500"/>
          </a:xfrm>
          <a:prstGeom prst="rect">
            <a:avLst/>
          </a:prstGeom>
          <a:noFill/>
          <a:ln/>
        </p:spPr>
        <p:txBody>
          <a:bodyPr wrap="square" lIns="25400" tIns="25400" rIns="25400" bIns="25400" rtlCol="0" anchor="t">
            <a:normAutofit/>
          </a:bodyPr>
          <a:lstStyle/>
          <a:p>
            <a:pPr marL="0" indent="0" algn="r">
              <a:lnSpc>
                <a:spcPct val="175000"/>
              </a:lnSpc>
              <a:buNone/>
            </a:pPr>
            <a:r>
              <a:rPr lang="en-US" sz="2100" dirty="0">
                <a:solidFill>
                  <a:srgbClr val="141414"/>
                </a:solidFill>
                <a:latin typeface="Courier New" pitchFamily="34" charset="0"/>
                <a:ea typeface="Courier New" pitchFamily="34" charset="-122"/>
                <a:cs typeface="Courier New" pitchFamily="34" charset="-120"/>
              </a:rPr>
              <a:t>AdamW · 2e-4</a:t>
            </a:r>
            <a:endParaRPr lang="en-US" sz="2100" dirty="0"/>
          </a:p>
        </p:txBody>
      </p:sp>
      <p:sp>
        <p:nvSpPr>
          <p:cNvPr id="17" name="Shape 15"/>
          <p:cNvSpPr/>
          <p:nvPr/>
        </p:nvSpPr>
        <p:spPr>
          <a:xfrm>
            <a:off x="990600" y="5062538"/>
            <a:ext cx="4815260" cy="9525"/>
          </a:xfrm>
          <a:prstGeom prst="rect">
            <a:avLst/>
          </a:prstGeom>
          <a:solidFill>
            <a:srgbClr val="DCDCDC"/>
          </a:solidFill>
          <a:ln/>
        </p:spPr>
      </p:sp>
      <p:sp>
        <p:nvSpPr>
          <p:cNvPr id="18" name="Text 16"/>
          <p:cNvSpPr/>
          <p:nvPr/>
        </p:nvSpPr>
        <p:spPr>
          <a:xfrm>
            <a:off x="990600" y="4529138"/>
            <a:ext cx="4959717" cy="571500"/>
          </a:xfrm>
          <a:prstGeom prst="rect">
            <a:avLst/>
          </a:prstGeom>
          <a:noFill/>
          <a:ln/>
        </p:spPr>
        <p:txBody>
          <a:bodyPr wrap="square" lIns="25400" tIns="25400" rIns="25400" bIns="25400" rtlCol="0" anchor="t">
            <a:normAutofit/>
          </a:bodyPr>
          <a:lstStyle/>
          <a:p>
            <a:pPr marL="0" indent="0" algn="l">
              <a:lnSpc>
                <a:spcPct val="172308"/>
              </a:lnSpc>
              <a:buNone/>
            </a:pPr>
            <a:r>
              <a:rPr lang="en-US" sz="2100" dirty="0">
                <a:solidFill>
                  <a:srgbClr val="141414"/>
                </a:solidFill>
                <a:latin typeface="Arial" pitchFamily="34" charset="0"/>
                <a:ea typeface="Arial" pitchFamily="34" charset="-122"/>
                <a:cs typeface="Arial" pitchFamily="34" charset="-120"/>
              </a:rPr>
              <a:t>Batch size, epochs</a:t>
            </a:r>
            <a:endParaRPr lang="en-US" sz="2100" dirty="0"/>
          </a:p>
        </p:txBody>
      </p:sp>
      <p:sp>
        <p:nvSpPr>
          <p:cNvPr id="19" name="Shape 17"/>
          <p:cNvSpPr/>
          <p:nvPr/>
        </p:nvSpPr>
        <p:spPr>
          <a:xfrm>
            <a:off x="5805860" y="5062538"/>
            <a:ext cx="2880940" cy="9525"/>
          </a:xfrm>
          <a:prstGeom prst="rect">
            <a:avLst/>
          </a:prstGeom>
          <a:solidFill>
            <a:srgbClr val="DCDCDC"/>
          </a:solidFill>
          <a:ln/>
        </p:spPr>
      </p:sp>
      <p:sp>
        <p:nvSpPr>
          <p:cNvPr id="20" name="Text 18"/>
          <p:cNvSpPr/>
          <p:nvPr/>
        </p:nvSpPr>
        <p:spPr>
          <a:xfrm>
            <a:off x="5719431" y="4529138"/>
            <a:ext cx="2967369" cy="571500"/>
          </a:xfrm>
          <a:prstGeom prst="rect">
            <a:avLst/>
          </a:prstGeom>
          <a:noFill/>
          <a:ln/>
        </p:spPr>
        <p:txBody>
          <a:bodyPr wrap="square" lIns="25400" tIns="25400" rIns="25400" bIns="25400" rtlCol="0" anchor="t">
            <a:normAutofit/>
          </a:bodyPr>
          <a:lstStyle/>
          <a:p>
            <a:pPr marL="0" indent="0" algn="r">
              <a:lnSpc>
                <a:spcPct val="175000"/>
              </a:lnSpc>
              <a:buNone/>
            </a:pPr>
            <a:r>
              <a:rPr lang="en-US" sz="2100" dirty="0">
                <a:solidFill>
                  <a:srgbClr val="141414"/>
                </a:solidFill>
                <a:latin typeface="Courier New" pitchFamily="34" charset="0"/>
                <a:ea typeface="Courier New" pitchFamily="34" charset="-122"/>
                <a:cs typeface="Courier New" pitchFamily="34" charset="-120"/>
              </a:rPr>
              <a:t>32 · 100</a:t>
            </a:r>
            <a:endParaRPr lang="en-US" sz="2100" dirty="0"/>
          </a:p>
        </p:txBody>
      </p:sp>
      <p:sp>
        <p:nvSpPr>
          <p:cNvPr id="21" name="Shape 19"/>
          <p:cNvSpPr/>
          <p:nvPr/>
        </p:nvSpPr>
        <p:spPr>
          <a:xfrm>
            <a:off x="990600" y="5605463"/>
            <a:ext cx="4815260" cy="9525"/>
          </a:xfrm>
          <a:prstGeom prst="rect">
            <a:avLst/>
          </a:prstGeom>
          <a:solidFill>
            <a:srgbClr val="DCDCDC"/>
          </a:solidFill>
          <a:ln/>
        </p:spPr>
      </p:sp>
      <p:sp>
        <p:nvSpPr>
          <p:cNvPr id="22" name="Text 20"/>
          <p:cNvSpPr/>
          <p:nvPr/>
        </p:nvSpPr>
        <p:spPr>
          <a:xfrm>
            <a:off x="990600" y="5072063"/>
            <a:ext cx="4959717" cy="571500"/>
          </a:xfrm>
          <a:prstGeom prst="rect">
            <a:avLst/>
          </a:prstGeom>
          <a:noFill/>
          <a:ln/>
        </p:spPr>
        <p:txBody>
          <a:bodyPr wrap="square" lIns="25400" tIns="25400" rIns="25400" bIns="25400" rtlCol="0" anchor="t">
            <a:normAutofit/>
          </a:bodyPr>
          <a:lstStyle/>
          <a:p>
            <a:pPr marL="0" indent="0" algn="l">
              <a:lnSpc>
                <a:spcPct val="172308"/>
              </a:lnSpc>
              <a:buNone/>
            </a:pPr>
            <a:r>
              <a:rPr lang="en-US" sz="2100" dirty="0">
                <a:solidFill>
                  <a:srgbClr val="141414"/>
                </a:solidFill>
                <a:latin typeface="Arial" pitchFamily="34" charset="0"/>
                <a:ea typeface="Arial" pitchFamily="34" charset="-122"/>
                <a:cs typeface="Arial" pitchFamily="34" charset="-120"/>
              </a:rPr>
              <a:t>Seed, mixed precision</a:t>
            </a:r>
            <a:endParaRPr lang="en-US" sz="2100" dirty="0"/>
          </a:p>
        </p:txBody>
      </p:sp>
      <p:sp>
        <p:nvSpPr>
          <p:cNvPr id="23" name="Shape 21"/>
          <p:cNvSpPr/>
          <p:nvPr/>
        </p:nvSpPr>
        <p:spPr>
          <a:xfrm>
            <a:off x="5805860" y="5605463"/>
            <a:ext cx="2880940" cy="9525"/>
          </a:xfrm>
          <a:prstGeom prst="rect">
            <a:avLst/>
          </a:prstGeom>
          <a:solidFill>
            <a:srgbClr val="DCDCDC"/>
          </a:solidFill>
          <a:ln/>
        </p:spPr>
      </p:sp>
      <p:sp>
        <p:nvSpPr>
          <p:cNvPr id="24" name="Text 22"/>
          <p:cNvSpPr/>
          <p:nvPr/>
        </p:nvSpPr>
        <p:spPr>
          <a:xfrm>
            <a:off x="5719431" y="5072063"/>
            <a:ext cx="2967369" cy="571500"/>
          </a:xfrm>
          <a:prstGeom prst="rect">
            <a:avLst/>
          </a:prstGeom>
          <a:noFill/>
          <a:ln/>
        </p:spPr>
        <p:txBody>
          <a:bodyPr wrap="square" lIns="25400" tIns="25400" rIns="25400" bIns="25400" rtlCol="0" anchor="t">
            <a:normAutofit/>
          </a:bodyPr>
          <a:lstStyle/>
          <a:p>
            <a:pPr marL="0" indent="0" algn="r">
              <a:lnSpc>
                <a:spcPct val="175000"/>
              </a:lnSpc>
              <a:buNone/>
            </a:pPr>
            <a:r>
              <a:rPr lang="en-US" sz="2100" dirty="0">
                <a:solidFill>
                  <a:srgbClr val="141414"/>
                </a:solidFill>
                <a:latin typeface="Courier New" pitchFamily="34" charset="0"/>
                <a:ea typeface="Courier New" pitchFamily="34" charset="-122"/>
                <a:cs typeface="Courier New" pitchFamily="34" charset="-120"/>
              </a:rPr>
              <a:t>42 · fp16 (CUDA)</a:t>
            </a:r>
            <a:endParaRPr lang="en-US" sz="2100" dirty="0"/>
          </a:p>
        </p:txBody>
      </p:sp>
      <p:sp>
        <p:nvSpPr>
          <p:cNvPr id="25" name="Text 23"/>
          <p:cNvSpPr/>
          <p:nvPr/>
        </p:nvSpPr>
        <p:spPr>
          <a:xfrm>
            <a:off x="990600" y="5614988"/>
            <a:ext cx="4959717" cy="571500"/>
          </a:xfrm>
          <a:prstGeom prst="rect">
            <a:avLst/>
          </a:prstGeom>
          <a:noFill/>
          <a:ln/>
        </p:spPr>
        <p:txBody>
          <a:bodyPr wrap="square" lIns="25400" tIns="25400" rIns="25400" bIns="25400" rtlCol="0" anchor="t">
            <a:normAutofit/>
          </a:bodyPr>
          <a:lstStyle/>
          <a:p>
            <a:pPr marL="0" indent="0" algn="l">
              <a:lnSpc>
                <a:spcPct val="172308"/>
              </a:lnSpc>
              <a:buNone/>
            </a:pPr>
            <a:r>
              <a:rPr lang="en-US" sz="2100" dirty="0">
                <a:solidFill>
                  <a:srgbClr val="141414"/>
                </a:solidFill>
                <a:latin typeface="Arial" pitchFamily="34" charset="0"/>
                <a:ea typeface="Arial" pitchFamily="34" charset="-122"/>
                <a:cs typeface="Arial" pitchFamily="34" charset="-120"/>
              </a:rPr>
              <a:t>Hardware</a:t>
            </a:r>
            <a:endParaRPr lang="en-US" sz="2100" dirty="0"/>
          </a:p>
        </p:txBody>
      </p:sp>
      <p:sp>
        <p:nvSpPr>
          <p:cNvPr id="26" name="Text 24"/>
          <p:cNvSpPr/>
          <p:nvPr/>
        </p:nvSpPr>
        <p:spPr>
          <a:xfrm>
            <a:off x="5719431" y="5614988"/>
            <a:ext cx="2967369" cy="571500"/>
          </a:xfrm>
          <a:prstGeom prst="rect">
            <a:avLst/>
          </a:prstGeom>
          <a:noFill/>
          <a:ln/>
        </p:spPr>
        <p:txBody>
          <a:bodyPr wrap="square" lIns="25400" tIns="25400" rIns="25400" bIns="25400" rtlCol="0" anchor="t">
            <a:normAutofit/>
          </a:bodyPr>
          <a:lstStyle/>
          <a:p>
            <a:pPr marL="0" indent="0" algn="r">
              <a:lnSpc>
                <a:spcPct val="175000"/>
              </a:lnSpc>
              <a:buNone/>
            </a:pPr>
            <a:r>
              <a:rPr lang="en-US" sz="2100" dirty="0">
                <a:solidFill>
                  <a:srgbClr val="141414"/>
                </a:solidFill>
                <a:latin typeface="Courier New" pitchFamily="34" charset="0"/>
                <a:ea typeface="Courier New" pitchFamily="34" charset="-122"/>
                <a:cs typeface="Courier New" pitchFamily="34" charset="-120"/>
              </a:rPr>
              <a:t>RTX 5070 Ti, 16 GB</a:t>
            </a:r>
            <a:endParaRPr lang="en-US" sz="2100" dirty="0"/>
          </a:p>
        </p:txBody>
      </p:sp>
      <p:sp>
        <p:nvSpPr>
          <p:cNvPr id="27" name="Text 25"/>
          <p:cNvSpPr/>
          <p:nvPr/>
        </p:nvSpPr>
        <p:spPr>
          <a:xfrm>
            <a:off x="990600" y="6357938"/>
            <a:ext cx="8466677" cy="1714500"/>
          </a:xfrm>
          <a:prstGeom prst="rect">
            <a:avLst/>
          </a:prstGeom>
          <a:noFill/>
          <a:ln/>
        </p:spPr>
        <p:txBody>
          <a:bodyPr wrap="square" lIns="25400" tIns="25400" rIns="25400" bIns="25400" rtlCol="0" anchor="t">
            <a:normAutofit/>
          </a:bodyPr>
          <a:lstStyle/>
          <a:p>
            <a:pPr marL="0" indent="0" algn="l">
              <a:lnSpc>
                <a:spcPct val="124923"/>
              </a:lnSpc>
              <a:buNone/>
            </a:pPr>
            <a:r>
              <a:rPr lang="en-US" sz="2100" dirty="0">
                <a:solidFill>
                  <a:srgbClr val="5A5A5A"/>
                </a:solidFill>
                <a:latin typeface="Arial" pitchFamily="34" charset="0"/>
                <a:ea typeface="Arial" pitchFamily="34" charset="-122"/>
                <a:cs typeface="Arial" pitchFamily="34" charset="-120"/>
              </a:rPr>
              <a:t>η = 0 removes the stochastic term from DDIM sampling: the reverse path becomes deterministic, so a fixed seed maps to a fixed image and the two models can be compared on the same noise.</a:t>
            </a:r>
            <a:endParaRPr lang="en-US" sz="2100" dirty="0"/>
          </a:p>
        </p:txBody>
      </p:sp>
      <p:sp>
        <p:nvSpPr>
          <p:cNvPr id="28" name="Text 26"/>
          <p:cNvSpPr/>
          <p:nvPr/>
        </p:nvSpPr>
        <p:spPr>
          <a:xfrm>
            <a:off x="9601200" y="2395538"/>
            <a:ext cx="8465820"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C84F00"/>
                </a:solidFill>
                <a:latin typeface="Courier New" pitchFamily="34" charset="0"/>
                <a:ea typeface="Courier New" pitchFamily="34" charset="-122"/>
                <a:cs typeface="Courier New" pitchFamily="34" charset="-120"/>
              </a:rPr>
              <a:t>THE SINGLE CONTROLLED VARIABLE</a:t>
            </a:r>
            <a:endParaRPr lang="en-US" sz="1800" dirty="0"/>
          </a:p>
        </p:txBody>
      </p:sp>
      <p:sp>
        <p:nvSpPr>
          <p:cNvPr id="29" name="Shape 27"/>
          <p:cNvSpPr/>
          <p:nvPr/>
        </p:nvSpPr>
        <p:spPr>
          <a:xfrm>
            <a:off x="9601200" y="3433763"/>
            <a:ext cx="2419722" cy="19050"/>
          </a:xfrm>
          <a:prstGeom prst="rect">
            <a:avLst/>
          </a:prstGeom>
          <a:solidFill>
            <a:srgbClr val="141414"/>
          </a:solidFill>
          <a:ln/>
        </p:spPr>
      </p:sp>
      <p:sp>
        <p:nvSpPr>
          <p:cNvPr id="30" name="Text 28"/>
          <p:cNvSpPr/>
          <p:nvPr/>
        </p:nvSpPr>
        <p:spPr>
          <a:xfrm>
            <a:off x="9601200" y="2900363"/>
            <a:ext cx="2153022" cy="571500"/>
          </a:xfrm>
          <a:prstGeom prst="rect">
            <a:avLst/>
          </a:prstGeom>
          <a:noFill/>
          <a:ln/>
        </p:spPr>
        <p:txBody>
          <a:bodyPr wrap="square" lIns="25400" tIns="25400" rIns="25400" bIns="25400" rtlCol="0" anchor="t">
            <a:normAutofit/>
          </a:bodyPr>
          <a:lstStyle/>
          <a:p>
            <a:pPr marL="0" indent="0" algn="l">
              <a:lnSpc>
                <a:spcPct val="172308"/>
              </a:lnSpc>
              <a:buNone/>
            </a:pPr>
            <a:r>
              <a:rPr lang="en-US" sz="2100" b="1" dirty="0">
                <a:solidFill>
                  <a:srgbClr val="141414"/>
                </a:solidFill>
                <a:latin typeface="Arial" pitchFamily="34" charset="0"/>
                <a:ea typeface="Arial" pitchFamily="34" charset="-122"/>
                <a:cs typeface="Arial" pitchFamily="34" charset="-120"/>
              </a:rPr>
              <a:t>Model</a:t>
            </a:r>
            <a:endParaRPr lang="en-US" sz="2100" dirty="0"/>
          </a:p>
        </p:txBody>
      </p:sp>
      <p:sp>
        <p:nvSpPr>
          <p:cNvPr id="31" name="Shape 29"/>
          <p:cNvSpPr/>
          <p:nvPr/>
        </p:nvSpPr>
        <p:spPr>
          <a:xfrm>
            <a:off x="12020922" y="3433763"/>
            <a:ext cx="4861396" cy="19050"/>
          </a:xfrm>
          <a:prstGeom prst="rect">
            <a:avLst/>
          </a:prstGeom>
          <a:solidFill>
            <a:srgbClr val="141414"/>
          </a:solidFill>
          <a:ln/>
        </p:spPr>
      </p:sp>
      <p:sp>
        <p:nvSpPr>
          <p:cNvPr id="32" name="Text 30"/>
          <p:cNvSpPr/>
          <p:nvPr/>
        </p:nvSpPr>
        <p:spPr>
          <a:xfrm>
            <a:off x="12020922" y="2900363"/>
            <a:ext cx="4664338" cy="571500"/>
          </a:xfrm>
          <a:prstGeom prst="rect">
            <a:avLst/>
          </a:prstGeom>
          <a:noFill/>
          <a:ln/>
        </p:spPr>
        <p:txBody>
          <a:bodyPr wrap="square" lIns="25400" tIns="25400" rIns="25400" bIns="25400" rtlCol="0" anchor="t">
            <a:normAutofit/>
          </a:bodyPr>
          <a:lstStyle/>
          <a:p>
            <a:pPr marL="0" indent="0" algn="l">
              <a:lnSpc>
                <a:spcPct val="172308"/>
              </a:lnSpc>
              <a:buNone/>
            </a:pPr>
            <a:r>
              <a:rPr lang="en-US" sz="2100" b="1" dirty="0">
                <a:solidFill>
                  <a:srgbClr val="141414"/>
                </a:solidFill>
                <a:latin typeface="Arial" pitchFamily="34" charset="0"/>
                <a:ea typeface="Arial" pitchFamily="34" charset="-122"/>
                <a:cs typeface="Arial" pitchFamily="34" charset="-120"/>
              </a:rPr>
              <a:t>Diffusion target</a:t>
            </a:r>
            <a:endParaRPr lang="en-US" sz="2100" dirty="0"/>
          </a:p>
        </p:txBody>
      </p:sp>
      <p:sp>
        <p:nvSpPr>
          <p:cNvPr id="33" name="Shape 31"/>
          <p:cNvSpPr/>
          <p:nvPr/>
        </p:nvSpPr>
        <p:spPr>
          <a:xfrm>
            <a:off x="16882318" y="3433763"/>
            <a:ext cx="415082" cy="19050"/>
          </a:xfrm>
          <a:prstGeom prst="rect">
            <a:avLst/>
          </a:prstGeom>
          <a:solidFill>
            <a:srgbClr val="141414"/>
          </a:solidFill>
          <a:ln/>
        </p:spPr>
      </p:sp>
      <p:sp>
        <p:nvSpPr>
          <p:cNvPr id="34" name="Text 32"/>
          <p:cNvSpPr/>
          <p:nvPr/>
        </p:nvSpPr>
        <p:spPr>
          <a:xfrm>
            <a:off x="16806118" y="2900363"/>
            <a:ext cx="491282" cy="571500"/>
          </a:xfrm>
          <a:prstGeom prst="rect">
            <a:avLst/>
          </a:prstGeom>
          <a:noFill/>
          <a:ln/>
        </p:spPr>
        <p:txBody>
          <a:bodyPr wrap="square" lIns="25400" tIns="25400" rIns="25400" bIns="25400" rtlCol="0" anchor="t">
            <a:normAutofit/>
          </a:bodyPr>
          <a:lstStyle/>
          <a:p>
            <a:pPr marL="0" indent="0" algn="r">
              <a:lnSpc>
                <a:spcPct val="172308"/>
              </a:lnSpc>
              <a:buNone/>
            </a:pPr>
            <a:r>
              <a:rPr lang="en-US" sz="2100" b="1" dirty="0">
                <a:solidFill>
                  <a:srgbClr val="141414"/>
                </a:solidFill>
                <a:latin typeface="Arial" pitchFamily="34" charset="0"/>
                <a:ea typeface="Arial" pitchFamily="34" charset="-122"/>
                <a:cs typeface="Arial" pitchFamily="34" charset="-120"/>
              </a:rPr>
              <a:t>Ch.</a:t>
            </a:r>
            <a:endParaRPr lang="en-US" sz="2100" dirty="0"/>
          </a:p>
        </p:txBody>
      </p:sp>
      <p:sp>
        <p:nvSpPr>
          <p:cNvPr id="35" name="Shape 33"/>
          <p:cNvSpPr/>
          <p:nvPr/>
        </p:nvSpPr>
        <p:spPr>
          <a:xfrm>
            <a:off x="9601200" y="3986213"/>
            <a:ext cx="2419722" cy="9525"/>
          </a:xfrm>
          <a:prstGeom prst="rect">
            <a:avLst/>
          </a:prstGeom>
          <a:solidFill>
            <a:srgbClr val="DCDCDC"/>
          </a:solidFill>
          <a:ln/>
        </p:spPr>
      </p:sp>
      <p:sp>
        <p:nvSpPr>
          <p:cNvPr id="36" name="Text 34"/>
          <p:cNvSpPr/>
          <p:nvPr/>
        </p:nvSpPr>
        <p:spPr>
          <a:xfrm>
            <a:off x="9601200" y="3452813"/>
            <a:ext cx="2153022" cy="571500"/>
          </a:xfrm>
          <a:prstGeom prst="rect">
            <a:avLst/>
          </a:prstGeom>
          <a:noFill/>
          <a:ln/>
        </p:spPr>
        <p:txBody>
          <a:bodyPr wrap="square" lIns="25400" tIns="25400" rIns="25400" bIns="25400" rtlCol="0" anchor="t">
            <a:normAutofit/>
          </a:bodyPr>
          <a:lstStyle/>
          <a:p>
            <a:pPr marL="0" indent="0" algn="l">
              <a:lnSpc>
                <a:spcPct val="172308"/>
              </a:lnSpc>
              <a:buNone/>
            </a:pPr>
            <a:r>
              <a:rPr lang="en-US" sz="2100" dirty="0">
                <a:solidFill>
                  <a:srgbClr val="141414"/>
                </a:solidFill>
                <a:latin typeface="Arial" pitchFamily="34" charset="0"/>
                <a:ea typeface="Arial" pitchFamily="34" charset="-122"/>
                <a:cs typeface="Arial" pitchFamily="34" charset="-120"/>
              </a:rPr>
              <a:t>RGB baseline</a:t>
            </a:r>
            <a:endParaRPr lang="en-US" sz="2100" dirty="0"/>
          </a:p>
        </p:txBody>
      </p:sp>
      <p:sp>
        <p:nvSpPr>
          <p:cNvPr id="37" name="Shape 35"/>
          <p:cNvSpPr/>
          <p:nvPr/>
        </p:nvSpPr>
        <p:spPr>
          <a:xfrm>
            <a:off x="12020922" y="3986213"/>
            <a:ext cx="4861396" cy="9525"/>
          </a:xfrm>
          <a:prstGeom prst="rect">
            <a:avLst/>
          </a:prstGeom>
          <a:solidFill>
            <a:srgbClr val="DCDCDC"/>
          </a:solidFill>
          <a:ln/>
        </p:spPr>
      </p:sp>
      <p:sp>
        <p:nvSpPr>
          <p:cNvPr id="38" name="Text 36"/>
          <p:cNvSpPr/>
          <p:nvPr/>
        </p:nvSpPr>
        <p:spPr>
          <a:xfrm>
            <a:off x="12020922" y="3452813"/>
            <a:ext cx="5007238" cy="571500"/>
          </a:xfrm>
          <a:prstGeom prst="rect">
            <a:avLst/>
          </a:prstGeom>
          <a:noFill/>
          <a:ln/>
        </p:spPr>
        <p:txBody>
          <a:bodyPr wrap="square" lIns="25400" tIns="25400" rIns="25400" bIns="25400" rtlCol="0" anchor="t">
            <a:normAutofit/>
          </a:bodyPr>
          <a:lstStyle/>
          <a:p>
            <a:pPr marL="0" indent="0" algn="l">
              <a:lnSpc>
                <a:spcPct val="172308"/>
              </a:lnSpc>
              <a:buNone/>
            </a:pPr>
            <a:r>
              <a:rPr lang="en-US" sz="2100" dirty="0">
                <a:solidFill>
                  <a:srgbClr val="141414"/>
                </a:solidFill>
                <a:latin typeface="Arial" pitchFamily="34" charset="0"/>
                <a:ea typeface="Arial" pitchFamily="34" charset="-122"/>
                <a:cs typeface="Arial" pitchFamily="34" charset="-120"/>
              </a:rPr>
              <a:t>pixels in [−1, 1]</a:t>
            </a:r>
            <a:endParaRPr lang="en-US" sz="2100" dirty="0"/>
          </a:p>
        </p:txBody>
      </p:sp>
      <p:sp>
        <p:nvSpPr>
          <p:cNvPr id="39" name="Shape 37"/>
          <p:cNvSpPr/>
          <p:nvPr/>
        </p:nvSpPr>
        <p:spPr>
          <a:xfrm>
            <a:off x="16882318" y="3986213"/>
            <a:ext cx="415082" cy="9525"/>
          </a:xfrm>
          <a:prstGeom prst="rect">
            <a:avLst/>
          </a:prstGeom>
          <a:solidFill>
            <a:srgbClr val="DCDCDC"/>
          </a:solidFill>
          <a:ln/>
        </p:spPr>
      </p:sp>
      <p:sp>
        <p:nvSpPr>
          <p:cNvPr id="40" name="Text 38"/>
          <p:cNvSpPr/>
          <p:nvPr/>
        </p:nvSpPr>
        <p:spPr>
          <a:xfrm>
            <a:off x="16806118" y="3452813"/>
            <a:ext cx="491282" cy="571500"/>
          </a:xfrm>
          <a:prstGeom prst="rect">
            <a:avLst/>
          </a:prstGeom>
          <a:noFill/>
          <a:ln/>
        </p:spPr>
        <p:txBody>
          <a:bodyPr wrap="square" lIns="25400" tIns="25400" rIns="25400" bIns="25400" rtlCol="0" anchor="t">
            <a:normAutofit/>
          </a:bodyPr>
          <a:lstStyle/>
          <a:p>
            <a:pPr marL="0" indent="0" algn="r">
              <a:lnSpc>
                <a:spcPct val="175000"/>
              </a:lnSpc>
              <a:buNone/>
            </a:pPr>
            <a:r>
              <a:rPr lang="en-US" sz="2100" dirty="0">
                <a:solidFill>
                  <a:srgbClr val="141414"/>
                </a:solidFill>
                <a:latin typeface="Courier New" pitchFamily="34" charset="0"/>
                <a:ea typeface="Courier New" pitchFamily="34" charset="-122"/>
                <a:cs typeface="Courier New" pitchFamily="34" charset="-120"/>
              </a:rPr>
              <a:t>3</a:t>
            </a:r>
            <a:endParaRPr lang="en-US" sz="2100" dirty="0"/>
          </a:p>
        </p:txBody>
      </p:sp>
      <p:sp>
        <p:nvSpPr>
          <p:cNvPr id="41" name="Text 39"/>
          <p:cNvSpPr/>
          <p:nvPr/>
        </p:nvSpPr>
        <p:spPr>
          <a:xfrm>
            <a:off x="9601200" y="3995738"/>
            <a:ext cx="2153022" cy="571500"/>
          </a:xfrm>
          <a:prstGeom prst="rect">
            <a:avLst/>
          </a:prstGeom>
          <a:noFill/>
          <a:ln/>
        </p:spPr>
        <p:txBody>
          <a:bodyPr wrap="square" lIns="25400" tIns="25400" rIns="25400" bIns="25400" rtlCol="0" anchor="t">
            <a:normAutofit/>
          </a:bodyPr>
          <a:lstStyle/>
          <a:p>
            <a:pPr marL="0" indent="0" algn="l">
              <a:lnSpc>
                <a:spcPct val="172308"/>
              </a:lnSpc>
              <a:buNone/>
            </a:pPr>
            <a:r>
              <a:rPr lang="en-US" sz="2100" dirty="0">
                <a:solidFill>
                  <a:srgbClr val="141414"/>
                </a:solidFill>
                <a:latin typeface="Arial" pitchFamily="34" charset="0"/>
                <a:ea typeface="Arial" pitchFamily="34" charset="-122"/>
                <a:cs typeface="Arial" pitchFamily="34" charset="-120"/>
              </a:rPr>
              <a:t>Frequency model</a:t>
            </a:r>
            <a:endParaRPr lang="en-US" sz="2100" dirty="0"/>
          </a:p>
        </p:txBody>
      </p:sp>
      <p:sp>
        <p:nvSpPr>
          <p:cNvPr id="42" name="Text 40"/>
          <p:cNvSpPr/>
          <p:nvPr/>
        </p:nvSpPr>
        <p:spPr>
          <a:xfrm>
            <a:off x="12020922" y="3995738"/>
            <a:ext cx="5007238" cy="571500"/>
          </a:xfrm>
          <a:prstGeom prst="rect">
            <a:avLst/>
          </a:prstGeom>
          <a:noFill/>
          <a:ln/>
        </p:spPr>
        <p:txBody>
          <a:bodyPr wrap="square" lIns="25400" tIns="25400" rIns="25400" bIns="25400" rtlCol="0" anchor="t">
            <a:normAutofit/>
          </a:bodyPr>
          <a:lstStyle/>
          <a:p>
            <a:pPr marL="0" indent="0" algn="l">
              <a:lnSpc>
                <a:spcPct val="172308"/>
              </a:lnSpc>
              <a:buNone/>
            </a:pPr>
            <a:r>
              <a:rPr lang="en-US" sz="2100" dirty="0">
                <a:solidFill>
                  <a:srgbClr val="141414"/>
                </a:solidFill>
                <a:latin typeface="Arial" pitchFamily="34" charset="0"/>
                <a:ea typeface="Arial" pitchFamily="34" charset="-122"/>
                <a:cs typeface="Arial" pitchFamily="34" charset="-120"/>
              </a:rPr>
              <a:t>normalized FFT spectrum</a:t>
            </a:r>
            <a:endParaRPr lang="en-US" sz="2100" dirty="0"/>
          </a:p>
        </p:txBody>
      </p:sp>
      <p:sp>
        <p:nvSpPr>
          <p:cNvPr id="43" name="Text 41"/>
          <p:cNvSpPr/>
          <p:nvPr/>
        </p:nvSpPr>
        <p:spPr>
          <a:xfrm>
            <a:off x="16806118" y="3995738"/>
            <a:ext cx="491282" cy="571500"/>
          </a:xfrm>
          <a:prstGeom prst="rect">
            <a:avLst/>
          </a:prstGeom>
          <a:noFill/>
          <a:ln/>
        </p:spPr>
        <p:txBody>
          <a:bodyPr wrap="square" lIns="25400" tIns="25400" rIns="25400" bIns="25400" rtlCol="0" anchor="t">
            <a:normAutofit/>
          </a:bodyPr>
          <a:lstStyle/>
          <a:p>
            <a:pPr marL="0" indent="0" algn="r">
              <a:lnSpc>
                <a:spcPct val="175000"/>
              </a:lnSpc>
              <a:buNone/>
            </a:pPr>
            <a:r>
              <a:rPr lang="en-US" sz="2100" dirty="0">
                <a:solidFill>
                  <a:srgbClr val="141414"/>
                </a:solidFill>
                <a:latin typeface="Courier New" pitchFamily="34" charset="0"/>
                <a:ea typeface="Courier New" pitchFamily="34" charset="-122"/>
                <a:cs typeface="Courier New" pitchFamily="34" charset="-120"/>
              </a:rPr>
              <a:t>6</a:t>
            </a:r>
            <a:endParaRPr lang="en-US" sz="2100" dirty="0"/>
          </a:p>
        </p:txBody>
      </p:sp>
      <p:sp>
        <p:nvSpPr>
          <p:cNvPr id="44" name="Text 42"/>
          <p:cNvSpPr/>
          <p:nvPr/>
        </p:nvSpPr>
        <p:spPr>
          <a:xfrm>
            <a:off x="9601200" y="4738688"/>
            <a:ext cx="7927086" cy="1198066"/>
          </a:xfrm>
          <a:prstGeom prst="rect">
            <a:avLst/>
          </a:prstGeom>
          <a:noFill/>
          <a:ln/>
        </p:spPr>
        <p:txBody>
          <a:bodyPr wrap="square" lIns="25400" tIns="25400" rIns="25400" bIns="25400" rtlCol="0" anchor="t">
            <a:normAutofit lnSpcReduction="10000"/>
          </a:bodyPr>
          <a:lstStyle/>
          <a:p>
            <a:pPr marL="0" indent="0" algn="l">
              <a:lnSpc>
                <a:spcPct val="124923"/>
              </a:lnSpc>
              <a:buNone/>
            </a:pPr>
            <a:r>
              <a:rPr lang="en-US" sz="2100" dirty="0">
                <a:solidFill>
                  <a:srgbClr val="5A5A5A"/>
                </a:solidFill>
                <a:latin typeface="Arial" pitchFamily="34" charset="0"/>
                <a:ea typeface="Arial" pitchFamily="34" charset="-122"/>
                <a:cs typeface="Arial" pitchFamily="34" charset="-120"/>
              </a:rPr>
              <a:t>The extra channels cost ≈3% per step — confined to the first and last convolution — so ≈4.3 min per epoch and ≈7.2 h per model, ≈15 h in total.</a:t>
            </a:r>
            <a:endParaRPr lang="en-US" sz="2100" dirty="0"/>
          </a:p>
        </p:txBody>
      </p:sp>
      <p:sp>
        <p:nvSpPr>
          <p:cNvPr id="45" name="Text 43"/>
          <p:cNvSpPr/>
          <p:nvPr/>
        </p:nvSpPr>
        <p:spPr>
          <a:xfrm>
            <a:off x="16474380" y="9610725"/>
            <a:ext cx="89922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9 / 15</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Loss Function</a:t>
            </a:r>
            <a:endParaRPr lang="en-US" sz="4800" dirty="0"/>
          </a:p>
        </p:txBody>
      </p:sp>
      <p:sp>
        <p:nvSpPr>
          <p:cNvPr id="3" name="Shape 1"/>
          <p:cNvSpPr/>
          <p:nvPr/>
        </p:nvSpPr>
        <p:spPr>
          <a:xfrm>
            <a:off x="990600" y="1881187"/>
            <a:ext cx="16306800" cy="19050"/>
          </a:xfrm>
          <a:prstGeom prst="rect">
            <a:avLst/>
          </a:prstGeom>
          <a:solidFill>
            <a:srgbClr val="DCDCDC"/>
          </a:solidFill>
          <a:ln/>
        </p:spPr>
      </p:sp>
      <p:sp>
        <p:nvSpPr>
          <p:cNvPr id="4" name="Shape 2"/>
          <p:cNvSpPr/>
          <p:nvPr/>
        </p:nvSpPr>
        <p:spPr>
          <a:xfrm>
            <a:off x="990600" y="2281238"/>
            <a:ext cx="1847850" cy="1847850"/>
          </a:xfrm>
          <a:prstGeom prst="rect">
            <a:avLst/>
          </a:prstGeom>
          <a:ln w="19050">
            <a:solidFill>
              <a:srgbClr val="141414"/>
            </a:solidFill>
            <a:prstDash val="solid"/>
          </a:ln>
        </p:spPr>
      </p:sp>
      <p:pic>
        <p:nvPicPr>
          <p:cNvPr id="5" name="Image 0" descr="preencoded.png"/>
          <p:cNvPicPr>
            <a:picLocks noChangeAspect="1"/>
          </p:cNvPicPr>
          <p:nvPr/>
        </p:nvPicPr>
        <p:blipFill>
          <a:blip r:embed="rId3"/>
          <a:stretch>
            <a:fillRect/>
          </a:stretch>
        </p:blipFill>
        <p:spPr>
          <a:xfrm>
            <a:off x="990600" y="2281238"/>
            <a:ext cx="1847850" cy="1847850"/>
          </a:xfrm>
          <a:prstGeom prst="rect">
            <a:avLst/>
          </a:prstGeom>
        </p:spPr>
      </p:pic>
      <p:sp>
        <p:nvSpPr>
          <p:cNvPr id="6" name="Text 3"/>
          <p:cNvSpPr/>
          <p:nvPr/>
        </p:nvSpPr>
        <p:spPr>
          <a:xfrm>
            <a:off x="1571625" y="4243388"/>
            <a:ext cx="7620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t = 0</a:t>
            </a:r>
            <a:endParaRPr lang="en-US" sz="1800" dirty="0"/>
          </a:p>
        </p:txBody>
      </p:sp>
      <p:sp>
        <p:nvSpPr>
          <p:cNvPr id="7" name="Shape 4"/>
          <p:cNvSpPr/>
          <p:nvPr/>
        </p:nvSpPr>
        <p:spPr>
          <a:xfrm>
            <a:off x="3154710" y="2281238"/>
            <a:ext cx="1847850" cy="1847850"/>
          </a:xfrm>
          <a:prstGeom prst="rect">
            <a:avLst/>
          </a:prstGeom>
          <a:ln w="19050">
            <a:solidFill>
              <a:srgbClr val="141414"/>
            </a:solidFill>
            <a:prstDash val="solid"/>
          </a:ln>
        </p:spPr>
      </p:sp>
      <p:pic>
        <p:nvPicPr>
          <p:cNvPr id="8" name="Image 1" descr="preencoded.png"/>
          <p:cNvPicPr>
            <a:picLocks noChangeAspect="1"/>
          </p:cNvPicPr>
          <p:nvPr/>
        </p:nvPicPr>
        <p:blipFill>
          <a:blip r:embed="rId4"/>
          <a:stretch>
            <a:fillRect/>
          </a:stretch>
        </p:blipFill>
        <p:spPr>
          <a:xfrm>
            <a:off x="3154710" y="2281238"/>
            <a:ext cx="1847850" cy="1847850"/>
          </a:xfrm>
          <a:prstGeom prst="rect">
            <a:avLst/>
          </a:prstGeom>
        </p:spPr>
      </p:pic>
      <p:sp>
        <p:nvSpPr>
          <p:cNvPr id="9" name="Text 5"/>
          <p:cNvSpPr/>
          <p:nvPr/>
        </p:nvSpPr>
        <p:spPr>
          <a:xfrm>
            <a:off x="3598515" y="4243388"/>
            <a:ext cx="10363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t = 200</a:t>
            </a:r>
            <a:endParaRPr lang="en-US" sz="1800" dirty="0"/>
          </a:p>
        </p:txBody>
      </p:sp>
      <p:sp>
        <p:nvSpPr>
          <p:cNvPr id="10" name="Shape 6"/>
          <p:cNvSpPr/>
          <p:nvPr/>
        </p:nvSpPr>
        <p:spPr>
          <a:xfrm>
            <a:off x="5318745" y="2281238"/>
            <a:ext cx="1847850" cy="1847850"/>
          </a:xfrm>
          <a:prstGeom prst="rect">
            <a:avLst/>
          </a:prstGeom>
          <a:ln w="19050">
            <a:solidFill>
              <a:srgbClr val="141414"/>
            </a:solidFill>
            <a:prstDash val="solid"/>
          </a:ln>
        </p:spPr>
      </p:sp>
      <p:pic>
        <p:nvPicPr>
          <p:cNvPr id="11" name="Image 2" descr="preencoded.png"/>
          <p:cNvPicPr>
            <a:picLocks noChangeAspect="1"/>
          </p:cNvPicPr>
          <p:nvPr/>
        </p:nvPicPr>
        <p:blipFill>
          <a:blip r:embed="rId5"/>
          <a:stretch>
            <a:fillRect/>
          </a:stretch>
        </p:blipFill>
        <p:spPr>
          <a:xfrm>
            <a:off x="5318745" y="2281238"/>
            <a:ext cx="1847850" cy="1847850"/>
          </a:xfrm>
          <a:prstGeom prst="rect">
            <a:avLst/>
          </a:prstGeom>
        </p:spPr>
      </p:pic>
      <p:sp>
        <p:nvSpPr>
          <p:cNvPr id="12" name="Text 7"/>
          <p:cNvSpPr/>
          <p:nvPr/>
        </p:nvSpPr>
        <p:spPr>
          <a:xfrm>
            <a:off x="5762551" y="4243388"/>
            <a:ext cx="10363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t = 500</a:t>
            </a:r>
            <a:endParaRPr lang="en-US" sz="1800" dirty="0"/>
          </a:p>
        </p:txBody>
      </p:sp>
      <p:sp>
        <p:nvSpPr>
          <p:cNvPr id="13" name="Shape 8"/>
          <p:cNvSpPr/>
          <p:nvPr/>
        </p:nvSpPr>
        <p:spPr>
          <a:xfrm>
            <a:off x="7482855" y="2281238"/>
            <a:ext cx="1847850" cy="1847850"/>
          </a:xfrm>
          <a:prstGeom prst="rect">
            <a:avLst/>
          </a:prstGeom>
          <a:ln w="19050">
            <a:solidFill>
              <a:srgbClr val="141414"/>
            </a:solidFill>
            <a:prstDash val="solid"/>
          </a:ln>
        </p:spPr>
      </p:sp>
      <p:pic>
        <p:nvPicPr>
          <p:cNvPr id="14" name="Image 3" descr="preencoded.png"/>
          <p:cNvPicPr>
            <a:picLocks noChangeAspect="1"/>
          </p:cNvPicPr>
          <p:nvPr/>
        </p:nvPicPr>
        <p:blipFill>
          <a:blip r:embed="rId6"/>
          <a:stretch>
            <a:fillRect/>
          </a:stretch>
        </p:blipFill>
        <p:spPr>
          <a:xfrm>
            <a:off x="7482855" y="2281238"/>
            <a:ext cx="1847850" cy="1847850"/>
          </a:xfrm>
          <a:prstGeom prst="rect">
            <a:avLst/>
          </a:prstGeom>
        </p:spPr>
      </p:pic>
      <p:sp>
        <p:nvSpPr>
          <p:cNvPr id="15" name="Text 9"/>
          <p:cNvSpPr/>
          <p:nvPr/>
        </p:nvSpPr>
        <p:spPr>
          <a:xfrm>
            <a:off x="7926660" y="4243388"/>
            <a:ext cx="10363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t = 800</a:t>
            </a:r>
            <a:endParaRPr lang="en-US" sz="1800" dirty="0"/>
          </a:p>
        </p:txBody>
      </p:sp>
      <p:sp>
        <p:nvSpPr>
          <p:cNvPr id="16" name="Shape 10"/>
          <p:cNvSpPr/>
          <p:nvPr/>
        </p:nvSpPr>
        <p:spPr>
          <a:xfrm>
            <a:off x="9646890" y="2281238"/>
            <a:ext cx="1847850" cy="1847850"/>
          </a:xfrm>
          <a:prstGeom prst="rect">
            <a:avLst/>
          </a:prstGeom>
          <a:ln w="19050">
            <a:solidFill>
              <a:srgbClr val="141414"/>
            </a:solidFill>
            <a:prstDash val="solid"/>
          </a:ln>
        </p:spPr>
      </p:sp>
      <p:pic>
        <p:nvPicPr>
          <p:cNvPr id="17" name="Image 4" descr="preencoded.png"/>
          <p:cNvPicPr>
            <a:picLocks noChangeAspect="1"/>
          </p:cNvPicPr>
          <p:nvPr/>
        </p:nvPicPr>
        <p:blipFill>
          <a:blip r:embed="rId7"/>
          <a:stretch>
            <a:fillRect/>
          </a:stretch>
        </p:blipFill>
        <p:spPr>
          <a:xfrm>
            <a:off x="9646890" y="2281238"/>
            <a:ext cx="1847850" cy="1847850"/>
          </a:xfrm>
          <a:prstGeom prst="rect">
            <a:avLst/>
          </a:prstGeom>
        </p:spPr>
      </p:pic>
      <p:sp>
        <p:nvSpPr>
          <p:cNvPr id="18" name="Text 11"/>
          <p:cNvSpPr/>
          <p:nvPr/>
        </p:nvSpPr>
        <p:spPr>
          <a:xfrm>
            <a:off x="10090696" y="4243388"/>
            <a:ext cx="10363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t = 999</a:t>
            </a:r>
            <a:endParaRPr lang="en-US" sz="1800" dirty="0"/>
          </a:p>
        </p:txBody>
      </p:sp>
      <p:sp>
        <p:nvSpPr>
          <p:cNvPr id="19" name="Text 12"/>
          <p:cNvSpPr/>
          <p:nvPr/>
        </p:nvSpPr>
        <p:spPr>
          <a:xfrm>
            <a:off x="11963400" y="2281238"/>
            <a:ext cx="5867400"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0052B4"/>
                </a:solidFill>
                <a:latin typeface="Courier New" pitchFamily="34" charset="0"/>
                <a:ea typeface="Courier New" pitchFamily="34" charset="-122"/>
                <a:cs typeface="Courier New" pitchFamily="34" charset="-120"/>
              </a:rPr>
              <a:t>FORWARD PROCESS</a:t>
            </a:r>
            <a:endParaRPr lang="en-US" sz="1800" dirty="0"/>
          </a:p>
        </p:txBody>
      </p:sp>
      <p:sp>
        <p:nvSpPr>
          <p:cNvPr id="20" name="Shape 13"/>
          <p:cNvSpPr/>
          <p:nvPr/>
        </p:nvSpPr>
        <p:spPr>
          <a:xfrm>
            <a:off x="11963400" y="2728913"/>
            <a:ext cx="5334000" cy="1447428"/>
          </a:xfrm>
          <a:prstGeom prst="rect">
            <a:avLst/>
          </a:prstGeom>
          <a:solidFill>
            <a:srgbClr val="F5F5F3"/>
          </a:solidFill>
          <a:ln/>
        </p:spPr>
      </p:sp>
      <p:pic>
        <p:nvPicPr>
          <p:cNvPr id="21" name="Image 5" descr="preencoded.png"/>
          <p:cNvPicPr>
            <a:picLocks noChangeAspect="1"/>
          </p:cNvPicPr>
          <p:nvPr/>
        </p:nvPicPr>
        <p:blipFill>
          <a:blip r:embed="rId8"/>
          <a:stretch>
            <a:fillRect/>
          </a:stretch>
        </p:blipFill>
        <p:spPr>
          <a:xfrm>
            <a:off x="12211050" y="3224213"/>
            <a:ext cx="4838700" cy="456828"/>
          </a:xfrm>
          <a:prstGeom prst="rect">
            <a:avLst/>
          </a:prstGeom>
        </p:spPr>
      </p:pic>
      <p:sp>
        <p:nvSpPr>
          <p:cNvPr id="22" name="Text 14"/>
          <p:cNvSpPr/>
          <p:nvPr/>
        </p:nvSpPr>
        <p:spPr>
          <a:xfrm>
            <a:off x="11963400" y="4328740"/>
            <a:ext cx="5494020" cy="678061"/>
          </a:xfrm>
          <a:prstGeom prst="rect">
            <a:avLst/>
          </a:prstGeom>
          <a:noFill/>
          <a:ln/>
        </p:spPr>
        <p:txBody>
          <a:bodyPr wrap="square" lIns="25400" tIns="25400" rIns="25400" bIns="25400" rtlCol="0" anchor="t">
            <a:normAutofit lnSpcReduction="10000"/>
          </a:bodyPr>
          <a:lstStyle/>
          <a:p>
            <a:pPr marL="0" indent="0" algn="l">
              <a:lnSpc>
                <a:spcPct val="122182"/>
              </a:lnSpc>
              <a:buNone/>
            </a:pPr>
            <a:r>
              <a:rPr lang="en-US" sz="1800" dirty="0">
                <a:solidFill>
                  <a:srgbClr val="5A5A5A"/>
                </a:solidFill>
                <a:latin typeface="Arial" pitchFamily="34" charset="0"/>
                <a:ea typeface="Arial" pitchFamily="34" charset="-122"/>
                <a:cs typeface="Arial" pitchFamily="34" charset="-120"/>
              </a:rPr>
              <a:t>Closed form: any timestep is reachable in one step, so training samples t uniformly in [0, 1000).</a:t>
            </a:r>
            <a:endParaRPr lang="en-US" sz="1800" dirty="0"/>
          </a:p>
        </p:txBody>
      </p:sp>
      <p:sp>
        <p:nvSpPr>
          <p:cNvPr id="23" name="Text 15"/>
          <p:cNvSpPr/>
          <p:nvPr/>
        </p:nvSpPr>
        <p:spPr>
          <a:xfrm>
            <a:off x="990600" y="5848350"/>
            <a:ext cx="7953077"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C84F00"/>
                </a:solidFill>
                <a:latin typeface="Courier New" pitchFamily="34" charset="0"/>
                <a:ea typeface="Courier New" pitchFamily="34" charset="-122"/>
                <a:cs typeface="Courier New" pitchFamily="34" charset="-120"/>
              </a:rPr>
              <a:t>OBJECTIVE</a:t>
            </a:r>
            <a:endParaRPr lang="en-US" sz="1800" dirty="0"/>
          </a:p>
        </p:txBody>
      </p:sp>
      <p:sp>
        <p:nvSpPr>
          <p:cNvPr id="24" name="Shape 16"/>
          <p:cNvSpPr/>
          <p:nvPr/>
        </p:nvSpPr>
        <p:spPr>
          <a:xfrm>
            <a:off x="990600" y="6315075"/>
            <a:ext cx="7230070" cy="1471240"/>
          </a:xfrm>
          <a:prstGeom prst="rect">
            <a:avLst/>
          </a:prstGeom>
          <a:solidFill>
            <a:srgbClr val="F5F5F3"/>
          </a:solidFill>
          <a:ln/>
        </p:spPr>
      </p:sp>
      <p:pic>
        <p:nvPicPr>
          <p:cNvPr id="25" name="Image 6" descr="preencoded.png"/>
          <p:cNvPicPr>
            <a:picLocks noChangeAspect="1"/>
          </p:cNvPicPr>
          <p:nvPr/>
        </p:nvPicPr>
        <p:blipFill>
          <a:blip r:embed="rId9"/>
          <a:stretch>
            <a:fillRect/>
          </a:stretch>
        </p:blipFill>
        <p:spPr>
          <a:xfrm>
            <a:off x="1238250" y="6810375"/>
            <a:ext cx="6734770" cy="480640"/>
          </a:xfrm>
          <a:prstGeom prst="rect">
            <a:avLst/>
          </a:prstGeom>
        </p:spPr>
      </p:pic>
      <p:sp>
        <p:nvSpPr>
          <p:cNvPr id="26" name="Text 17"/>
          <p:cNvSpPr/>
          <p:nvPr/>
        </p:nvSpPr>
        <p:spPr>
          <a:xfrm>
            <a:off x="990600" y="7957765"/>
            <a:ext cx="7446972" cy="1032421"/>
          </a:xfrm>
          <a:prstGeom prst="rect">
            <a:avLst/>
          </a:prstGeom>
          <a:noFill/>
          <a:ln/>
        </p:spPr>
        <p:txBody>
          <a:bodyPr wrap="square" lIns="25400" tIns="25400" rIns="25400" bIns="25400" rtlCol="0" anchor="t">
            <a:normAutofit lnSpcReduction="10000"/>
          </a:bodyPr>
          <a:lstStyle/>
          <a:p>
            <a:pPr marL="0" indent="0" algn="l">
              <a:lnSpc>
                <a:spcPct val="126545"/>
              </a:lnSpc>
              <a:buNone/>
            </a:pPr>
            <a:r>
              <a:rPr lang="en-US" sz="1800" dirty="0">
                <a:solidFill>
                  <a:srgbClr val="141414"/>
                </a:solidFill>
                <a:latin typeface="Arial" pitchFamily="34" charset="0"/>
                <a:ea typeface="Arial" pitchFamily="34" charset="-122"/>
                <a:cs typeface="Arial" pitchFamily="34" charset="-120"/>
              </a:rPr>
              <a:t>Simple MSE between the injected noise and the noise predicted by the UNet — the ε-prediction form of the DDPM variational bound (Ho et al., 2020).</a:t>
            </a:r>
            <a:endParaRPr lang="en-US" sz="1800" dirty="0"/>
          </a:p>
        </p:txBody>
      </p:sp>
      <p:sp>
        <p:nvSpPr>
          <p:cNvPr id="27" name="Text 18"/>
          <p:cNvSpPr/>
          <p:nvPr/>
        </p:nvSpPr>
        <p:spPr>
          <a:xfrm>
            <a:off x="8982670" y="5848350"/>
            <a:ext cx="9125903"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C84F00"/>
                </a:solidFill>
                <a:latin typeface="Courier New" pitchFamily="34" charset="0"/>
                <a:ea typeface="Courier New" pitchFamily="34" charset="-122"/>
                <a:cs typeface="Courier New" pitchFamily="34" charset="-120"/>
              </a:rPr>
              <a:t>TWO CONSEQUENCES FOR THIS COMPARISON</a:t>
            </a:r>
            <a:endParaRPr lang="en-US" sz="1800" dirty="0"/>
          </a:p>
        </p:txBody>
      </p:sp>
      <p:sp>
        <p:nvSpPr>
          <p:cNvPr id="28" name="Text 19"/>
          <p:cNvSpPr/>
          <p:nvPr/>
        </p:nvSpPr>
        <p:spPr>
          <a:xfrm>
            <a:off x="8982670" y="6315075"/>
            <a:ext cx="8545163" cy="1032421"/>
          </a:xfrm>
          <a:prstGeom prst="rect">
            <a:avLst/>
          </a:prstGeom>
          <a:noFill/>
          <a:ln/>
        </p:spPr>
        <p:txBody>
          <a:bodyPr wrap="square" lIns="25400" tIns="25400" rIns="25400" bIns="25400" rtlCol="0" anchor="t">
            <a:normAutofit lnSpcReduction="10000"/>
          </a:bodyPr>
          <a:lstStyle/>
          <a:p>
            <a:pPr marL="0" indent="0" algn="l">
              <a:lnSpc>
                <a:spcPct val="126545"/>
              </a:lnSpc>
              <a:buNone/>
            </a:pPr>
            <a:r>
              <a:rPr lang="en-US" sz="1800" dirty="0">
                <a:solidFill>
                  <a:srgbClr val="141414"/>
                </a:solidFill>
                <a:latin typeface="Arial" pitchFamily="34" charset="0"/>
                <a:ea typeface="Arial" pitchFamily="34" charset="-122"/>
                <a:cs typeface="Arial" pitchFamily="34" charset="-120"/>
              </a:rPr>
              <a:t>The regression target is unit Gaussian noise in both domains, so the two loss curves are numerically comparable even though x_0 is a pixel tensor in one case and a normalized spectrum in the other.</a:t>
            </a:r>
            <a:endParaRPr lang="en-US" sz="1800" dirty="0"/>
          </a:p>
        </p:txBody>
      </p:sp>
      <p:sp>
        <p:nvSpPr>
          <p:cNvPr id="29" name="Text 20"/>
          <p:cNvSpPr/>
          <p:nvPr/>
        </p:nvSpPr>
        <p:spPr>
          <a:xfrm>
            <a:off x="8982670" y="7480846"/>
            <a:ext cx="8545163" cy="1032421"/>
          </a:xfrm>
          <a:prstGeom prst="rect">
            <a:avLst/>
          </a:prstGeom>
          <a:noFill/>
          <a:ln/>
        </p:spPr>
        <p:txBody>
          <a:bodyPr wrap="square" lIns="25400" tIns="25400" rIns="25400" bIns="25400" rtlCol="0" anchor="t">
            <a:normAutofit lnSpcReduction="10000"/>
          </a:bodyPr>
          <a:lstStyle/>
          <a:p>
            <a:pPr marL="0" indent="0" algn="l">
              <a:lnSpc>
                <a:spcPct val="126545"/>
              </a:lnSpc>
              <a:buNone/>
            </a:pPr>
            <a:r>
              <a:rPr lang="en-US" sz="1800" dirty="0">
                <a:solidFill>
                  <a:srgbClr val="141414"/>
                </a:solidFill>
                <a:latin typeface="Arial" pitchFamily="34" charset="0"/>
                <a:ea typeface="Arial" pitchFamily="34" charset="-122"/>
                <a:cs typeface="Arial" pitchFamily="34" charset="-120"/>
              </a:rPr>
              <a:t>But the loss is measured in the compressed, standardized spectral space. Denormalization applies an exponential, so a small spectral residual is amplified when it returns to pixels — equal loss does not mean equal image error.</a:t>
            </a:r>
            <a:endParaRPr lang="en-US" sz="1800" dirty="0"/>
          </a:p>
        </p:txBody>
      </p:sp>
      <p:sp>
        <p:nvSpPr>
          <p:cNvPr id="30" name="Text 21"/>
          <p:cNvSpPr/>
          <p:nvPr/>
        </p:nvSpPr>
        <p:spPr>
          <a:xfrm>
            <a:off x="16337235" y="9610725"/>
            <a:ext cx="10363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10 / 15</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Model Evaluation — Generated Samples</a:t>
            </a:r>
            <a:endParaRPr lang="en-US" sz="4800" dirty="0"/>
          </a:p>
        </p:txBody>
      </p:sp>
      <p:sp>
        <p:nvSpPr>
          <p:cNvPr id="3" name="Shape 1"/>
          <p:cNvSpPr/>
          <p:nvPr/>
        </p:nvSpPr>
        <p:spPr>
          <a:xfrm>
            <a:off x="990600" y="1881187"/>
            <a:ext cx="16306800" cy="19050"/>
          </a:xfrm>
          <a:prstGeom prst="rect">
            <a:avLst/>
          </a:prstGeom>
          <a:solidFill>
            <a:srgbClr val="DCDCDC"/>
          </a:solidFill>
          <a:ln/>
        </p:spPr>
      </p:sp>
      <p:sp>
        <p:nvSpPr>
          <p:cNvPr id="4" name="Text 2"/>
          <p:cNvSpPr/>
          <p:nvPr/>
        </p:nvSpPr>
        <p:spPr>
          <a:xfrm>
            <a:off x="990600" y="3326383"/>
            <a:ext cx="3143250" cy="409575"/>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141414"/>
                </a:solidFill>
                <a:latin typeface="Arial" pitchFamily="34" charset="0"/>
                <a:ea typeface="Arial" pitchFamily="34" charset="-122"/>
                <a:cs typeface="Arial" pitchFamily="34" charset="-120"/>
              </a:rPr>
              <a:t>Real images</a:t>
            </a:r>
            <a:endParaRPr lang="en-US" sz="2550" dirty="0"/>
          </a:p>
        </p:txBody>
      </p:sp>
      <p:sp>
        <p:nvSpPr>
          <p:cNvPr id="5" name="Text 3"/>
          <p:cNvSpPr/>
          <p:nvPr/>
        </p:nvSpPr>
        <p:spPr>
          <a:xfrm>
            <a:off x="990600" y="3755008"/>
            <a:ext cx="2943225" cy="628650"/>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FFHQ validation split</a:t>
            </a:r>
            <a:endParaRPr lang="en-US" sz="1800" dirty="0"/>
          </a:p>
        </p:txBody>
      </p:sp>
      <p:sp>
        <p:nvSpPr>
          <p:cNvPr id="6" name="Shape 4"/>
          <p:cNvSpPr/>
          <p:nvPr/>
        </p:nvSpPr>
        <p:spPr>
          <a:xfrm>
            <a:off x="4114800" y="2999556"/>
            <a:ext cx="13182600" cy="1672828"/>
          </a:xfrm>
          <a:prstGeom prst="rect">
            <a:avLst/>
          </a:prstGeom>
          <a:ln w="19050">
            <a:solidFill>
              <a:srgbClr val="DCDCDC"/>
            </a:solidFill>
            <a:prstDash val="solid"/>
          </a:ln>
        </p:spPr>
      </p:sp>
      <p:pic>
        <p:nvPicPr>
          <p:cNvPr id="7" name="Image 0" descr="preencoded.png"/>
          <p:cNvPicPr>
            <a:picLocks noChangeAspect="1"/>
          </p:cNvPicPr>
          <p:nvPr/>
        </p:nvPicPr>
        <p:blipFill>
          <a:blip r:embed="rId3"/>
          <a:stretch>
            <a:fillRect/>
          </a:stretch>
        </p:blipFill>
        <p:spPr>
          <a:xfrm>
            <a:off x="4114800" y="2999556"/>
            <a:ext cx="13182600" cy="1672828"/>
          </a:xfrm>
          <a:prstGeom prst="rect">
            <a:avLst/>
          </a:prstGeom>
        </p:spPr>
      </p:pic>
      <p:sp>
        <p:nvSpPr>
          <p:cNvPr id="8" name="Text 5"/>
          <p:cNvSpPr/>
          <p:nvPr/>
        </p:nvSpPr>
        <p:spPr>
          <a:xfrm>
            <a:off x="990600" y="5356399"/>
            <a:ext cx="3143250" cy="409575"/>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C84F00"/>
                </a:solidFill>
                <a:latin typeface="Arial" pitchFamily="34" charset="0"/>
                <a:ea typeface="Arial" pitchFamily="34" charset="-122"/>
                <a:cs typeface="Arial" pitchFamily="34" charset="-120"/>
              </a:rPr>
              <a:t>DDPM RGB</a:t>
            </a:r>
            <a:endParaRPr lang="en-US" sz="2550" dirty="0"/>
          </a:p>
        </p:txBody>
      </p:sp>
      <p:sp>
        <p:nvSpPr>
          <p:cNvPr id="9" name="Text 6"/>
          <p:cNvSpPr/>
          <p:nvPr/>
        </p:nvSpPr>
        <p:spPr>
          <a:xfrm>
            <a:off x="990600" y="5785024"/>
            <a:ext cx="314325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baseline, 3 channels</a:t>
            </a:r>
            <a:endParaRPr lang="en-US" sz="1800" dirty="0"/>
          </a:p>
        </p:txBody>
      </p:sp>
      <p:sp>
        <p:nvSpPr>
          <p:cNvPr id="10" name="Shape 7"/>
          <p:cNvSpPr/>
          <p:nvPr/>
        </p:nvSpPr>
        <p:spPr>
          <a:xfrm>
            <a:off x="4114800" y="4881935"/>
            <a:ext cx="13182600" cy="1672828"/>
          </a:xfrm>
          <a:prstGeom prst="rect">
            <a:avLst/>
          </a:prstGeom>
          <a:ln w="19050">
            <a:solidFill>
              <a:srgbClr val="DCDCDC"/>
            </a:solidFill>
            <a:prstDash val="solid"/>
          </a:ln>
        </p:spPr>
      </p:sp>
      <p:pic>
        <p:nvPicPr>
          <p:cNvPr id="11" name="Image 1" descr="preencoded.png"/>
          <p:cNvPicPr>
            <a:picLocks noChangeAspect="1"/>
          </p:cNvPicPr>
          <p:nvPr/>
        </p:nvPicPr>
        <p:blipFill>
          <a:blip r:embed="rId4"/>
          <a:stretch>
            <a:fillRect/>
          </a:stretch>
        </p:blipFill>
        <p:spPr>
          <a:xfrm>
            <a:off x="4114800" y="4881935"/>
            <a:ext cx="13182600" cy="1672828"/>
          </a:xfrm>
          <a:prstGeom prst="rect">
            <a:avLst/>
          </a:prstGeom>
        </p:spPr>
      </p:pic>
      <p:sp>
        <p:nvSpPr>
          <p:cNvPr id="12" name="Text 8"/>
          <p:cNvSpPr/>
          <p:nvPr/>
        </p:nvSpPr>
        <p:spPr>
          <a:xfrm>
            <a:off x="990600" y="7053039"/>
            <a:ext cx="2943225" cy="78105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137738"/>
                </a:solidFill>
                <a:latin typeface="Arial" pitchFamily="34" charset="0"/>
                <a:ea typeface="Arial" pitchFamily="34" charset="-122"/>
                <a:cs typeface="Arial" pitchFamily="34" charset="-120"/>
              </a:rPr>
              <a:t>DDPM Frequency-domain</a:t>
            </a:r>
            <a:endParaRPr lang="en-US" sz="2550" dirty="0"/>
          </a:p>
        </p:txBody>
      </p:sp>
      <p:sp>
        <p:nvSpPr>
          <p:cNvPr id="13" name="Text 9"/>
          <p:cNvSpPr/>
          <p:nvPr/>
        </p:nvSpPr>
        <p:spPr>
          <a:xfrm>
            <a:off x="990600" y="7853139"/>
            <a:ext cx="314325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6 channels, spectrum</a:t>
            </a:r>
            <a:endParaRPr lang="en-US" sz="1800" dirty="0"/>
          </a:p>
        </p:txBody>
      </p:sp>
      <p:sp>
        <p:nvSpPr>
          <p:cNvPr id="14" name="Shape 10"/>
          <p:cNvSpPr/>
          <p:nvPr/>
        </p:nvSpPr>
        <p:spPr>
          <a:xfrm>
            <a:off x="4114800" y="6764313"/>
            <a:ext cx="13182600" cy="1672828"/>
          </a:xfrm>
          <a:prstGeom prst="rect">
            <a:avLst/>
          </a:prstGeom>
          <a:ln w="19050">
            <a:solidFill>
              <a:srgbClr val="DCDCDC"/>
            </a:solidFill>
            <a:prstDash val="solid"/>
          </a:ln>
        </p:spPr>
      </p:sp>
      <p:pic>
        <p:nvPicPr>
          <p:cNvPr id="15" name="Image 2" descr="preencoded.png"/>
          <p:cNvPicPr>
            <a:picLocks noChangeAspect="1"/>
          </p:cNvPicPr>
          <p:nvPr/>
        </p:nvPicPr>
        <p:blipFill>
          <a:blip r:embed="rId5"/>
          <a:stretch>
            <a:fillRect/>
          </a:stretch>
        </p:blipFill>
        <p:spPr>
          <a:xfrm>
            <a:off x="4114800" y="6764313"/>
            <a:ext cx="13182600" cy="1672828"/>
          </a:xfrm>
          <a:prstGeom prst="rect">
            <a:avLst/>
          </a:prstGeom>
        </p:spPr>
      </p:pic>
      <p:sp>
        <p:nvSpPr>
          <p:cNvPr id="16" name="Text 11"/>
          <p:cNvSpPr/>
          <p:nvPr/>
        </p:nvSpPr>
        <p:spPr>
          <a:xfrm>
            <a:off x="990600" y="9155460"/>
            <a:ext cx="17937480" cy="369540"/>
          </a:xfrm>
          <a:prstGeom prst="rect">
            <a:avLst/>
          </a:prstGeom>
          <a:noFill/>
          <a:ln/>
        </p:spPr>
        <p:txBody>
          <a:bodyPr wrap="square" lIns="25400" tIns="25400" rIns="25400" bIns="25400" rtlCol="0" anchor="t">
            <a:normAutofit lnSpcReduction="10000"/>
          </a:bodyPr>
          <a:lstStyle/>
          <a:p>
            <a:pPr marL="0" indent="0" algn="l">
              <a:lnSpc>
                <a:spcPct val="126545"/>
              </a:lnSpc>
              <a:buNone/>
            </a:pPr>
            <a:r>
              <a:rPr lang="en-US" sz="1800" dirty="0">
                <a:solidFill>
                  <a:srgbClr val="5A5A5A"/>
                </a:solidFill>
                <a:latin typeface="Arial" pitchFamily="34" charset="0"/>
                <a:ea typeface="Arial" pitchFamily="34" charset="-122"/>
                <a:cs typeface="Arial" pitchFamily="34" charset="-120"/>
              </a:rPr>
              <a:t>Eight samples per condition, generated with deterministic DDIM (50 steps, η = 0) from the epoch-100 checkpoints.</a:t>
            </a:r>
            <a:endParaRPr lang="en-US" sz="1800" dirty="0"/>
          </a:p>
        </p:txBody>
      </p:sp>
      <p:sp>
        <p:nvSpPr>
          <p:cNvPr id="17" name="Text 12"/>
          <p:cNvSpPr/>
          <p:nvPr/>
        </p:nvSpPr>
        <p:spPr>
          <a:xfrm>
            <a:off x="16337235" y="9610725"/>
            <a:ext cx="10363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11 / 15</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Model Evaluation — Visual Fidelity</a:t>
            </a:r>
            <a:endParaRPr lang="en-US" sz="4800" dirty="0"/>
          </a:p>
        </p:txBody>
      </p:sp>
      <p:sp>
        <p:nvSpPr>
          <p:cNvPr id="3" name="Shape 1"/>
          <p:cNvSpPr/>
          <p:nvPr/>
        </p:nvSpPr>
        <p:spPr>
          <a:xfrm>
            <a:off x="990600" y="1919288"/>
            <a:ext cx="16306800" cy="19050"/>
          </a:xfrm>
          <a:prstGeom prst="rect">
            <a:avLst/>
          </a:prstGeom>
          <a:solidFill>
            <a:srgbClr val="DCDCDC"/>
          </a:solidFill>
          <a:ln/>
        </p:spPr>
      </p:sp>
      <p:sp>
        <p:nvSpPr>
          <p:cNvPr id="4" name="Text 2"/>
          <p:cNvSpPr/>
          <p:nvPr/>
        </p:nvSpPr>
        <p:spPr>
          <a:xfrm>
            <a:off x="990600" y="2395538"/>
            <a:ext cx="4989173"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C84F00"/>
                </a:solidFill>
                <a:latin typeface="Courier New" pitchFamily="34" charset="0"/>
                <a:ea typeface="Courier New" pitchFamily="34" charset="-122"/>
                <a:cs typeface="Courier New" pitchFamily="34" charset="-120"/>
              </a:rPr>
              <a:t>RGB BASELINE</a:t>
            </a:r>
            <a:endParaRPr lang="en-US" sz="1800" dirty="0"/>
          </a:p>
        </p:txBody>
      </p:sp>
      <p:sp>
        <p:nvSpPr>
          <p:cNvPr id="5" name="Text 3"/>
          <p:cNvSpPr/>
          <p:nvPr/>
        </p:nvSpPr>
        <p:spPr>
          <a:xfrm>
            <a:off x="990600" y="2805113"/>
            <a:ext cx="1337191" cy="499095"/>
          </a:xfrm>
          <a:prstGeom prst="rect">
            <a:avLst/>
          </a:prstGeom>
          <a:noFill/>
          <a:ln/>
        </p:spPr>
        <p:txBody>
          <a:bodyPr wrap="none" lIns="25400" tIns="25400" rIns="25400" bIns="25400" rtlCol="0" anchor="t">
            <a:normAutofit fontScale="92500" lnSpcReduction="10000"/>
          </a:bodyPr>
          <a:lstStyle/>
          <a:p>
            <a:pPr marL="0" indent="0" algn="l">
              <a:lnSpc>
                <a:spcPct val="97778"/>
              </a:lnSpc>
              <a:buNone/>
            </a:pPr>
            <a:r>
              <a:rPr lang="en-US" sz="3300" b="1" kern="0" spc="-66" dirty="0">
                <a:solidFill>
                  <a:srgbClr val="141414"/>
                </a:solidFill>
                <a:latin typeface="Courier New" pitchFamily="34" charset="0"/>
                <a:ea typeface="Courier New" pitchFamily="34" charset="-122"/>
                <a:cs typeface="Courier New" pitchFamily="34" charset="-120"/>
              </a:rPr>
              <a:t>84.41</a:t>
            </a:r>
            <a:endParaRPr lang="en-US" sz="3300" dirty="0"/>
          </a:p>
        </p:txBody>
      </p:sp>
      <p:sp>
        <p:nvSpPr>
          <p:cNvPr id="6" name="Text 4"/>
          <p:cNvSpPr/>
          <p:nvPr/>
        </p:nvSpPr>
        <p:spPr>
          <a:xfrm>
            <a:off x="2358628" y="2871788"/>
            <a:ext cx="792584" cy="381000"/>
          </a:xfrm>
          <a:prstGeom prst="rect">
            <a:avLst/>
          </a:prstGeom>
          <a:noFill/>
          <a:ln/>
        </p:spPr>
        <p:txBody>
          <a:bodyPr wrap="none" lIns="25400" tIns="25400" rIns="25400" bIns="25400" rtlCol="0" anchor="t">
            <a:normAutofit/>
          </a:bodyPr>
          <a:lstStyle/>
          <a:p>
            <a:pPr marL="0" indent="0" algn="l">
              <a:buNone/>
            </a:pPr>
            <a:r>
              <a:rPr lang="en-US" sz="2100" dirty="0">
                <a:solidFill>
                  <a:srgbClr val="5A5A5A"/>
                </a:solidFill>
                <a:latin typeface="Arial" pitchFamily="34" charset="0"/>
                <a:ea typeface="Arial" pitchFamily="34" charset="-122"/>
                <a:cs typeface="Arial" pitchFamily="34" charset="-120"/>
              </a:rPr>
              <a:t>FID ↓</a:t>
            </a:r>
            <a:endParaRPr lang="en-US" sz="2100" dirty="0"/>
          </a:p>
        </p:txBody>
      </p:sp>
      <p:sp>
        <p:nvSpPr>
          <p:cNvPr id="7" name="Text 5"/>
          <p:cNvSpPr/>
          <p:nvPr/>
        </p:nvSpPr>
        <p:spPr>
          <a:xfrm>
            <a:off x="990600" y="3380408"/>
            <a:ext cx="4011491" cy="499095"/>
          </a:xfrm>
          <a:prstGeom prst="rect">
            <a:avLst/>
          </a:prstGeom>
          <a:noFill/>
          <a:ln/>
        </p:spPr>
        <p:txBody>
          <a:bodyPr wrap="none" lIns="25400" tIns="25400" rIns="25400" bIns="25400" rtlCol="0" anchor="t">
            <a:normAutofit fontScale="92500" lnSpcReduction="10000"/>
          </a:bodyPr>
          <a:lstStyle/>
          <a:p>
            <a:pPr marL="0" indent="0" algn="l">
              <a:lnSpc>
                <a:spcPct val="97778"/>
              </a:lnSpc>
              <a:buNone/>
            </a:pPr>
            <a:r>
              <a:rPr lang="en-US" sz="3300" b="1" kern="0" spc="-66" dirty="0">
                <a:solidFill>
                  <a:srgbClr val="141414"/>
                </a:solidFill>
                <a:latin typeface="Courier New" pitchFamily="34" charset="0"/>
                <a:ea typeface="Courier New" pitchFamily="34" charset="-122"/>
                <a:cs typeface="Courier New" pitchFamily="34" charset="-120"/>
              </a:rPr>
              <a:t>0.0543 ± 0.0020</a:t>
            </a:r>
            <a:endParaRPr lang="en-US" sz="3300" dirty="0"/>
          </a:p>
        </p:txBody>
      </p:sp>
      <p:sp>
        <p:nvSpPr>
          <p:cNvPr id="8" name="Text 6"/>
          <p:cNvSpPr/>
          <p:nvPr/>
        </p:nvSpPr>
        <p:spPr>
          <a:xfrm>
            <a:off x="4789810" y="3447083"/>
            <a:ext cx="812602" cy="381000"/>
          </a:xfrm>
          <a:prstGeom prst="rect">
            <a:avLst/>
          </a:prstGeom>
          <a:noFill/>
          <a:ln/>
        </p:spPr>
        <p:txBody>
          <a:bodyPr wrap="none" lIns="25400" tIns="25400" rIns="25400" bIns="25400" rtlCol="0" anchor="t">
            <a:normAutofit/>
          </a:bodyPr>
          <a:lstStyle/>
          <a:p>
            <a:pPr marL="0" indent="0" algn="l">
              <a:buNone/>
            </a:pPr>
            <a:r>
              <a:rPr lang="en-US" sz="2100" dirty="0">
                <a:solidFill>
                  <a:srgbClr val="5A5A5A"/>
                </a:solidFill>
                <a:latin typeface="Arial" pitchFamily="34" charset="0"/>
                <a:ea typeface="Arial" pitchFamily="34" charset="-122"/>
                <a:cs typeface="Arial" pitchFamily="34" charset="-120"/>
              </a:rPr>
              <a:t>KID ↓</a:t>
            </a:r>
            <a:endParaRPr lang="en-US" sz="2100" dirty="0"/>
          </a:p>
        </p:txBody>
      </p:sp>
      <p:sp>
        <p:nvSpPr>
          <p:cNvPr id="9" name="Text 7"/>
          <p:cNvSpPr/>
          <p:nvPr/>
        </p:nvSpPr>
        <p:spPr>
          <a:xfrm>
            <a:off x="6288212" y="2395538"/>
            <a:ext cx="4989173"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37738"/>
                </a:solidFill>
                <a:latin typeface="Courier New" pitchFamily="34" charset="0"/>
                <a:ea typeface="Courier New" pitchFamily="34" charset="-122"/>
                <a:cs typeface="Courier New" pitchFamily="34" charset="-120"/>
              </a:rPr>
              <a:t>FREQUENCY MODEL</a:t>
            </a:r>
            <a:endParaRPr lang="en-US" sz="1800" dirty="0"/>
          </a:p>
        </p:txBody>
      </p:sp>
      <p:sp>
        <p:nvSpPr>
          <p:cNvPr id="10" name="Text 8"/>
          <p:cNvSpPr/>
          <p:nvPr/>
        </p:nvSpPr>
        <p:spPr>
          <a:xfrm>
            <a:off x="6288212" y="2805113"/>
            <a:ext cx="1604613" cy="499095"/>
          </a:xfrm>
          <a:prstGeom prst="rect">
            <a:avLst/>
          </a:prstGeom>
          <a:noFill/>
          <a:ln/>
        </p:spPr>
        <p:txBody>
          <a:bodyPr wrap="none" lIns="25400" tIns="25400" rIns="25400" bIns="25400" rtlCol="0" anchor="t">
            <a:normAutofit fontScale="92500" lnSpcReduction="10000"/>
          </a:bodyPr>
          <a:lstStyle/>
          <a:p>
            <a:pPr marL="0" indent="0" algn="l">
              <a:lnSpc>
                <a:spcPct val="97778"/>
              </a:lnSpc>
              <a:buNone/>
            </a:pPr>
            <a:r>
              <a:rPr lang="en-US" sz="3300" b="1" kern="0" spc="-66" dirty="0">
                <a:solidFill>
                  <a:srgbClr val="141414"/>
                </a:solidFill>
                <a:latin typeface="Courier New" pitchFamily="34" charset="0"/>
                <a:ea typeface="Courier New" pitchFamily="34" charset="-122"/>
                <a:cs typeface="Courier New" pitchFamily="34" charset="-120"/>
              </a:rPr>
              <a:t>174.02</a:t>
            </a:r>
            <a:endParaRPr lang="en-US" sz="3300" dirty="0"/>
          </a:p>
        </p:txBody>
      </p:sp>
      <p:sp>
        <p:nvSpPr>
          <p:cNvPr id="11" name="Text 9"/>
          <p:cNvSpPr/>
          <p:nvPr/>
        </p:nvSpPr>
        <p:spPr>
          <a:xfrm>
            <a:off x="7899350" y="2871788"/>
            <a:ext cx="792584" cy="381000"/>
          </a:xfrm>
          <a:prstGeom prst="rect">
            <a:avLst/>
          </a:prstGeom>
          <a:noFill/>
          <a:ln/>
        </p:spPr>
        <p:txBody>
          <a:bodyPr wrap="none" lIns="25400" tIns="25400" rIns="25400" bIns="25400" rtlCol="0" anchor="t">
            <a:normAutofit/>
          </a:bodyPr>
          <a:lstStyle/>
          <a:p>
            <a:pPr marL="0" indent="0" algn="l">
              <a:buNone/>
            </a:pPr>
            <a:r>
              <a:rPr lang="en-US" sz="2100" dirty="0">
                <a:solidFill>
                  <a:srgbClr val="5A5A5A"/>
                </a:solidFill>
                <a:latin typeface="Arial" pitchFamily="34" charset="0"/>
                <a:ea typeface="Arial" pitchFamily="34" charset="-122"/>
                <a:cs typeface="Arial" pitchFamily="34" charset="-120"/>
              </a:rPr>
              <a:t>FID ↓</a:t>
            </a:r>
            <a:endParaRPr lang="en-US" sz="2100" dirty="0"/>
          </a:p>
        </p:txBody>
      </p:sp>
      <p:sp>
        <p:nvSpPr>
          <p:cNvPr id="12" name="Text 10"/>
          <p:cNvSpPr/>
          <p:nvPr/>
        </p:nvSpPr>
        <p:spPr>
          <a:xfrm>
            <a:off x="6288212" y="3380408"/>
            <a:ext cx="4011491" cy="499095"/>
          </a:xfrm>
          <a:prstGeom prst="rect">
            <a:avLst/>
          </a:prstGeom>
          <a:noFill/>
          <a:ln/>
        </p:spPr>
        <p:txBody>
          <a:bodyPr wrap="none" lIns="25400" tIns="25400" rIns="25400" bIns="25400" rtlCol="0" anchor="t">
            <a:normAutofit fontScale="92500" lnSpcReduction="10000"/>
          </a:bodyPr>
          <a:lstStyle/>
          <a:p>
            <a:pPr marL="0" indent="0" algn="l">
              <a:lnSpc>
                <a:spcPct val="97778"/>
              </a:lnSpc>
              <a:buNone/>
            </a:pPr>
            <a:r>
              <a:rPr lang="en-US" sz="3300" b="1" kern="0" spc="-66" dirty="0">
                <a:solidFill>
                  <a:srgbClr val="141414"/>
                </a:solidFill>
                <a:latin typeface="Courier New" pitchFamily="34" charset="0"/>
                <a:ea typeface="Courier New" pitchFamily="34" charset="-122"/>
                <a:cs typeface="Courier New" pitchFamily="34" charset="-120"/>
              </a:rPr>
              <a:t>0.1590 ± 0.0024</a:t>
            </a:r>
            <a:endParaRPr lang="en-US" sz="3300" dirty="0"/>
          </a:p>
        </p:txBody>
      </p:sp>
      <p:sp>
        <p:nvSpPr>
          <p:cNvPr id="13" name="Text 11"/>
          <p:cNvSpPr/>
          <p:nvPr/>
        </p:nvSpPr>
        <p:spPr>
          <a:xfrm>
            <a:off x="10087421" y="3447083"/>
            <a:ext cx="812602" cy="381000"/>
          </a:xfrm>
          <a:prstGeom prst="rect">
            <a:avLst/>
          </a:prstGeom>
          <a:noFill/>
          <a:ln/>
        </p:spPr>
        <p:txBody>
          <a:bodyPr wrap="none" lIns="25400" tIns="25400" rIns="25400" bIns="25400" rtlCol="0" anchor="t">
            <a:normAutofit/>
          </a:bodyPr>
          <a:lstStyle/>
          <a:p>
            <a:pPr marL="0" indent="0" algn="l">
              <a:buNone/>
            </a:pPr>
            <a:r>
              <a:rPr lang="en-US" sz="2100" dirty="0">
                <a:solidFill>
                  <a:srgbClr val="5A5A5A"/>
                </a:solidFill>
                <a:latin typeface="Arial" pitchFamily="34" charset="0"/>
                <a:ea typeface="Arial" pitchFamily="34" charset="-122"/>
                <a:cs typeface="Arial" pitchFamily="34" charset="-120"/>
              </a:rPr>
              <a:t>KID ↓</a:t>
            </a:r>
            <a:endParaRPr lang="en-US" sz="2100" dirty="0"/>
          </a:p>
        </p:txBody>
      </p:sp>
      <p:sp>
        <p:nvSpPr>
          <p:cNvPr id="14" name="Text 12"/>
          <p:cNvSpPr/>
          <p:nvPr/>
        </p:nvSpPr>
        <p:spPr>
          <a:xfrm>
            <a:off x="11585823" y="2395538"/>
            <a:ext cx="5494020" cy="2689622"/>
          </a:xfrm>
          <a:prstGeom prst="rect">
            <a:avLst/>
          </a:prstGeom>
          <a:noFill/>
          <a:ln/>
        </p:spPr>
        <p:txBody>
          <a:bodyPr wrap="square" lIns="25400" tIns="25400" rIns="25400" bIns="25400" rtlCol="0" anchor="t">
            <a:normAutofit lnSpcReduction="10000"/>
          </a:bodyPr>
          <a:lstStyle/>
          <a:p>
            <a:pPr marL="0" indent="0" algn="l">
              <a:lnSpc>
                <a:spcPct val="126545"/>
              </a:lnSpc>
              <a:buNone/>
            </a:pPr>
            <a:r>
              <a:rPr lang="en-US" sz="1800" dirty="0">
                <a:solidFill>
                  <a:srgbClr val="141414"/>
                </a:solidFill>
                <a:latin typeface="Arial" pitchFamily="34" charset="0"/>
                <a:ea typeface="Arial" pitchFamily="34" charset="-122"/>
                <a:cs typeface="Arial" pitchFamily="34" charset="-120"/>
              </a:rPr>
              <a:t>Fréchet Inception Distance (FID) and Kernel Inception Distance (KID) both measure how far the set of generated images is from the set of real ones, comparing features extracted by a pretrained Inception network. Lower is better, zero means indistinguishable. KID is the unbiased variant, reported with its standard deviation, so it stays reliable on small sample sizes.</a:t>
            </a:r>
            <a:endParaRPr lang="en-US" sz="1800" dirty="0"/>
          </a:p>
        </p:txBody>
      </p:sp>
      <p:sp>
        <p:nvSpPr>
          <p:cNvPr id="15" name="Text 13"/>
          <p:cNvSpPr/>
          <p:nvPr/>
        </p:nvSpPr>
        <p:spPr>
          <a:xfrm>
            <a:off x="990600" y="5047059"/>
            <a:ext cx="10252234" cy="447675"/>
          </a:xfrm>
          <a:prstGeom prst="rect">
            <a:avLst/>
          </a:prstGeom>
          <a:noFill/>
          <a:ln/>
        </p:spPr>
        <p:txBody>
          <a:bodyPr wrap="square" lIns="25400" tIns="25400" rIns="25400" bIns="25400" rtlCol="0" anchor="t">
            <a:normAutofit/>
          </a:bodyPr>
          <a:lstStyle/>
          <a:p>
            <a:pPr marL="0" indent="0" algn="l">
              <a:lnSpc>
                <a:spcPct val="126545"/>
              </a:lnSpc>
              <a:buNone/>
            </a:pPr>
            <a:r>
              <a:rPr lang="en-US" sz="1800" dirty="0">
                <a:solidFill>
                  <a:srgbClr val="5A5A5A"/>
                </a:solidFill>
                <a:latin typeface="Arial" pitchFamily="34" charset="0"/>
                <a:ea typeface="Arial" pitchFamily="34" charset="-122"/>
                <a:cs typeface="Arial" pitchFamily="34" charset="-120"/>
              </a:rPr>
              <a:t>Computed with torchmetrics on 5000 generated images against the 7000-image validation split.</a:t>
            </a:r>
            <a:endParaRPr lang="en-US" sz="1800" dirty="0"/>
          </a:p>
        </p:txBody>
      </p:sp>
      <p:sp>
        <p:nvSpPr>
          <p:cNvPr id="16" name="Text 14"/>
          <p:cNvSpPr/>
          <p:nvPr/>
        </p:nvSpPr>
        <p:spPr>
          <a:xfrm>
            <a:off x="990600" y="6843117"/>
            <a:ext cx="2097063" cy="62865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0052B4"/>
                </a:solidFill>
                <a:latin typeface="Courier New" pitchFamily="34" charset="0"/>
                <a:ea typeface="Courier New" pitchFamily="34" charset="-122"/>
                <a:cs typeface="Courier New" pitchFamily="34" charset="-120"/>
              </a:rPr>
              <a:t>WHY THE GAP IS THIS LARGE</a:t>
            </a:r>
            <a:endParaRPr lang="en-US" sz="1800" dirty="0"/>
          </a:p>
        </p:txBody>
      </p:sp>
      <p:sp>
        <p:nvSpPr>
          <p:cNvPr id="17" name="Text 15"/>
          <p:cNvSpPr/>
          <p:nvPr/>
        </p:nvSpPr>
        <p:spPr>
          <a:xfrm>
            <a:off x="3544863" y="6766917"/>
            <a:ext cx="4355436" cy="2758083"/>
          </a:xfrm>
          <a:prstGeom prst="rect">
            <a:avLst/>
          </a:prstGeom>
          <a:noFill/>
          <a:ln/>
        </p:spPr>
        <p:txBody>
          <a:bodyPr wrap="square" lIns="25400" tIns="25400" rIns="25400" bIns="25400" rtlCol="0" anchor="t">
            <a:normAutofit/>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Both models share the same limited budget: 100 epochs, 11.4 M parameters and 50 DDIM steps, so neither output is accurate.</a:t>
            </a:r>
            <a:endParaRPr lang="en-US" sz="2550" dirty="0"/>
          </a:p>
        </p:txBody>
      </p:sp>
      <p:sp>
        <p:nvSpPr>
          <p:cNvPr id="18" name="Text 16"/>
          <p:cNvSpPr/>
          <p:nvPr/>
        </p:nvSpPr>
        <p:spPr>
          <a:xfrm>
            <a:off x="8306842" y="6766917"/>
            <a:ext cx="4355436" cy="2758083"/>
          </a:xfrm>
          <a:prstGeom prst="rect">
            <a:avLst/>
          </a:prstGeom>
          <a:noFill/>
          <a:ln/>
        </p:spPr>
        <p:txBody>
          <a:bodyPr wrap="square" lIns="25400" tIns="25400" rIns="25400" bIns="25400" rtlCol="0" anchor="t">
            <a:normAutofit/>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In RGB the residual error stays local — faces come out distorted, but they still read as faces.</a:t>
            </a:r>
            <a:endParaRPr lang="en-US" sz="2550" dirty="0"/>
          </a:p>
        </p:txBody>
      </p:sp>
      <p:sp>
        <p:nvSpPr>
          <p:cNvPr id="19" name="Text 17"/>
          <p:cNvSpPr/>
          <p:nvPr/>
        </p:nvSpPr>
        <p:spPr>
          <a:xfrm>
            <a:off x="13068821" y="6766917"/>
            <a:ext cx="4355436" cy="2758083"/>
          </a:xfrm>
          <a:prstGeom prst="rect">
            <a:avLst/>
          </a:prstGeom>
          <a:noFill/>
          <a:ln/>
        </p:spPr>
        <p:txBody>
          <a:bodyPr wrap="square" lIns="25400" tIns="25400" rIns="25400" bIns="25400" rtlCol="0" anchor="t">
            <a:normAutofit lnSpcReduction="10000"/>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In the spectrum every coefficient contributes to every pixel, so a small error spreads over the whole image: wrong colours, unrecognisable shapes.</a:t>
            </a:r>
            <a:endParaRPr lang="en-US" sz="2550" dirty="0"/>
          </a:p>
        </p:txBody>
      </p:sp>
      <p:sp>
        <p:nvSpPr>
          <p:cNvPr id="20" name="Text 18"/>
          <p:cNvSpPr/>
          <p:nvPr/>
        </p:nvSpPr>
        <p:spPr>
          <a:xfrm>
            <a:off x="16337235" y="9610725"/>
            <a:ext cx="10363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12 / 15</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Model Evaluation — Radial Power Spectrum</a:t>
            </a:r>
            <a:endParaRPr lang="en-US" sz="4800" dirty="0"/>
          </a:p>
        </p:txBody>
      </p:sp>
      <p:sp>
        <p:nvSpPr>
          <p:cNvPr id="3" name="Shape 1"/>
          <p:cNvSpPr/>
          <p:nvPr/>
        </p:nvSpPr>
        <p:spPr>
          <a:xfrm>
            <a:off x="990600" y="1881187"/>
            <a:ext cx="16306800" cy="19050"/>
          </a:xfrm>
          <a:prstGeom prst="rect">
            <a:avLst/>
          </a:prstGeom>
          <a:solidFill>
            <a:srgbClr val="DCDCDC"/>
          </a:solidFill>
          <a:ln/>
        </p:spPr>
      </p:sp>
      <p:pic>
        <p:nvPicPr>
          <p:cNvPr id="4" name="Image 0" descr="preencoded.png"/>
          <p:cNvPicPr>
            <a:picLocks noChangeAspect="1"/>
          </p:cNvPicPr>
          <p:nvPr/>
        </p:nvPicPr>
        <p:blipFill>
          <a:blip r:embed="rId3"/>
          <a:srcRect l="-1" r="-1"/>
          <a:stretch/>
        </p:blipFill>
        <p:spPr>
          <a:xfrm>
            <a:off x="990600" y="2510507"/>
            <a:ext cx="7772400" cy="5137621"/>
          </a:xfrm>
          <a:prstGeom prst="rect">
            <a:avLst/>
          </a:prstGeom>
        </p:spPr>
      </p:pic>
      <p:sp>
        <p:nvSpPr>
          <p:cNvPr id="5" name="Text 2"/>
          <p:cNvSpPr/>
          <p:nvPr/>
        </p:nvSpPr>
        <p:spPr>
          <a:xfrm>
            <a:off x="9525000" y="2281238"/>
            <a:ext cx="8005572" cy="811411"/>
          </a:xfrm>
          <a:prstGeom prst="rect">
            <a:avLst/>
          </a:prstGeom>
          <a:noFill/>
          <a:ln/>
        </p:spPr>
        <p:txBody>
          <a:bodyPr wrap="square" lIns="25400" tIns="25400" rIns="25400" bIns="25400" rtlCol="0" anchor="t">
            <a:normAutofit lnSpcReduction="10000"/>
          </a:bodyPr>
          <a:lstStyle/>
          <a:p>
            <a:pPr marL="0" indent="0" algn="l">
              <a:lnSpc>
                <a:spcPct val="124923"/>
              </a:lnSpc>
              <a:buNone/>
            </a:pPr>
            <a:r>
              <a:rPr lang="en-US" sz="2100" dirty="0">
                <a:solidFill>
                  <a:srgbClr val="5A5A5A"/>
                </a:solidFill>
                <a:latin typeface="Arial" pitchFamily="34" charset="0"/>
                <a:ea typeface="Arial" pitchFamily="34" charset="-122"/>
                <a:cs typeface="Arial" pitchFamily="34" charset="-120"/>
              </a:rPr>
              <a:t>Power spectra azimuthally averaged into 64 radial bins, 256 images per condition, log scale.</a:t>
            </a:r>
            <a:endParaRPr lang="en-US" sz="2100" dirty="0"/>
          </a:p>
        </p:txBody>
      </p:sp>
      <p:sp>
        <p:nvSpPr>
          <p:cNvPr id="6" name="Text 3"/>
          <p:cNvSpPr/>
          <p:nvPr/>
        </p:nvSpPr>
        <p:spPr>
          <a:xfrm>
            <a:off x="9525000" y="3302198"/>
            <a:ext cx="8005572" cy="1398091"/>
          </a:xfrm>
          <a:prstGeom prst="rect">
            <a:avLst/>
          </a:prstGeom>
          <a:noFill/>
          <a:ln/>
        </p:spPr>
        <p:txBody>
          <a:bodyPr wrap="square" lIns="25400" tIns="25400" rIns="25400" bIns="25400" rtlCol="0" anchor="t">
            <a:normAutofit/>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The RGB baseline follows the real curve closely over the informative range and shows no regular grid peaks.</a:t>
            </a:r>
            <a:endParaRPr lang="en-US" sz="2550" dirty="0"/>
          </a:p>
        </p:txBody>
      </p:sp>
      <p:sp>
        <p:nvSpPr>
          <p:cNvPr id="7" name="Text 4"/>
          <p:cNvSpPr/>
          <p:nvPr/>
        </p:nvSpPr>
        <p:spPr>
          <a:xfrm>
            <a:off x="9525000" y="4909840"/>
            <a:ext cx="8005572" cy="1851422"/>
          </a:xfrm>
          <a:prstGeom prst="rect">
            <a:avLst/>
          </a:prstGeom>
          <a:noFill/>
          <a:ln/>
        </p:spPr>
        <p:txBody>
          <a:bodyPr wrap="square" lIns="25400" tIns="25400" rIns="25400" bIns="25400" rtlCol="0" anchor="t">
            <a:normAutofit lnSpcReduction="10000"/>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The frequency model sits roughly an order of magnitude below the real curve at every radius and falls further in the high-frequency tail: it under-generates spectral energy rather than matching it.</a:t>
            </a:r>
            <a:endParaRPr lang="en-US" sz="2550" dirty="0"/>
          </a:p>
        </p:txBody>
      </p:sp>
      <p:sp>
        <p:nvSpPr>
          <p:cNvPr id="8" name="Text 5"/>
          <p:cNvSpPr/>
          <p:nvPr/>
        </p:nvSpPr>
        <p:spPr>
          <a:xfrm>
            <a:off x="9525000" y="6970812"/>
            <a:ext cx="8005572" cy="944761"/>
          </a:xfrm>
          <a:prstGeom prst="rect">
            <a:avLst/>
          </a:prstGeom>
          <a:noFill/>
          <a:ln/>
        </p:spPr>
        <p:txBody>
          <a:bodyPr wrap="square" lIns="25400" tIns="25400" rIns="25400" bIns="25400" rtlCol="0" anchor="t">
            <a:normAutofit lnSpcReduction="10000"/>
          </a:bodyPr>
          <a:lstStyle/>
          <a:p>
            <a:pPr marL="0" indent="0" algn="l">
              <a:lnSpc>
                <a:spcPct val="122051"/>
              </a:lnSpc>
              <a:buNone/>
            </a:pPr>
            <a:r>
              <a:rPr lang="en-US" sz="2550" b="1" dirty="0">
                <a:solidFill>
                  <a:srgbClr val="141414"/>
                </a:solidFill>
                <a:latin typeface="Arial" pitchFamily="34" charset="0"/>
                <a:ea typeface="Arial" pitchFamily="34" charset="-122"/>
                <a:cs typeface="Arial" pitchFamily="34" charset="-120"/>
              </a:rPr>
              <a:t>Diffusing on the spectrum did not improve spectral realism under an identical training budget.</a:t>
            </a:r>
            <a:endParaRPr lang="en-US" sz="2550" dirty="0"/>
          </a:p>
        </p:txBody>
      </p:sp>
      <p:sp>
        <p:nvSpPr>
          <p:cNvPr id="9" name="Text 6"/>
          <p:cNvSpPr/>
          <p:nvPr/>
        </p:nvSpPr>
        <p:spPr>
          <a:xfrm>
            <a:off x="16337235" y="9610725"/>
            <a:ext cx="10363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13 / 15</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Conclusions</a:t>
            </a:r>
            <a:endParaRPr lang="en-US" sz="4800" dirty="0"/>
          </a:p>
        </p:txBody>
      </p:sp>
      <p:sp>
        <p:nvSpPr>
          <p:cNvPr id="3" name="Shape 1"/>
          <p:cNvSpPr/>
          <p:nvPr/>
        </p:nvSpPr>
        <p:spPr>
          <a:xfrm>
            <a:off x="990600" y="1919288"/>
            <a:ext cx="16306800" cy="19050"/>
          </a:xfrm>
          <a:prstGeom prst="rect">
            <a:avLst/>
          </a:prstGeom>
          <a:solidFill>
            <a:srgbClr val="DCDCDC"/>
          </a:solidFill>
          <a:ln/>
        </p:spPr>
      </p:sp>
      <p:sp>
        <p:nvSpPr>
          <p:cNvPr id="4" name="Text 2"/>
          <p:cNvSpPr/>
          <p:nvPr/>
        </p:nvSpPr>
        <p:spPr>
          <a:xfrm>
            <a:off x="990600" y="2395538"/>
            <a:ext cx="8465820"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0052B4"/>
                </a:solidFill>
                <a:latin typeface="Courier New" pitchFamily="34" charset="0"/>
                <a:ea typeface="Courier New" pitchFamily="34" charset="-122"/>
                <a:cs typeface="Courier New" pitchFamily="34" charset="-120"/>
              </a:rPr>
              <a:t>FINDINGS</a:t>
            </a:r>
            <a:endParaRPr lang="en-US" sz="1800" dirty="0"/>
          </a:p>
        </p:txBody>
      </p:sp>
      <p:sp>
        <p:nvSpPr>
          <p:cNvPr id="5" name="Text 3"/>
          <p:cNvSpPr/>
          <p:nvPr/>
        </p:nvSpPr>
        <p:spPr>
          <a:xfrm>
            <a:off x="990600" y="2938463"/>
            <a:ext cx="7927086" cy="1398091"/>
          </a:xfrm>
          <a:prstGeom prst="rect">
            <a:avLst/>
          </a:prstGeom>
          <a:noFill/>
          <a:ln/>
        </p:spPr>
        <p:txBody>
          <a:bodyPr wrap="square" lIns="25400" tIns="25400" rIns="25400" bIns="25400" rtlCol="0" anchor="t">
            <a:normAutofit lnSpcReduction="10000"/>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A DDPM can be trained end-to-end on the Fourier spectrum once the 1/f dynamic range is compressed and standardized, at ≈3% extra cost per step.</a:t>
            </a:r>
            <a:endParaRPr lang="en-US" sz="2550" dirty="0"/>
          </a:p>
        </p:txBody>
      </p:sp>
      <p:sp>
        <p:nvSpPr>
          <p:cNvPr id="6" name="Text 4"/>
          <p:cNvSpPr/>
          <p:nvPr/>
        </p:nvSpPr>
        <p:spPr>
          <a:xfrm>
            <a:off x="990600" y="4546104"/>
            <a:ext cx="7927086" cy="1398091"/>
          </a:xfrm>
          <a:prstGeom prst="rect">
            <a:avLst/>
          </a:prstGeom>
          <a:noFill/>
          <a:ln/>
        </p:spPr>
        <p:txBody>
          <a:bodyPr wrap="square" lIns="25400" tIns="25400" rIns="25400" bIns="25400" rtlCol="0" anchor="t">
            <a:normAutofit lnSpcReduction="10000"/>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Under an identical budget it is worse than the spatial baseline on both perceptual quality and spectral fidelity.</a:t>
            </a:r>
            <a:endParaRPr lang="en-US" sz="2550" dirty="0"/>
          </a:p>
        </p:txBody>
      </p:sp>
      <p:sp>
        <p:nvSpPr>
          <p:cNvPr id="7" name="Text 5"/>
          <p:cNvSpPr/>
          <p:nvPr/>
        </p:nvSpPr>
        <p:spPr>
          <a:xfrm>
            <a:off x="990600" y="6153745"/>
            <a:ext cx="7927086" cy="1584722"/>
          </a:xfrm>
          <a:prstGeom prst="rect">
            <a:avLst/>
          </a:prstGeom>
          <a:noFill/>
          <a:ln/>
        </p:spPr>
        <p:txBody>
          <a:bodyPr wrap="square" lIns="25400" tIns="25400" rIns="25400" bIns="25400" rtlCol="0" anchor="t">
            <a:normAutofit lnSpcReduction="10000"/>
          </a:bodyPr>
          <a:lstStyle/>
          <a:p>
            <a:pPr marL="0" indent="0" algn="l">
              <a:lnSpc>
                <a:spcPct val="124923"/>
              </a:lnSpc>
              <a:buNone/>
            </a:pPr>
            <a:r>
              <a:rPr lang="en-US" sz="2100" dirty="0">
                <a:solidFill>
                  <a:srgbClr val="5A5A5A"/>
                </a:solidFill>
                <a:latin typeface="Arial" pitchFamily="34" charset="0"/>
                <a:ea typeface="Arial" pitchFamily="34" charset="-122"/>
                <a:cs typeface="Arial" pitchFamily="34" charset="-120"/>
              </a:rPr>
              <a:t>The likely cause is Hermitian redundancy: the real/imaginary parameterization carries ≈2× redundant information and the inverse transform discards the residual imaginary component, so part of the capacity is spent on an output that is thrown away.</a:t>
            </a:r>
            <a:endParaRPr lang="en-US" sz="2100" dirty="0"/>
          </a:p>
        </p:txBody>
      </p:sp>
      <p:sp>
        <p:nvSpPr>
          <p:cNvPr id="8" name="Text 6"/>
          <p:cNvSpPr/>
          <p:nvPr/>
        </p:nvSpPr>
        <p:spPr>
          <a:xfrm>
            <a:off x="9601200" y="2395538"/>
            <a:ext cx="8465820" cy="333375"/>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C84F00"/>
                </a:solidFill>
                <a:latin typeface="Courier New" pitchFamily="34" charset="0"/>
                <a:ea typeface="Courier New" pitchFamily="34" charset="-122"/>
                <a:cs typeface="Courier New" pitchFamily="34" charset="-120"/>
              </a:rPr>
              <a:t>FUTURE WORK</a:t>
            </a:r>
            <a:endParaRPr lang="en-US" sz="1800" dirty="0"/>
          </a:p>
        </p:txBody>
      </p:sp>
      <p:sp>
        <p:nvSpPr>
          <p:cNvPr id="9" name="Text 7"/>
          <p:cNvSpPr/>
          <p:nvPr/>
        </p:nvSpPr>
        <p:spPr>
          <a:xfrm>
            <a:off x="9601200" y="2938463"/>
            <a:ext cx="7927086" cy="944761"/>
          </a:xfrm>
          <a:prstGeom prst="rect">
            <a:avLst/>
          </a:prstGeom>
          <a:noFill/>
          <a:ln/>
        </p:spPr>
        <p:txBody>
          <a:bodyPr wrap="square" lIns="25400" tIns="25400" rIns="25400" bIns="25400" rtlCol="0" anchor="t">
            <a:normAutofit lnSpcReduction="10000"/>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Remove the redundancy with a half-spectrum (rfft2) or magnitude/phase parameterization.</a:t>
            </a:r>
            <a:endParaRPr lang="en-US" sz="2550" dirty="0"/>
          </a:p>
        </p:txBody>
      </p:sp>
      <p:sp>
        <p:nvSpPr>
          <p:cNvPr id="10" name="Text 8"/>
          <p:cNvSpPr/>
          <p:nvPr/>
        </p:nvSpPr>
        <p:spPr>
          <a:xfrm>
            <a:off x="9601200" y="4092773"/>
            <a:ext cx="7927086" cy="1398091"/>
          </a:xfrm>
          <a:prstGeom prst="rect">
            <a:avLst/>
          </a:prstGeom>
          <a:noFill/>
          <a:ln/>
        </p:spPr>
        <p:txBody>
          <a:bodyPr wrap="square" lIns="25400" tIns="25400" rIns="25400" bIns="25400" rtlCol="0" anchor="t">
            <a:normAutofit lnSpcReduction="10000"/>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Add EMA weights, which diffusion models normally benefit from and which was omitted to keep the two pipelines identical.</a:t>
            </a:r>
            <a:endParaRPr lang="en-US" sz="2550" dirty="0"/>
          </a:p>
        </p:txBody>
      </p:sp>
      <p:sp>
        <p:nvSpPr>
          <p:cNvPr id="11" name="Text 9"/>
          <p:cNvSpPr/>
          <p:nvPr/>
        </p:nvSpPr>
        <p:spPr>
          <a:xfrm>
            <a:off x="9601200" y="5700415"/>
            <a:ext cx="7927086" cy="1851422"/>
          </a:xfrm>
          <a:prstGeom prst="rect">
            <a:avLst/>
          </a:prstGeom>
          <a:noFill/>
          <a:ln/>
        </p:spPr>
        <p:txBody>
          <a:bodyPr wrap="square" lIns="25400" tIns="25400" rIns="25400" bIns="25400" rtlCol="0" anchor="t">
            <a:normAutofit lnSpcReduction="10000"/>
          </a:bodyPr>
          <a:lstStyle/>
          <a:p>
            <a:pPr marL="0" indent="0" algn="l">
              <a:lnSpc>
                <a:spcPct val="122051"/>
              </a:lnSpc>
              <a:buNone/>
            </a:pPr>
            <a:r>
              <a:rPr lang="en-US" sz="2550" dirty="0">
                <a:solidFill>
                  <a:srgbClr val="141414"/>
                </a:solidFill>
                <a:latin typeface="Arial" pitchFamily="34" charset="0"/>
                <a:ea typeface="Arial" pitchFamily="34" charset="-122"/>
                <a:cs typeface="Arial" pitchFamily="34" charset="-120"/>
              </a:rPr>
              <a:t>Train a fuller DDPM before judging the domain: many more epochs and a wider network, since error in the spectrum is global and needs a more accurate generator.</a:t>
            </a:r>
            <a:endParaRPr lang="en-US" sz="2550" dirty="0"/>
          </a:p>
        </p:txBody>
      </p:sp>
      <p:sp>
        <p:nvSpPr>
          <p:cNvPr id="12" name="Text 10"/>
          <p:cNvSpPr/>
          <p:nvPr/>
        </p:nvSpPr>
        <p:spPr>
          <a:xfrm>
            <a:off x="16337235" y="9610725"/>
            <a:ext cx="10363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14 / 15</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90600" y="914400"/>
            <a:ext cx="17937480" cy="738188"/>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1414"/>
                </a:solidFill>
                <a:latin typeface="Arial" pitchFamily="34" charset="0"/>
                <a:ea typeface="Arial" pitchFamily="34" charset="-122"/>
                <a:cs typeface="Arial" pitchFamily="34" charset="-120"/>
              </a:rPr>
              <a:t>References</a:t>
            </a:r>
            <a:endParaRPr lang="en-US" sz="4800" dirty="0"/>
          </a:p>
        </p:txBody>
      </p:sp>
      <p:sp>
        <p:nvSpPr>
          <p:cNvPr id="3" name="Shape 1"/>
          <p:cNvSpPr/>
          <p:nvPr/>
        </p:nvSpPr>
        <p:spPr>
          <a:xfrm>
            <a:off x="990600" y="1919288"/>
            <a:ext cx="16306800" cy="19050"/>
          </a:xfrm>
          <a:prstGeom prst="rect">
            <a:avLst/>
          </a:prstGeom>
          <a:solidFill>
            <a:srgbClr val="DCDCDC"/>
          </a:solidFill>
          <a:ln/>
        </p:spPr>
      </p:sp>
      <p:sp>
        <p:nvSpPr>
          <p:cNvPr id="4" name="Text 2"/>
          <p:cNvSpPr/>
          <p:nvPr/>
        </p:nvSpPr>
        <p:spPr>
          <a:xfrm>
            <a:off x="1085850" y="2395538"/>
            <a:ext cx="17792700" cy="420960"/>
          </a:xfrm>
          <a:prstGeom prst="rect">
            <a:avLst/>
          </a:prstGeom>
          <a:noFill/>
          <a:ln/>
        </p:spPr>
        <p:txBody>
          <a:bodyPr wrap="square" lIns="25400" tIns="25400" rIns="25400" bIns="25400" rtlCol="0" anchor="t">
            <a:normAutofit/>
          </a:bodyPr>
          <a:lstStyle/>
          <a:p>
            <a:pPr marL="400050" indent="-400050" algn="l">
              <a:lnSpc>
                <a:spcPct val="120615"/>
              </a:lnSpc>
              <a:buSzPct val="100000"/>
              <a:buFont typeface="+mj-lt"/>
              <a:buAutoNum type="arabicPeriod"/>
            </a:pPr>
            <a:r>
              <a:rPr lang="en-US" sz="2100" dirty="0">
                <a:solidFill>
                  <a:srgbClr val="141414"/>
                </a:solidFill>
                <a:latin typeface="Arial" pitchFamily="34" charset="0"/>
                <a:ea typeface="Arial" pitchFamily="34" charset="-122"/>
                <a:cs typeface="Arial" pitchFamily="34" charset="-120"/>
              </a:rPr>
              <a:t>Ho, J., Jain, A., Abbeel, P. — </a:t>
            </a:r>
            <a:r>
              <a:rPr lang="en-US" sz="2100" i="1" dirty="0">
                <a:solidFill>
                  <a:srgbClr val="141414"/>
                </a:solidFill>
                <a:latin typeface="Arial" pitchFamily="34" charset="0"/>
                <a:ea typeface="Arial" pitchFamily="34" charset="-122"/>
                <a:cs typeface="Arial" pitchFamily="34" charset="-120"/>
              </a:rPr>
              <a:t>Denoising Diffusion Probabilistic Models. </a:t>
            </a:r>
            <a:r>
              <a:rPr lang="en-US" sz="2100" dirty="0">
                <a:solidFill>
                  <a:srgbClr val="141414"/>
                </a:solidFill>
                <a:latin typeface="Arial" pitchFamily="34" charset="0"/>
                <a:ea typeface="Arial" pitchFamily="34" charset="-122"/>
                <a:cs typeface="Arial" pitchFamily="34" charset="-120"/>
              </a:rPr>
              <a:t>NeurIPS 2020.</a:t>
            </a:r>
            <a:endParaRPr lang="en-US" sz="2100" dirty="0"/>
          </a:p>
        </p:txBody>
      </p:sp>
      <p:sp>
        <p:nvSpPr>
          <p:cNvPr id="5" name="Text 3"/>
          <p:cNvSpPr/>
          <p:nvPr/>
        </p:nvSpPr>
        <p:spPr>
          <a:xfrm>
            <a:off x="1085850" y="2968898"/>
            <a:ext cx="17792700" cy="420960"/>
          </a:xfrm>
          <a:prstGeom prst="rect">
            <a:avLst/>
          </a:prstGeom>
          <a:noFill/>
          <a:ln/>
        </p:spPr>
        <p:txBody>
          <a:bodyPr wrap="square" lIns="25400" tIns="25400" rIns="25400" bIns="25400" rtlCol="0" anchor="t">
            <a:normAutofit/>
          </a:bodyPr>
          <a:lstStyle/>
          <a:p>
            <a:pPr marL="400050" indent="-400050" algn="l">
              <a:lnSpc>
                <a:spcPct val="120615"/>
              </a:lnSpc>
              <a:buSzPct val="100000"/>
              <a:buFont typeface="+mj-lt"/>
              <a:buAutoNum type="arabicPeriod" startAt="2"/>
            </a:pPr>
            <a:r>
              <a:rPr lang="en-US" sz="2100" dirty="0">
                <a:solidFill>
                  <a:srgbClr val="141414"/>
                </a:solidFill>
                <a:latin typeface="Arial" pitchFamily="34" charset="0"/>
                <a:ea typeface="Arial" pitchFamily="34" charset="-122"/>
                <a:cs typeface="Arial" pitchFamily="34" charset="-120"/>
              </a:rPr>
              <a:t>Song, J., Meng, C., Ermon, S. — </a:t>
            </a:r>
            <a:r>
              <a:rPr lang="en-US" sz="2100" i="1" dirty="0">
                <a:solidFill>
                  <a:srgbClr val="141414"/>
                </a:solidFill>
                <a:latin typeface="Arial" pitchFamily="34" charset="0"/>
                <a:ea typeface="Arial" pitchFamily="34" charset="-122"/>
                <a:cs typeface="Arial" pitchFamily="34" charset="-120"/>
              </a:rPr>
              <a:t>Denoising Diffusion Implicit Models. </a:t>
            </a:r>
            <a:r>
              <a:rPr lang="en-US" sz="2100" dirty="0">
                <a:solidFill>
                  <a:srgbClr val="141414"/>
                </a:solidFill>
                <a:latin typeface="Arial" pitchFamily="34" charset="0"/>
                <a:ea typeface="Arial" pitchFamily="34" charset="-122"/>
                <a:cs typeface="Arial" pitchFamily="34" charset="-120"/>
              </a:rPr>
              <a:t>ICLR 2021.</a:t>
            </a:r>
            <a:endParaRPr lang="en-US" sz="2100" dirty="0"/>
          </a:p>
        </p:txBody>
      </p:sp>
      <p:sp>
        <p:nvSpPr>
          <p:cNvPr id="6" name="Text 4"/>
          <p:cNvSpPr/>
          <p:nvPr/>
        </p:nvSpPr>
        <p:spPr>
          <a:xfrm>
            <a:off x="1085850" y="3542258"/>
            <a:ext cx="17792700" cy="420960"/>
          </a:xfrm>
          <a:prstGeom prst="rect">
            <a:avLst/>
          </a:prstGeom>
          <a:noFill/>
          <a:ln/>
        </p:spPr>
        <p:txBody>
          <a:bodyPr wrap="square" lIns="25400" tIns="25400" rIns="25400" bIns="25400" rtlCol="0" anchor="t">
            <a:normAutofit/>
          </a:bodyPr>
          <a:lstStyle/>
          <a:p>
            <a:pPr marL="400050" indent="-400050" algn="l">
              <a:lnSpc>
                <a:spcPct val="120615"/>
              </a:lnSpc>
              <a:buSzPct val="100000"/>
              <a:buFont typeface="+mj-lt"/>
              <a:buAutoNum type="arabicPeriod" startAt="3"/>
            </a:pPr>
            <a:r>
              <a:rPr lang="en-US" sz="2100" dirty="0">
                <a:solidFill>
                  <a:srgbClr val="141414"/>
                </a:solidFill>
                <a:latin typeface="Arial" pitchFamily="34" charset="0"/>
                <a:ea typeface="Arial" pitchFamily="34" charset="-122"/>
                <a:cs typeface="Arial" pitchFamily="34" charset="-120"/>
              </a:rPr>
              <a:t>Frank, J., et al. — </a:t>
            </a:r>
            <a:r>
              <a:rPr lang="en-US" sz="2100" i="1" dirty="0">
                <a:solidFill>
                  <a:srgbClr val="141414"/>
                </a:solidFill>
                <a:latin typeface="Arial" pitchFamily="34" charset="0"/>
                <a:ea typeface="Arial" pitchFamily="34" charset="-122"/>
                <a:cs typeface="Arial" pitchFamily="34" charset="-120"/>
              </a:rPr>
              <a:t>Leveraging Frequency Analysis for Deep Fake Image Recognition. </a:t>
            </a:r>
            <a:r>
              <a:rPr lang="en-US" sz="2100" dirty="0">
                <a:solidFill>
                  <a:srgbClr val="141414"/>
                </a:solidFill>
                <a:latin typeface="Arial" pitchFamily="34" charset="0"/>
                <a:ea typeface="Arial" pitchFamily="34" charset="-122"/>
                <a:cs typeface="Arial" pitchFamily="34" charset="-120"/>
              </a:rPr>
              <a:t>ICML 2020.</a:t>
            </a:r>
            <a:endParaRPr lang="en-US" sz="2100" dirty="0"/>
          </a:p>
        </p:txBody>
      </p:sp>
      <p:sp>
        <p:nvSpPr>
          <p:cNvPr id="7" name="Text 5"/>
          <p:cNvSpPr/>
          <p:nvPr/>
        </p:nvSpPr>
        <p:spPr>
          <a:xfrm>
            <a:off x="990600" y="9113565"/>
            <a:ext cx="12153900" cy="411435"/>
          </a:xfrm>
          <a:prstGeom prst="rect">
            <a:avLst/>
          </a:prstGeom>
          <a:noFill/>
          <a:ln/>
        </p:spPr>
        <p:txBody>
          <a:bodyPr wrap="square" lIns="25400" tIns="25400" rIns="25400" bIns="25400" rtlCol="0" anchor="t">
            <a:normAutofit/>
          </a:bodyPr>
          <a:lstStyle/>
          <a:p>
            <a:pPr marL="0" indent="0" algn="l">
              <a:lnSpc>
                <a:spcPct val="120615"/>
              </a:lnSpc>
              <a:buNone/>
            </a:pPr>
            <a:r>
              <a:rPr lang="en-US" sz="2100" dirty="0">
                <a:solidFill>
                  <a:srgbClr val="5A5A5A"/>
                </a:solidFill>
                <a:latin typeface="Arial" pitchFamily="34" charset="0"/>
                <a:ea typeface="Arial" pitchFamily="34" charset="-122"/>
                <a:cs typeface="Arial" pitchFamily="34" charset="-120"/>
              </a:rPr>
              <a:t>Implementation: </a:t>
            </a:r>
            <a:r>
              <a:rPr lang="en-US" sz="2100" dirty="0" err="1">
                <a:solidFill>
                  <a:srgbClr val="5A5A5A"/>
                </a:solidFill>
                <a:latin typeface="Arial" pitchFamily="34" charset="0"/>
                <a:ea typeface="Arial" pitchFamily="34" charset="-122"/>
                <a:cs typeface="Arial" pitchFamily="34" charset="-120"/>
              </a:rPr>
              <a:t>PyTorch</a:t>
            </a:r>
            <a:r>
              <a:rPr lang="en-US" sz="2100" dirty="0">
                <a:solidFill>
                  <a:srgbClr val="5A5A5A"/>
                </a:solidFill>
                <a:latin typeface="Arial" pitchFamily="34" charset="0"/>
                <a:ea typeface="Arial" pitchFamily="34" charset="-122"/>
                <a:cs typeface="Arial" pitchFamily="34" charset="-120"/>
              </a:rPr>
              <a:t> 2.14, torchmetrics for FID and KID. Dataset via the Kaggle FFHQ mirror.</a:t>
            </a:r>
            <a:endParaRPr lang="en-US" sz="2100" dirty="0"/>
          </a:p>
        </p:txBody>
      </p:sp>
      <p:sp>
        <p:nvSpPr>
          <p:cNvPr id="8" name="Text 6"/>
          <p:cNvSpPr/>
          <p:nvPr/>
        </p:nvSpPr>
        <p:spPr>
          <a:xfrm>
            <a:off x="16337235" y="9610725"/>
            <a:ext cx="1036365" cy="333375"/>
          </a:xfrm>
          <a:prstGeom prst="rect">
            <a:avLst/>
          </a:prstGeom>
          <a:noFill/>
          <a:ln/>
        </p:spPr>
        <p:txBody>
          <a:bodyPr wrap="square" lIns="25400" tIns="25400" rIns="25400" bIns="25400" rtlCol="0" anchor="t">
            <a:normAutofit/>
          </a:bodyPr>
          <a:lstStyle/>
          <a:p>
            <a:pPr marL="0" indent="0" algn="l">
              <a:buNone/>
            </a:pPr>
            <a:r>
              <a:rPr lang="en-US" sz="1800" dirty="0">
                <a:solidFill>
                  <a:srgbClr val="5A5A5A"/>
                </a:solidFill>
                <a:latin typeface="Courier New" pitchFamily="34" charset="0"/>
                <a:ea typeface="Courier New" pitchFamily="34" charset="-122"/>
                <a:cs typeface="Courier New" pitchFamily="34" charset="-120"/>
              </a:rPr>
              <a:t>15 / 15</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2495</Words>
  <Application>Microsoft Macintosh PowerPoint</Application>
  <PresentationFormat>Personalizzato</PresentationFormat>
  <Paragraphs>269</Paragraphs>
  <Slides>15</Slides>
  <Notes>15</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15</vt:i4>
      </vt:variant>
    </vt:vector>
  </HeadingPairs>
  <TitlesOfParts>
    <vt:vector size="19" baseType="lpstr">
      <vt:lpstr>Arial</vt:lpstr>
      <vt:lpstr>Courier New</vt:lpstr>
      <vt:lpstr>Georgia</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Francesco Malafarina</cp:lastModifiedBy>
  <cp:revision>3</cp:revision>
  <dcterms:created xsi:type="dcterms:W3CDTF">2026-09-11T00:55:58Z</dcterms:created>
  <dcterms:modified xsi:type="dcterms:W3CDTF">2026-09-11T00:59:29Z</dcterms:modified>
</cp:coreProperties>
</file>